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4" r:id="rId6"/>
    <p:sldId id="265" r:id="rId7"/>
    <p:sldId id="266" r:id="rId8"/>
    <p:sldId id="312" r:id="rId9"/>
    <p:sldId id="263" r:id="rId10"/>
    <p:sldId id="313" r:id="rId11"/>
    <p:sldId id="314" r:id="rId12"/>
    <p:sldId id="289" r:id="rId13"/>
    <p:sldId id="268" r:id="rId14"/>
    <p:sldId id="267" r:id="rId15"/>
    <p:sldId id="315" r:id="rId16"/>
    <p:sldId id="269" r:id="rId17"/>
    <p:sldId id="293" r:id="rId18"/>
    <p:sldId id="270" r:id="rId19"/>
    <p:sldId id="303" r:id="rId20"/>
    <p:sldId id="304" r:id="rId21"/>
    <p:sldId id="305" r:id="rId22"/>
    <p:sldId id="306" r:id="rId23"/>
    <p:sldId id="272" r:id="rId24"/>
    <p:sldId id="294" r:id="rId25"/>
    <p:sldId id="295" r:id="rId26"/>
    <p:sldId id="316" r:id="rId27"/>
    <p:sldId id="317" r:id="rId28"/>
    <p:sldId id="318" r:id="rId29"/>
    <p:sldId id="299" r:id="rId30"/>
    <p:sldId id="300" r:id="rId31"/>
    <p:sldId id="307" r:id="rId32"/>
    <p:sldId id="301" r:id="rId33"/>
    <p:sldId id="297" r:id="rId34"/>
    <p:sldId id="298" r:id="rId35"/>
    <p:sldId id="279" r:id="rId36"/>
    <p:sldId id="281" r:id="rId37"/>
    <p:sldId id="283" r:id="rId38"/>
    <p:sldId id="285" r:id="rId39"/>
    <p:sldId id="286" r:id="rId40"/>
    <p:sldId id="284" r:id="rId41"/>
    <p:sldId id="282" r:id="rId42"/>
    <p:sldId id="308" r:id="rId43"/>
    <p:sldId id="310" r:id="rId44"/>
    <p:sldId id="311" r:id="rId45"/>
    <p:sldId id="309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CC"/>
    <a:srgbClr val="FFFF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647" autoAdjust="0"/>
  </p:normalViewPr>
  <p:slideViewPr>
    <p:cSldViewPr snapToGrid="0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png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146904-B170-4E51-AE58-5F6E1BE98969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154527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D3D0D-072C-47D6-A10D-5D4CF3F2E9CE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15071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E739C-5D94-4A75-88D3-A066FCC2A671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70781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0F06B-2C6C-45CA-81D1-527E83A3361B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502355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DA3EB-7E05-4C48-A8C9-133B86635F92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48937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62E3D1-1CE2-4874-89FE-16B7B0FA8CF1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220196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1695C6-D23A-47CF-AFCA-4B441100FFAB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54949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F30EA-98A5-4EDE-ACF0-56F6B610B3CB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937717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D505C-72B2-4156-A7B5-E763B15B0A74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003092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4E650-A869-4EE0-8307-72CE0506498D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173246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B1BA1-5B1D-40D9-ABAD-87223777A083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666190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792121-4529-4730-BFC7-6461C142548E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60133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smtClean="0"/>
              <a:t>Haga clic para modificar el estilo de título del patrón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smtClean="0"/>
              <a:t>Haga clic para modificar el estilo de texto del patrón</a:t>
            </a:r>
          </a:p>
          <a:p>
            <a:pPr lvl="1"/>
            <a:r>
              <a:rPr lang="es-ES" altLang="es-ES" smtClean="0"/>
              <a:t>Segundo nivel</a:t>
            </a:r>
          </a:p>
          <a:p>
            <a:pPr lvl="2"/>
            <a:r>
              <a:rPr lang="es-ES" altLang="es-ES" smtClean="0"/>
              <a:t>Tercer nivel</a:t>
            </a:r>
          </a:p>
          <a:p>
            <a:pPr lvl="3"/>
            <a:r>
              <a:rPr lang="es-ES" altLang="es-ES" smtClean="0"/>
              <a:t>Cuarto nivel</a:t>
            </a:r>
          </a:p>
          <a:p>
            <a:pPr lvl="4"/>
            <a:r>
              <a:rPr lang="es-ES" alt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54F013E-8BE3-4E26-B1F1-013331B72575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i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accent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accent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accent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accent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 i="1">
          <a:solidFill>
            <a:schemeClr val="accent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 i="1">
          <a:solidFill>
            <a:schemeClr val="accent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 i="1">
          <a:solidFill>
            <a:schemeClr val="accent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 i="1">
          <a:solidFill>
            <a:schemeClr val="accent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7.wmf"/><Relationship Id="rId4" Type="http://schemas.openxmlformats.org/officeDocument/2006/relationships/image" Target="../media/image14.png"/><Relationship Id="rId9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1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4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3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0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2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8925" y="1817688"/>
            <a:ext cx="7772400" cy="1143000"/>
          </a:xfrm>
        </p:spPr>
        <p:txBody>
          <a:bodyPr anchor="ctr"/>
          <a:lstStyle/>
          <a:p>
            <a:pPr eaLnBrk="1" hangingPunct="1"/>
            <a:r>
              <a:rPr lang="es-ES_tradnl" altLang="es-ES" sz="4400" smtClean="0"/>
              <a:t>Clasificación bayesiana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57513" y="4095750"/>
            <a:ext cx="5953125" cy="1752600"/>
          </a:xfrm>
        </p:spPr>
        <p:txBody>
          <a:bodyPr/>
          <a:lstStyle/>
          <a:p>
            <a:pPr algn="l" eaLnBrk="1" hangingPunct="1">
              <a:spcBef>
                <a:spcPct val="0"/>
              </a:spcBef>
            </a:pPr>
            <a:r>
              <a:rPr lang="en-GB" altLang="es-ES" sz="2800" smtClean="0"/>
              <a:t>Thomas Bayes (</a:t>
            </a:r>
            <a:r>
              <a:rPr lang="en-GB" altLang="es-ES" sz="2000" smtClean="0"/>
              <a:t>1701-1761)</a:t>
            </a:r>
          </a:p>
          <a:p>
            <a:pPr algn="l" eaLnBrk="1" hangingPunct="1">
              <a:spcBef>
                <a:spcPct val="0"/>
              </a:spcBef>
            </a:pPr>
            <a:endParaRPr lang="en-GB" altLang="es-ES" sz="1600" i="1" smtClean="0"/>
          </a:p>
          <a:p>
            <a:pPr algn="l" eaLnBrk="1" hangingPunct="1">
              <a:spcBef>
                <a:spcPct val="0"/>
              </a:spcBef>
            </a:pPr>
            <a:r>
              <a:rPr lang="en-GB" altLang="es-ES" sz="1600" i="1" smtClean="0"/>
              <a:t>An Essay towards  Solving a Problem In the </a:t>
            </a:r>
          </a:p>
          <a:p>
            <a:pPr algn="l" eaLnBrk="1" hangingPunct="1">
              <a:spcBef>
                <a:spcPct val="0"/>
              </a:spcBef>
            </a:pPr>
            <a:r>
              <a:rPr lang="en-GB" altLang="es-ES" sz="1600" i="1" smtClean="0"/>
              <a:t>Doctrine of Chances.</a:t>
            </a:r>
          </a:p>
          <a:p>
            <a:pPr algn="l" eaLnBrk="1" hangingPunct="1">
              <a:spcBef>
                <a:spcPct val="0"/>
              </a:spcBef>
            </a:pPr>
            <a:endParaRPr lang="en-GB" altLang="es-ES" sz="1600" smtClean="0"/>
          </a:p>
          <a:p>
            <a:pPr algn="l" eaLnBrk="1" hangingPunct="1">
              <a:spcBef>
                <a:spcPct val="0"/>
              </a:spcBef>
            </a:pPr>
            <a:r>
              <a:rPr lang="en-GB" altLang="es-ES" sz="1600" smtClean="0"/>
              <a:t>Philosophical Transactions of the Royal Society, 1763</a:t>
            </a:r>
          </a:p>
          <a:p>
            <a:pPr eaLnBrk="1" hangingPunct="1"/>
            <a:endParaRPr lang="es-ES" altLang="es-ES" sz="3200" smtClean="0"/>
          </a:p>
        </p:txBody>
      </p:sp>
      <p:pic>
        <p:nvPicPr>
          <p:cNvPr id="2052" name="Picture 4" descr="Bay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3927475"/>
            <a:ext cx="249555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53" name="Group 7"/>
          <p:cNvGrpSpPr>
            <a:grpSpLocks/>
          </p:cNvGrpSpPr>
          <p:nvPr/>
        </p:nvGrpSpPr>
        <p:grpSpPr bwMode="auto">
          <a:xfrm>
            <a:off x="7413625" y="0"/>
            <a:ext cx="1730375" cy="6858000"/>
            <a:chOff x="4667" y="0"/>
            <a:chExt cx="1090" cy="4320"/>
          </a:xfrm>
        </p:grpSpPr>
        <p:sp>
          <p:nvSpPr>
            <p:cNvPr id="2054" name="Rectangle 8"/>
            <p:cNvSpPr>
              <a:spLocks noChangeArrowheads="1"/>
            </p:cNvSpPr>
            <p:nvPr/>
          </p:nvSpPr>
          <p:spPr bwMode="auto">
            <a:xfrm>
              <a:off x="4973" y="0"/>
              <a:ext cx="783" cy="2089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2400"/>
            </a:p>
          </p:txBody>
        </p:sp>
        <p:pic>
          <p:nvPicPr>
            <p:cNvPr id="2055" name="Picture 9" descr="hokusai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902" b="31862"/>
            <a:stretch>
              <a:fillRect/>
            </a:stretch>
          </p:blipFill>
          <p:spPr bwMode="auto">
            <a:xfrm>
              <a:off x="4667" y="293"/>
              <a:ext cx="1090" cy="4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1438"/>
            <a:ext cx="7772400" cy="1143001"/>
          </a:xfrm>
        </p:spPr>
        <p:txBody>
          <a:bodyPr/>
          <a:lstStyle/>
          <a:p>
            <a:pPr eaLnBrk="1" hangingPunct="1"/>
            <a:r>
              <a:rPr lang="es-ES_tradnl" altLang="es-ES" smtClean="0"/>
              <a:t>Teoría bayesiana de la decisión</a:t>
            </a:r>
            <a:endParaRPr lang="es-ES" altLang="es-ES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7050" y="987425"/>
            <a:ext cx="8534400" cy="4114800"/>
          </a:xfrm>
        </p:spPr>
        <p:txBody>
          <a:bodyPr/>
          <a:lstStyle/>
          <a:p>
            <a:pPr eaLnBrk="1" hangingPunct="1"/>
            <a:r>
              <a:rPr lang="es-ES_tradnl" altLang="es-ES" sz="2400" smtClean="0"/>
              <a:t>Sea  A un conjunto de 100 elementos, con una probabilidad individual de ser elegidos de 1/100</a:t>
            </a:r>
          </a:p>
          <a:p>
            <a:pPr eaLnBrk="1" hangingPunct="1"/>
            <a:r>
              <a:rPr lang="es-ES_tradnl" altLang="es-ES" sz="2400" smtClean="0"/>
              <a:t>Denominaremos P(X) a la probabilidad de que un punto elegido al azar del conjunto A pertenezca al espacio X </a:t>
            </a:r>
          </a:p>
          <a:p>
            <a:pPr eaLnBrk="1" hangingPunct="1">
              <a:buFontTx/>
              <a:buNone/>
            </a:pPr>
            <a:r>
              <a:rPr lang="es-ES_tradnl" altLang="es-ES" sz="2400" smtClean="0"/>
              <a:t>P(X)=20/100=0.2        P(w)=16/100=0.16       P(w</a:t>
            </a:r>
            <a:r>
              <a:rPr lang="es-ES_tradnl" altLang="es-ES" sz="2400" smtClean="0">
                <a:sym typeface="Symbol" panose="05050102010706020507" pitchFamily="18" charset="2"/>
              </a:rPr>
              <a:t>X</a:t>
            </a:r>
            <a:r>
              <a:rPr lang="es-ES_tradnl" altLang="es-ES" sz="2400" smtClean="0"/>
              <a:t>)=9/100=0.09</a:t>
            </a:r>
          </a:p>
        </p:txBody>
      </p:sp>
      <p:sp>
        <p:nvSpPr>
          <p:cNvPr id="3076" name="Oval 5"/>
          <p:cNvSpPr>
            <a:spLocks noChangeArrowheads="1"/>
          </p:cNvSpPr>
          <p:nvPr/>
        </p:nvSpPr>
        <p:spPr bwMode="auto">
          <a:xfrm>
            <a:off x="2133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77" name="Oval 6"/>
          <p:cNvSpPr>
            <a:spLocks noChangeArrowheads="1"/>
          </p:cNvSpPr>
          <p:nvPr/>
        </p:nvSpPr>
        <p:spPr bwMode="auto">
          <a:xfrm>
            <a:off x="2133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78" name="Oval 7"/>
          <p:cNvSpPr>
            <a:spLocks noChangeArrowheads="1"/>
          </p:cNvSpPr>
          <p:nvPr/>
        </p:nvSpPr>
        <p:spPr bwMode="auto">
          <a:xfrm>
            <a:off x="21336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79" name="Oval 8"/>
          <p:cNvSpPr>
            <a:spLocks noChangeArrowheads="1"/>
          </p:cNvSpPr>
          <p:nvPr/>
        </p:nvSpPr>
        <p:spPr bwMode="auto">
          <a:xfrm>
            <a:off x="21336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80" name="Oval 9"/>
          <p:cNvSpPr>
            <a:spLocks noChangeArrowheads="1"/>
          </p:cNvSpPr>
          <p:nvPr/>
        </p:nvSpPr>
        <p:spPr bwMode="auto">
          <a:xfrm>
            <a:off x="21336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81" name="Oval 15"/>
          <p:cNvSpPr>
            <a:spLocks noChangeArrowheads="1"/>
          </p:cNvSpPr>
          <p:nvPr/>
        </p:nvSpPr>
        <p:spPr bwMode="auto">
          <a:xfrm>
            <a:off x="21336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82" name="Oval 16"/>
          <p:cNvSpPr>
            <a:spLocks noChangeArrowheads="1"/>
          </p:cNvSpPr>
          <p:nvPr/>
        </p:nvSpPr>
        <p:spPr bwMode="auto">
          <a:xfrm>
            <a:off x="21336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83" name="Oval 17"/>
          <p:cNvSpPr>
            <a:spLocks noChangeArrowheads="1"/>
          </p:cNvSpPr>
          <p:nvPr/>
        </p:nvSpPr>
        <p:spPr bwMode="auto">
          <a:xfrm>
            <a:off x="21336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84" name="Oval 18"/>
          <p:cNvSpPr>
            <a:spLocks noChangeArrowheads="1"/>
          </p:cNvSpPr>
          <p:nvPr/>
        </p:nvSpPr>
        <p:spPr bwMode="auto">
          <a:xfrm>
            <a:off x="21336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85" name="Oval 23"/>
          <p:cNvSpPr>
            <a:spLocks noChangeArrowheads="1"/>
          </p:cNvSpPr>
          <p:nvPr/>
        </p:nvSpPr>
        <p:spPr bwMode="auto">
          <a:xfrm>
            <a:off x="27432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86" name="Oval 24"/>
          <p:cNvSpPr>
            <a:spLocks noChangeArrowheads="1"/>
          </p:cNvSpPr>
          <p:nvPr/>
        </p:nvSpPr>
        <p:spPr bwMode="auto">
          <a:xfrm>
            <a:off x="27432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87" name="Oval 25"/>
          <p:cNvSpPr>
            <a:spLocks noChangeArrowheads="1"/>
          </p:cNvSpPr>
          <p:nvPr/>
        </p:nvSpPr>
        <p:spPr bwMode="auto">
          <a:xfrm>
            <a:off x="2743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88" name="Oval 26"/>
          <p:cNvSpPr>
            <a:spLocks noChangeArrowheads="1"/>
          </p:cNvSpPr>
          <p:nvPr/>
        </p:nvSpPr>
        <p:spPr bwMode="auto">
          <a:xfrm>
            <a:off x="27432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89" name="Oval 27"/>
          <p:cNvSpPr>
            <a:spLocks noChangeArrowheads="1"/>
          </p:cNvSpPr>
          <p:nvPr/>
        </p:nvSpPr>
        <p:spPr bwMode="auto">
          <a:xfrm>
            <a:off x="27432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90" name="Oval 33"/>
          <p:cNvSpPr>
            <a:spLocks noChangeArrowheads="1"/>
          </p:cNvSpPr>
          <p:nvPr/>
        </p:nvSpPr>
        <p:spPr bwMode="auto">
          <a:xfrm>
            <a:off x="27432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91" name="Oval 34"/>
          <p:cNvSpPr>
            <a:spLocks noChangeArrowheads="1"/>
          </p:cNvSpPr>
          <p:nvPr/>
        </p:nvSpPr>
        <p:spPr bwMode="auto">
          <a:xfrm>
            <a:off x="27432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92" name="Oval 35"/>
          <p:cNvSpPr>
            <a:spLocks noChangeArrowheads="1"/>
          </p:cNvSpPr>
          <p:nvPr/>
        </p:nvSpPr>
        <p:spPr bwMode="auto">
          <a:xfrm>
            <a:off x="27432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93" name="Oval 36"/>
          <p:cNvSpPr>
            <a:spLocks noChangeArrowheads="1"/>
          </p:cNvSpPr>
          <p:nvPr/>
        </p:nvSpPr>
        <p:spPr bwMode="auto">
          <a:xfrm>
            <a:off x="27432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94" name="Oval 41"/>
          <p:cNvSpPr>
            <a:spLocks noChangeArrowheads="1"/>
          </p:cNvSpPr>
          <p:nvPr/>
        </p:nvSpPr>
        <p:spPr bwMode="auto">
          <a:xfrm>
            <a:off x="33528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95" name="Oval 42"/>
          <p:cNvSpPr>
            <a:spLocks noChangeArrowheads="1"/>
          </p:cNvSpPr>
          <p:nvPr/>
        </p:nvSpPr>
        <p:spPr bwMode="auto">
          <a:xfrm>
            <a:off x="33528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96" name="Oval 43"/>
          <p:cNvSpPr>
            <a:spLocks noChangeArrowheads="1"/>
          </p:cNvSpPr>
          <p:nvPr/>
        </p:nvSpPr>
        <p:spPr bwMode="auto">
          <a:xfrm>
            <a:off x="33528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97" name="Oval 44"/>
          <p:cNvSpPr>
            <a:spLocks noChangeArrowheads="1"/>
          </p:cNvSpPr>
          <p:nvPr/>
        </p:nvSpPr>
        <p:spPr bwMode="auto">
          <a:xfrm>
            <a:off x="3352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98" name="Oval 45"/>
          <p:cNvSpPr>
            <a:spLocks noChangeArrowheads="1"/>
          </p:cNvSpPr>
          <p:nvPr/>
        </p:nvSpPr>
        <p:spPr bwMode="auto">
          <a:xfrm>
            <a:off x="33528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099" name="Oval 51"/>
          <p:cNvSpPr>
            <a:spLocks noChangeArrowheads="1"/>
          </p:cNvSpPr>
          <p:nvPr/>
        </p:nvSpPr>
        <p:spPr bwMode="auto">
          <a:xfrm>
            <a:off x="33528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00" name="Oval 52"/>
          <p:cNvSpPr>
            <a:spLocks noChangeArrowheads="1"/>
          </p:cNvSpPr>
          <p:nvPr/>
        </p:nvSpPr>
        <p:spPr bwMode="auto">
          <a:xfrm>
            <a:off x="33528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01" name="Oval 53"/>
          <p:cNvSpPr>
            <a:spLocks noChangeArrowheads="1"/>
          </p:cNvSpPr>
          <p:nvPr/>
        </p:nvSpPr>
        <p:spPr bwMode="auto">
          <a:xfrm>
            <a:off x="33528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02" name="Oval 54"/>
          <p:cNvSpPr>
            <a:spLocks noChangeArrowheads="1"/>
          </p:cNvSpPr>
          <p:nvPr/>
        </p:nvSpPr>
        <p:spPr bwMode="auto">
          <a:xfrm>
            <a:off x="33528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03" name="Oval 59"/>
          <p:cNvSpPr>
            <a:spLocks noChangeArrowheads="1"/>
          </p:cNvSpPr>
          <p:nvPr/>
        </p:nvSpPr>
        <p:spPr bwMode="auto">
          <a:xfrm>
            <a:off x="39624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04" name="Oval 60"/>
          <p:cNvSpPr>
            <a:spLocks noChangeArrowheads="1"/>
          </p:cNvSpPr>
          <p:nvPr/>
        </p:nvSpPr>
        <p:spPr bwMode="auto">
          <a:xfrm>
            <a:off x="39624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05" name="Oval 61"/>
          <p:cNvSpPr>
            <a:spLocks noChangeArrowheads="1"/>
          </p:cNvSpPr>
          <p:nvPr/>
        </p:nvSpPr>
        <p:spPr bwMode="auto">
          <a:xfrm>
            <a:off x="39624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06" name="Oval 62"/>
          <p:cNvSpPr>
            <a:spLocks noChangeArrowheads="1"/>
          </p:cNvSpPr>
          <p:nvPr/>
        </p:nvSpPr>
        <p:spPr bwMode="auto">
          <a:xfrm>
            <a:off x="39624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07" name="Oval 63"/>
          <p:cNvSpPr>
            <a:spLocks noChangeArrowheads="1"/>
          </p:cNvSpPr>
          <p:nvPr/>
        </p:nvSpPr>
        <p:spPr bwMode="auto">
          <a:xfrm>
            <a:off x="39624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08" name="Oval 69"/>
          <p:cNvSpPr>
            <a:spLocks noChangeArrowheads="1"/>
          </p:cNvSpPr>
          <p:nvPr/>
        </p:nvSpPr>
        <p:spPr bwMode="auto">
          <a:xfrm>
            <a:off x="39624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09" name="Oval 70"/>
          <p:cNvSpPr>
            <a:spLocks noChangeArrowheads="1"/>
          </p:cNvSpPr>
          <p:nvPr/>
        </p:nvSpPr>
        <p:spPr bwMode="auto">
          <a:xfrm>
            <a:off x="39624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10" name="Oval 71"/>
          <p:cNvSpPr>
            <a:spLocks noChangeArrowheads="1"/>
          </p:cNvSpPr>
          <p:nvPr/>
        </p:nvSpPr>
        <p:spPr bwMode="auto">
          <a:xfrm>
            <a:off x="39624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11" name="Oval 72"/>
          <p:cNvSpPr>
            <a:spLocks noChangeArrowheads="1"/>
          </p:cNvSpPr>
          <p:nvPr/>
        </p:nvSpPr>
        <p:spPr bwMode="auto">
          <a:xfrm>
            <a:off x="39624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12" name="Oval 77"/>
          <p:cNvSpPr>
            <a:spLocks noChangeArrowheads="1"/>
          </p:cNvSpPr>
          <p:nvPr/>
        </p:nvSpPr>
        <p:spPr bwMode="auto">
          <a:xfrm>
            <a:off x="45720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13" name="Oval 78"/>
          <p:cNvSpPr>
            <a:spLocks noChangeArrowheads="1"/>
          </p:cNvSpPr>
          <p:nvPr/>
        </p:nvSpPr>
        <p:spPr bwMode="auto">
          <a:xfrm>
            <a:off x="45720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14" name="Oval 79"/>
          <p:cNvSpPr>
            <a:spLocks noChangeArrowheads="1"/>
          </p:cNvSpPr>
          <p:nvPr/>
        </p:nvSpPr>
        <p:spPr bwMode="auto">
          <a:xfrm>
            <a:off x="45720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15" name="Oval 80"/>
          <p:cNvSpPr>
            <a:spLocks noChangeArrowheads="1"/>
          </p:cNvSpPr>
          <p:nvPr/>
        </p:nvSpPr>
        <p:spPr bwMode="auto">
          <a:xfrm>
            <a:off x="45720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16" name="Oval 81"/>
          <p:cNvSpPr>
            <a:spLocks noChangeArrowheads="1"/>
          </p:cNvSpPr>
          <p:nvPr/>
        </p:nvSpPr>
        <p:spPr bwMode="auto">
          <a:xfrm>
            <a:off x="45720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17" name="Oval 87"/>
          <p:cNvSpPr>
            <a:spLocks noChangeArrowheads="1"/>
          </p:cNvSpPr>
          <p:nvPr/>
        </p:nvSpPr>
        <p:spPr bwMode="auto">
          <a:xfrm>
            <a:off x="45720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18" name="Oval 88"/>
          <p:cNvSpPr>
            <a:spLocks noChangeArrowheads="1"/>
          </p:cNvSpPr>
          <p:nvPr/>
        </p:nvSpPr>
        <p:spPr bwMode="auto">
          <a:xfrm>
            <a:off x="45720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19" name="Oval 89"/>
          <p:cNvSpPr>
            <a:spLocks noChangeArrowheads="1"/>
          </p:cNvSpPr>
          <p:nvPr/>
        </p:nvSpPr>
        <p:spPr bwMode="auto">
          <a:xfrm>
            <a:off x="45720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20" name="Oval 90"/>
          <p:cNvSpPr>
            <a:spLocks noChangeArrowheads="1"/>
          </p:cNvSpPr>
          <p:nvPr/>
        </p:nvSpPr>
        <p:spPr bwMode="auto">
          <a:xfrm>
            <a:off x="45720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21" name="Oval 95"/>
          <p:cNvSpPr>
            <a:spLocks noChangeArrowheads="1"/>
          </p:cNvSpPr>
          <p:nvPr/>
        </p:nvSpPr>
        <p:spPr bwMode="auto">
          <a:xfrm>
            <a:off x="5181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22" name="Oval 96"/>
          <p:cNvSpPr>
            <a:spLocks noChangeArrowheads="1"/>
          </p:cNvSpPr>
          <p:nvPr/>
        </p:nvSpPr>
        <p:spPr bwMode="auto">
          <a:xfrm>
            <a:off x="5181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23" name="Oval 97"/>
          <p:cNvSpPr>
            <a:spLocks noChangeArrowheads="1"/>
          </p:cNvSpPr>
          <p:nvPr/>
        </p:nvSpPr>
        <p:spPr bwMode="auto">
          <a:xfrm>
            <a:off x="51816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24" name="Oval 98"/>
          <p:cNvSpPr>
            <a:spLocks noChangeArrowheads="1"/>
          </p:cNvSpPr>
          <p:nvPr/>
        </p:nvSpPr>
        <p:spPr bwMode="auto">
          <a:xfrm>
            <a:off x="51816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25" name="Oval 99"/>
          <p:cNvSpPr>
            <a:spLocks noChangeArrowheads="1"/>
          </p:cNvSpPr>
          <p:nvPr/>
        </p:nvSpPr>
        <p:spPr bwMode="auto">
          <a:xfrm>
            <a:off x="51816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26" name="Oval 100"/>
          <p:cNvSpPr>
            <a:spLocks noChangeArrowheads="1"/>
          </p:cNvSpPr>
          <p:nvPr/>
        </p:nvSpPr>
        <p:spPr bwMode="auto">
          <a:xfrm>
            <a:off x="51816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27" name="Oval 101"/>
          <p:cNvSpPr>
            <a:spLocks noChangeArrowheads="1"/>
          </p:cNvSpPr>
          <p:nvPr/>
        </p:nvSpPr>
        <p:spPr bwMode="auto">
          <a:xfrm>
            <a:off x="51816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28" name="Oval 102"/>
          <p:cNvSpPr>
            <a:spLocks noChangeArrowheads="1"/>
          </p:cNvSpPr>
          <p:nvPr/>
        </p:nvSpPr>
        <p:spPr bwMode="auto">
          <a:xfrm>
            <a:off x="51816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29" name="Oval 103"/>
          <p:cNvSpPr>
            <a:spLocks noChangeArrowheads="1"/>
          </p:cNvSpPr>
          <p:nvPr/>
        </p:nvSpPr>
        <p:spPr bwMode="auto">
          <a:xfrm>
            <a:off x="51816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30" name="Oval 104"/>
          <p:cNvSpPr>
            <a:spLocks noChangeArrowheads="1"/>
          </p:cNvSpPr>
          <p:nvPr/>
        </p:nvSpPr>
        <p:spPr bwMode="auto">
          <a:xfrm>
            <a:off x="57912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31" name="Oval 105"/>
          <p:cNvSpPr>
            <a:spLocks noChangeArrowheads="1"/>
          </p:cNvSpPr>
          <p:nvPr/>
        </p:nvSpPr>
        <p:spPr bwMode="auto">
          <a:xfrm>
            <a:off x="57912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32" name="Oval 106"/>
          <p:cNvSpPr>
            <a:spLocks noChangeArrowheads="1"/>
          </p:cNvSpPr>
          <p:nvPr/>
        </p:nvSpPr>
        <p:spPr bwMode="auto">
          <a:xfrm>
            <a:off x="5791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33" name="Oval 107"/>
          <p:cNvSpPr>
            <a:spLocks noChangeArrowheads="1"/>
          </p:cNvSpPr>
          <p:nvPr/>
        </p:nvSpPr>
        <p:spPr bwMode="auto">
          <a:xfrm>
            <a:off x="57912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34" name="Oval 108"/>
          <p:cNvSpPr>
            <a:spLocks noChangeArrowheads="1"/>
          </p:cNvSpPr>
          <p:nvPr/>
        </p:nvSpPr>
        <p:spPr bwMode="auto">
          <a:xfrm>
            <a:off x="57912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35" name="Oval 109"/>
          <p:cNvSpPr>
            <a:spLocks noChangeArrowheads="1"/>
          </p:cNvSpPr>
          <p:nvPr/>
        </p:nvSpPr>
        <p:spPr bwMode="auto">
          <a:xfrm>
            <a:off x="57912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36" name="Oval 110"/>
          <p:cNvSpPr>
            <a:spLocks noChangeArrowheads="1"/>
          </p:cNvSpPr>
          <p:nvPr/>
        </p:nvSpPr>
        <p:spPr bwMode="auto">
          <a:xfrm>
            <a:off x="57912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37" name="Oval 111"/>
          <p:cNvSpPr>
            <a:spLocks noChangeArrowheads="1"/>
          </p:cNvSpPr>
          <p:nvPr/>
        </p:nvSpPr>
        <p:spPr bwMode="auto">
          <a:xfrm>
            <a:off x="57912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38" name="Oval 112"/>
          <p:cNvSpPr>
            <a:spLocks noChangeArrowheads="1"/>
          </p:cNvSpPr>
          <p:nvPr/>
        </p:nvSpPr>
        <p:spPr bwMode="auto">
          <a:xfrm>
            <a:off x="57912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39" name="Oval 113"/>
          <p:cNvSpPr>
            <a:spLocks noChangeArrowheads="1"/>
          </p:cNvSpPr>
          <p:nvPr/>
        </p:nvSpPr>
        <p:spPr bwMode="auto">
          <a:xfrm>
            <a:off x="64008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40" name="Oval 114"/>
          <p:cNvSpPr>
            <a:spLocks noChangeArrowheads="1"/>
          </p:cNvSpPr>
          <p:nvPr/>
        </p:nvSpPr>
        <p:spPr bwMode="auto">
          <a:xfrm>
            <a:off x="64008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41" name="Oval 115"/>
          <p:cNvSpPr>
            <a:spLocks noChangeArrowheads="1"/>
          </p:cNvSpPr>
          <p:nvPr/>
        </p:nvSpPr>
        <p:spPr bwMode="auto">
          <a:xfrm>
            <a:off x="64008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42" name="Oval 116"/>
          <p:cNvSpPr>
            <a:spLocks noChangeArrowheads="1"/>
          </p:cNvSpPr>
          <p:nvPr/>
        </p:nvSpPr>
        <p:spPr bwMode="auto">
          <a:xfrm>
            <a:off x="6400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43" name="Oval 117"/>
          <p:cNvSpPr>
            <a:spLocks noChangeArrowheads="1"/>
          </p:cNvSpPr>
          <p:nvPr/>
        </p:nvSpPr>
        <p:spPr bwMode="auto">
          <a:xfrm>
            <a:off x="64008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44" name="Oval 118"/>
          <p:cNvSpPr>
            <a:spLocks noChangeArrowheads="1"/>
          </p:cNvSpPr>
          <p:nvPr/>
        </p:nvSpPr>
        <p:spPr bwMode="auto">
          <a:xfrm>
            <a:off x="64008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45" name="Oval 119"/>
          <p:cNvSpPr>
            <a:spLocks noChangeArrowheads="1"/>
          </p:cNvSpPr>
          <p:nvPr/>
        </p:nvSpPr>
        <p:spPr bwMode="auto">
          <a:xfrm>
            <a:off x="64008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46" name="Oval 120"/>
          <p:cNvSpPr>
            <a:spLocks noChangeArrowheads="1"/>
          </p:cNvSpPr>
          <p:nvPr/>
        </p:nvSpPr>
        <p:spPr bwMode="auto">
          <a:xfrm>
            <a:off x="64008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47" name="Oval 121"/>
          <p:cNvSpPr>
            <a:spLocks noChangeArrowheads="1"/>
          </p:cNvSpPr>
          <p:nvPr/>
        </p:nvSpPr>
        <p:spPr bwMode="auto">
          <a:xfrm>
            <a:off x="64008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48" name="Oval 122"/>
          <p:cNvSpPr>
            <a:spLocks noChangeArrowheads="1"/>
          </p:cNvSpPr>
          <p:nvPr/>
        </p:nvSpPr>
        <p:spPr bwMode="auto">
          <a:xfrm>
            <a:off x="70104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49" name="Oval 123"/>
          <p:cNvSpPr>
            <a:spLocks noChangeArrowheads="1"/>
          </p:cNvSpPr>
          <p:nvPr/>
        </p:nvSpPr>
        <p:spPr bwMode="auto">
          <a:xfrm>
            <a:off x="70104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50" name="Oval 124"/>
          <p:cNvSpPr>
            <a:spLocks noChangeArrowheads="1"/>
          </p:cNvSpPr>
          <p:nvPr/>
        </p:nvSpPr>
        <p:spPr bwMode="auto">
          <a:xfrm>
            <a:off x="70104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51" name="Oval 125"/>
          <p:cNvSpPr>
            <a:spLocks noChangeArrowheads="1"/>
          </p:cNvSpPr>
          <p:nvPr/>
        </p:nvSpPr>
        <p:spPr bwMode="auto">
          <a:xfrm>
            <a:off x="70104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52" name="Oval 126"/>
          <p:cNvSpPr>
            <a:spLocks noChangeArrowheads="1"/>
          </p:cNvSpPr>
          <p:nvPr/>
        </p:nvSpPr>
        <p:spPr bwMode="auto">
          <a:xfrm>
            <a:off x="70104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53" name="Oval 127"/>
          <p:cNvSpPr>
            <a:spLocks noChangeArrowheads="1"/>
          </p:cNvSpPr>
          <p:nvPr/>
        </p:nvSpPr>
        <p:spPr bwMode="auto">
          <a:xfrm>
            <a:off x="70104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54" name="Oval 128"/>
          <p:cNvSpPr>
            <a:spLocks noChangeArrowheads="1"/>
          </p:cNvSpPr>
          <p:nvPr/>
        </p:nvSpPr>
        <p:spPr bwMode="auto">
          <a:xfrm>
            <a:off x="70104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55" name="Oval 129"/>
          <p:cNvSpPr>
            <a:spLocks noChangeArrowheads="1"/>
          </p:cNvSpPr>
          <p:nvPr/>
        </p:nvSpPr>
        <p:spPr bwMode="auto">
          <a:xfrm>
            <a:off x="70104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56" name="Oval 130"/>
          <p:cNvSpPr>
            <a:spLocks noChangeArrowheads="1"/>
          </p:cNvSpPr>
          <p:nvPr/>
        </p:nvSpPr>
        <p:spPr bwMode="auto">
          <a:xfrm>
            <a:off x="70104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57" name="Oval 131"/>
          <p:cNvSpPr>
            <a:spLocks noChangeArrowheads="1"/>
          </p:cNvSpPr>
          <p:nvPr/>
        </p:nvSpPr>
        <p:spPr bwMode="auto">
          <a:xfrm>
            <a:off x="76200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58" name="Oval 132"/>
          <p:cNvSpPr>
            <a:spLocks noChangeArrowheads="1"/>
          </p:cNvSpPr>
          <p:nvPr/>
        </p:nvSpPr>
        <p:spPr bwMode="auto">
          <a:xfrm>
            <a:off x="76200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59" name="Oval 133"/>
          <p:cNvSpPr>
            <a:spLocks noChangeArrowheads="1"/>
          </p:cNvSpPr>
          <p:nvPr/>
        </p:nvSpPr>
        <p:spPr bwMode="auto">
          <a:xfrm>
            <a:off x="76200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60" name="Oval 134"/>
          <p:cNvSpPr>
            <a:spLocks noChangeArrowheads="1"/>
          </p:cNvSpPr>
          <p:nvPr/>
        </p:nvSpPr>
        <p:spPr bwMode="auto">
          <a:xfrm>
            <a:off x="76200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61" name="Oval 135"/>
          <p:cNvSpPr>
            <a:spLocks noChangeArrowheads="1"/>
          </p:cNvSpPr>
          <p:nvPr/>
        </p:nvSpPr>
        <p:spPr bwMode="auto">
          <a:xfrm>
            <a:off x="76200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62" name="Oval 136"/>
          <p:cNvSpPr>
            <a:spLocks noChangeArrowheads="1"/>
          </p:cNvSpPr>
          <p:nvPr/>
        </p:nvSpPr>
        <p:spPr bwMode="auto">
          <a:xfrm>
            <a:off x="76200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63" name="Oval 137"/>
          <p:cNvSpPr>
            <a:spLocks noChangeArrowheads="1"/>
          </p:cNvSpPr>
          <p:nvPr/>
        </p:nvSpPr>
        <p:spPr bwMode="auto">
          <a:xfrm>
            <a:off x="76200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64" name="Oval 138"/>
          <p:cNvSpPr>
            <a:spLocks noChangeArrowheads="1"/>
          </p:cNvSpPr>
          <p:nvPr/>
        </p:nvSpPr>
        <p:spPr bwMode="auto">
          <a:xfrm>
            <a:off x="76200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65" name="Oval 139"/>
          <p:cNvSpPr>
            <a:spLocks noChangeArrowheads="1"/>
          </p:cNvSpPr>
          <p:nvPr/>
        </p:nvSpPr>
        <p:spPr bwMode="auto">
          <a:xfrm>
            <a:off x="76200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66" name="AutoShape 140"/>
          <p:cNvSpPr>
            <a:spLocks noChangeArrowheads="1"/>
          </p:cNvSpPr>
          <p:nvPr/>
        </p:nvSpPr>
        <p:spPr bwMode="auto">
          <a:xfrm>
            <a:off x="2590800" y="4419600"/>
            <a:ext cx="2895600" cy="12954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67" name="AutoShape 141"/>
          <p:cNvSpPr>
            <a:spLocks noChangeArrowheads="1"/>
          </p:cNvSpPr>
          <p:nvPr/>
        </p:nvSpPr>
        <p:spPr bwMode="auto">
          <a:xfrm>
            <a:off x="3810000" y="4724400"/>
            <a:ext cx="2438400" cy="1295400"/>
          </a:xfrm>
          <a:prstGeom prst="roundRect">
            <a:avLst>
              <a:gd name="adj" fmla="val 16667"/>
            </a:avLst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68" name="Text Box 142"/>
          <p:cNvSpPr txBox="1">
            <a:spLocks noChangeArrowheads="1"/>
          </p:cNvSpPr>
          <p:nvPr/>
        </p:nvSpPr>
        <p:spPr bwMode="auto">
          <a:xfrm>
            <a:off x="990600" y="46482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b="1">
                <a:solidFill>
                  <a:srgbClr val="FF0000"/>
                </a:solidFill>
              </a:rPr>
              <a:t>X</a:t>
            </a:r>
            <a:endParaRPr lang="es-ES" altLang="es-ES" sz="2400" b="1">
              <a:solidFill>
                <a:srgbClr val="FF0000"/>
              </a:solidFill>
            </a:endParaRPr>
          </a:p>
        </p:txBody>
      </p:sp>
      <p:sp>
        <p:nvSpPr>
          <p:cNvPr id="3169" name="Text Box 143"/>
          <p:cNvSpPr txBox="1">
            <a:spLocks noChangeArrowheads="1"/>
          </p:cNvSpPr>
          <p:nvPr/>
        </p:nvSpPr>
        <p:spPr bwMode="auto">
          <a:xfrm>
            <a:off x="990600" y="53340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b="1">
                <a:solidFill>
                  <a:schemeClr val="accent2"/>
                </a:solidFill>
              </a:rPr>
              <a:t>w</a:t>
            </a:r>
            <a:endParaRPr lang="es-ES" altLang="es-ES" sz="2400" b="1">
              <a:solidFill>
                <a:schemeClr val="accent2"/>
              </a:solidFill>
            </a:endParaRPr>
          </a:p>
        </p:txBody>
      </p:sp>
      <p:sp>
        <p:nvSpPr>
          <p:cNvPr id="3170" name="Text Box 144"/>
          <p:cNvSpPr txBox="1">
            <a:spLocks noChangeArrowheads="1"/>
          </p:cNvSpPr>
          <p:nvPr/>
        </p:nvSpPr>
        <p:spPr bwMode="auto">
          <a:xfrm>
            <a:off x="1524000" y="37338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b="1">
                <a:solidFill>
                  <a:schemeClr val="accent1"/>
                </a:solidFill>
              </a:rPr>
              <a:t>A</a:t>
            </a:r>
            <a:endParaRPr lang="es-ES" altLang="es-ES" sz="2400" b="1">
              <a:solidFill>
                <a:schemeClr val="accent1"/>
              </a:solidFill>
            </a:endParaRPr>
          </a:p>
        </p:txBody>
      </p:sp>
      <p:cxnSp>
        <p:nvCxnSpPr>
          <p:cNvPr id="3171" name="AutoShape 145"/>
          <p:cNvCxnSpPr>
            <a:cxnSpLocks noChangeShapeType="1"/>
            <a:stCxn id="3168" idx="3"/>
            <a:endCxn id="3166" idx="1"/>
          </p:cNvCxnSpPr>
          <p:nvPr/>
        </p:nvCxnSpPr>
        <p:spPr bwMode="auto">
          <a:xfrm>
            <a:off x="1395413" y="4876800"/>
            <a:ext cx="1166812" cy="190500"/>
          </a:xfrm>
          <a:prstGeom prst="curvedConnector3">
            <a:avLst>
              <a:gd name="adj1" fmla="val 51157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2" name="AutoShape 146"/>
          <p:cNvCxnSpPr>
            <a:cxnSpLocks noChangeShapeType="1"/>
            <a:stCxn id="3169" idx="3"/>
            <a:endCxn id="3167" idx="1"/>
          </p:cNvCxnSpPr>
          <p:nvPr/>
        </p:nvCxnSpPr>
        <p:spPr bwMode="auto">
          <a:xfrm flipV="1">
            <a:off x="1395413" y="5372100"/>
            <a:ext cx="2386012" cy="190500"/>
          </a:xfrm>
          <a:prstGeom prst="curvedConnector3">
            <a:avLst>
              <a:gd name="adj1" fmla="val 50565"/>
            </a:avLst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3" name="AutoShape 147"/>
          <p:cNvSpPr>
            <a:spLocks noChangeArrowheads="1"/>
          </p:cNvSpPr>
          <p:nvPr/>
        </p:nvSpPr>
        <p:spPr bwMode="auto">
          <a:xfrm>
            <a:off x="1828800" y="3298825"/>
            <a:ext cx="6284913" cy="3482975"/>
          </a:xfrm>
          <a:prstGeom prst="roundRect">
            <a:avLst>
              <a:gd name="adj" fmla="val 16667"/>
            </a:avLst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74" name="Oval 148"/>
          <p:cNvSpPr>
            <a:spLocks noChangeArrowheads="1"/>
          </p:cNvSpPr>
          <p:nvPr/>
        </p:nvSpPr>
        <p:spPr bwMode="auto">
          <a:xfrm>
            <a:off x="21431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75" name="Oval 149"/>
          <p:cNvSpPr>
            <a:spLocks noChangeArrowheads="1"/>
          </p:cNvSpPr>
          <p:nvPr/>
        </p:nvSpPr>
        <p:spPr bwMode="auto">
          <a:xfrm>
            <a:off x="27527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76" name="Oval 150"/>
          <p:cNvSpPr>
            <a:spLocks noChangeArrowheads="1"/>
          </p:cNvSpPr>
          <p:nvPr/>
        </p:nvSpPr>
        <p:spPr bwMode="auto">
          <a:xfrm>
            <a:off x="33623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77" name="Oval 151"/>
          <p:cNvSpPr>
            <a:spLocks noChangeArrowheads="1"/>
          </p:cNvSpPr>
          <p:nvPr/>
        </p:nvSpPr>
        <p:spPr bwMode="auto">
          <a:xfrm>
            <a:off x="39719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78" name="Oval 152"/>
          <p:cNvSpPr>
            <a:spLocks noChangeArrowheads="1"/>
          </p:cNvSpPr>
          <p:nvPr/>
        </p:nvSpPr>
        <p:spPr bwMode="auto">
          <a:xfrm>
            <a:off x="45815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79" name="Oval 153"/>
          <p:cNvSpPr>
            <a:spLocks noChangeArrowheads="1"/>
          </p:cNvSpPr>
          <p:nvPr/>
        </p:nvSpPr>
        <p:spPr bwMode="auto">
          <a:xfrm>
            <a:off x="51911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80" name="Oval 154"/>
          <p:cNvSpPr>
            <a:spLocks noChangeArrowheads="1"/>
          </p:cNvSpPr>
          <p:nvPr/>
        </p:nvSpPr>
        <p:spPr bwMode="auto">
          <a:xfrm>
            <a:off x="58007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81" name="Oval 155"/>
          <p:cNvSpPr>
            <a:spLocks noChangeArrowheads="1"/>
          </p:cNvSpPr>
          <p:nvPr/>
        </p:nvSpPr>
        <p:spPr bwMode="auto">
          <a:xfrm>
            <a:off x="64103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82" name="Oval 156"/>
          <p:cNvSpPr>
            <a:spLocks noChangeArrowheads="1"/>
          </p:cNvSpPr>
          <p:nvPr/>
        </p:nvSpPr>
        <p:spPr bwMode="auto">
          <a:xfrm>
            <a:off x="70199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3183" name="Oval 157"/>
          <p:cNvSpPr>
            <a:spLocks noChangeArrowheads="1"/>
          </p:cNvSpPr>
          <p:nvPr/>
        </p:nvSpPr>
        <p:spPr bwMode="auto">
          <a:xfrm>
            <a:off x="76295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Teoría bayesiana de la decisión</a:t>
            </a:r>
            <a:endParaRPr lang="es-ES" altLang="es-ES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4188"/>
            <a:ext cx="7772400" cy="4114800"/>
          </a:xfrm>
        </p:spPr>
        <p:txBody>
          <a:bodyPr/>
          <a:lstStyle/>
          <a:p>
            <a:pPr eaLnBrk="1" hangingPunct="1"/>
            <a:r>
              <a:rPr lang="es-ES_tradnl" altLang="es-ES" sz="2400" smtClean="0"/>
              <a:t>La probabilidad de la intersección es:</a:t>
            </a:r>
          </a:p>
          <a:p>
            <a:pPr eaLnBrk="1" hangingPunct="1"/>
            <a:endParaRPr lang="es-ES_tradnl" altLang="es-ES" sz="2400" smtClean="0"/>
          </a:p>
          <a:p>
            <a:pPr eaLnBrk="1" hangingPunct="1"/>
            <a:r>
              <a:rPr lang="es-ES_tradnl" altLang="es-ES" sz="2400" smtClean="0"/>
              <a:t>P(w</a:t>
            </a:r>
            <a:r>
              <a:rPr lang="es-ES_tradnl" altLang="es-ES" sz="2400" smtClean="0">
                <a:sym typeface="Symbol" panose="05050102010706020507" pitchFamily="18" charset="2"/>
              </a:rPr>
              <a:t>X</a:t>
            </a:r>
            <a:r>
              <a:rPr lang="es-ES_tradnl" altLang="es-ES" sz="2400" smtClean="0"/>
              <a:t>) = (16/100)*(9/16) = (20/100) * (9/20) = 0.09</a:t>
            </a:r>
          </a:p>
          <a:p>
            <a:pPr eaLnBrk="1" hangingPunct="1"/>
            <a:endParaRPr lang="es-ES" altLang="es-ES" sz="2400" smtClean="0"/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1524000" y="2217738"/>
          <a:ext cx="62484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2" name="Ecuación" r:id="rId3" imgW="2806700" imgH="203200" progId="Equation.3">
                  <p:embed/>
                </p:oleObj>
              </mc:Choice>
              <mc:Fallback>
                <p:oleObj name="Ecuación" r:id="rId3" imgW="28067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17738"/>
                        <a:ext cx="62484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Oval 5"/>
          <p:cNvSpPr>
            <a:spLocks noChangeArrowheads="1"/>
          </p:cNvSpPr>
          <p:nvPr/>
        </p:nvSpPr>
        <p:spPr bwMode="auto">
          <a:xfrm>
            <a:off x="2133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02" name="Oval 6"/>
          <p:cNvSpPr>
            <a:spLocks noChangeArrowheads="1"/>
          </p:cNvSpPr>
          <p:nvPr/>
        </p:nvSpPr>
        <p:spPr bwMode="auto">
          <a:xfrm>
            <a:off x="2133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03" name="Oval 7"/>
          <p:cNvSpPr>
            <a:spLocks noChangeArrowheads="1"/>
          </p:cNvSpPr>
          <p:nvPr/>
        </p:nvSpPr>
        <p:spPr bwMode="auto">
          <a:xfrm>
            <a:off x="21336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04" name="Oval 8"/>
          <p:cNvSpPr>
            <a:spLocks noChangeArrowheads="1"/>
          </p:cNvSpPr>
          <p:nvPr/>
        </p:nvSpPr>
        <p:spPr bwMode="auto">
          <a:xfrm>
            <a:off x="21336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05" name="Oval 9"/>
          <p:cNvSpPr>
            <a:spLocks noChangeArrowheads="1"/>
          </p:cNvSpPr>
          <p:nvPr/>
        </p:nvSpPr>
        <p:spPr bwMode="auto">
          <a:xfrm>
            <a:off x="21336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06" name="Oval 10"/>
          <p:cNvSpPr>
            <a:spLocks noChangeArrowheads="1"/>
          </p:cNvSpPr>
          <p:nvPr/>
        </p:nvSpPr>
        <p:spPr bwMode="auto">
          <a:xfrm>
            <a:off x="21336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07" name="Oval 11"/>
          <p:cNvSpPr>
            <a:spLocks noChangeArrowheads="1"/>
          </p:cNvSpPr>
          <p:nvPr/>
        </p:nvSpPr>
        <p:spPr bwMode="auto">
          <a:xfrm>
            <a:off x="21336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08" name="Oval 12"/>
          <p:cNvSpPr>
            <a:spLocks noChangeArrowheads="1"/>
          </p:cNvSpPr>
          <p:nvPr/>
        </p:nvSpPr>
        <p:spPr bwMode="auto">
          <a:xfrm>
            <a:off x="21336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09" name="Oval 13"/>
          <p:cNvSpPr>
            <a:spLocks noChangeArrowheads="1"/>
          </p:cNvSpPr>
          <p:nvPr/>
        </p:nvSpPr>
        <p:spPr bwMode="auto">
          <a:xfrm>
            <a:off x="21336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10" name="Oval 14"/>
          <p:cNvSpPr>
            <a:spLocks noChangeArrowheads="1"/>
          </p:cNvSpPr>
          <p:nvPr/>
        </p:nvSpPr>
        <p:spPr bwMode="auto">
          <a:xfrm>
            <a:off x="27432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11" name="Oval 15"/>
          <p:cNvSpPr>
            <a:spLocks noChangeArrowheads="1"/>
          </p:cNvSpPr>
          <p:nvPr/>
        </p:nvSpPr>
        <p:spPr bwMode="auto">
          <a:xfrm>
            <a:off x="27432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12" name="Oval 16"/>
          <p:cNvSpPr>
            <a:spLocks noChangeArrowheads="1"/>
          </p:cNvSpPr>
          <p:nvPr/>
        </p:nvSpPr>
        <p:spPr bwMode="auto">
          <a:xfrm>
            <a:off x="2743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13" name="Oval 17"/>
          <p:cNvSpPr>
            <a:spLocks noChangeArrowheads="1"/>
          </p:cNvSpPr>
          <p:nvPr/>
        </p:nvSpPr>
        <p:spPr bwMode="auto">
          <a:xfrm>
            <a:off x="27432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14" name="Oval 18"/>
          <p:cNvSpPr>
            <a:spLocks noChangeArrowheads="1"/>
          </p:cNvSpPr>
          <p:nvPr/>
        </p:nvSpPr>
        <p:spPr bwMode="auto">
          <a:xfrm>
            <a:off x="27432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15" name="Oval 19"/>
          <p:cNvSpPr>
            <a:spLocks noChangeArrowheads="1"/>
          </p:cNvSpPr>
          <p:nvPr/>
        </p:nvSpPr>
        <p:spPr bwMode="auto">
          <a:xfrm>
            <a:off x="27432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16" name="Oval 20"/>
          <p:cNvSpPr>
            <a:spLocks noChangeArrowheads="1"/>
          </p:cNvSpPr>
          <p:nvPr/>
        </p:nvSpPr>
        <p:spPr bwMode="auto">
          <a:xfrm>
            <a:off x="27432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17" name="Oval 21"/>
          <p:cNvSpPr>
            <a:spLocks noChangeArrowheads="1"/>
          </p:cNvSpPr>
          <p:nvPr/>
        </p:nvSpPr>
        <p:spPr bwMode="auto">
          <a:xfrm>
            <a:off x="27432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18" name="Oval 22"/>
          <p:cNvSpPr>
            <a:spLocks noChangeArrowheads="1"/>
          </p:cNvSpPr>
          <p:nvPr/>
        </p:nvSpPr>
        <p:spPr bwMode="auto">
          <a:xfrm>
            <a:off x="27432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19" name="Oval 23"/>
          <p:cNvSpPr>
            <a:spLocks noChangeArrowheads="1"/>
          </p:cNvSpPr>
          <p:nvPr/>
        </p:nvSpPr>
        <p:spPr bwMode="auto">
          <a:xfrm>
            <a:off x="33528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20" name="Oval 24"/>
          <p:cNvSpPr>
            <a:spLocks noChangeArrowheads="1"/>
          </p:cNvSpPr>
          <p:nvPr/>
        </p:nvSpPr>
        <p:spPr bwMode="auto">
          <a:xfrm>
            <a:off x="33528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21" name="Oval 25"/>
          <p:cNvSpPr>
            <a:spLocks noChangeArrowheads="1"/>
          </p:cNvSpPr>
          <p:nvPr/>
        </p:nvSpPr>
        <p:spPr bwMode="auto">
          <a:xfrm>
            <a:off x="33528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22" name="Oval 26"/>
          <p:cNvSpPr>
            <a:spLocks noChangeArrowheads="1"/>
          </p:cNvSpPr>
          <p:nvPr/>
        </p:nvSpPr>
        <p:spPr bwMode="auto">
          <a:xfrm>
            <a:off x="3352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23" name="Oval 27"/>
          <p:cNvSpPr>
            <a:spLocks noChangeArrowheads="1"/>
          </p:cNvSpPr>
          <p:nvPr/>
        </p:nvSpPr>
        <p:spPr bwMode="auto">
          <a:xfrm>
            <a:off x="33528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24" name="Oval 28"/>
          <p:cNvSpPr>
            <a:spLocks noChangeArrowheads="1"/>
          </p:cNvSpPr>
          <p:nvPr/>
        </p:nvSpPr>
        <p:spPr bwMode="auto">
          <a:xfrm>
            <a:off x="33528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25" name="Oval 29"/>
          <p:cNvSpPr>
            <a:spLocks noChangeArrowheads="1"/>
          </p:cNvSpPr>
          <p:nvPr/>
        </p:nvSpPr>
        <p:spPr bwMode="auto">
          <a:xfrm>
            <a:off x="33528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26" name="Oval 30"/>
          <p:cNvSpPr>
            <a:spLocks noChangeArrowheads="1"/>
          </p:cNvSpPr>
          <p:nvPr/>
        </p:nvSpPr>
        <p:spPr bwMode="auto">
          <a:xfrm>
            <a:off x="33528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27" name="Oval 31"/>
          <p:cNvSpPr>
            <a:spLocks noChangeArrowheads="1"/>
          </p:cNvSpPr>
          <p:nvPr/>
        </p:nvSpPr>
        <p:spPr bwMode="auto">
          <a:xfrm>
            <a:off x="33528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28" name="Oval 32"/>
          <p:cNvSpPr>
            <a:spLocks noChangeArrowheads="1"/>
          </p:cNvSpPr>
          <p:nvPr/>
        </p:nvSpPr>
        <p:spPr bwMode="auto">
          <a:xfrm>
            <a:off x="39624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29" name="Oval 33"/>
          <p:cNvSpPr>
            <a:spLocks noChangeArrowheads="1"/>
          </p:cNvSpPr>
          <p:nvPr/>
        </p:nvSpPr>
        <p:spPr bwMode="auto">
          <a:xfrm>
            <a:off x="39624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30" name="Oval 34"/>
          <p:cNvSpPr>
            <a:spLocks noChangeArrowheads="1"/>
          </p:cNvSpPr>
          <p:nvPr/>
        </p:nvSpPr>
        <p:spPr bwMode="auto">
          <a:xfrm>
            <a:off x="39624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31" name="Oval 35"/>
          <p:cNvSpPr>
            <a:spLocks noChangeArrowheads="1"/>
          </p:cNvSpPr>
          <p:nvPr/>
        </p:nvSpPr>
        <p:spPr bwMode="auto">
          <a:xfrm>
            <a:off x="39624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32" name="Oval 36"/>
          <p:cNvSpPr>
            <a:spLocks noChangeArrowheads="1"/>
          </p:cNvSpPr>
          <p:nvPr/>
        </p:nvSpPr>
        <p:spPr bwMode="auto">
          <a:xfrm>
            <a:off x="39624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33" name="Oval 37"/>
          <p:cNvSpPr>
            <a:spLocks noChangeArrowheads="1"/>
          </p:cNvSpPr>
          <p:nvPr/>
        </p:nvSpPr>
        <p:spPr bwMode="auto">
          <a:xfrm>
            <a:off x="39624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34" name="Oval 38"/>
          <p:cNvSpPr>
            <a:spLocks noChangeArrowheads="1"/>
          </p:cNvSpPr>
          <p:nvPr/>
        </p:nvSpPr>
        <p:spPr bwMode="auto">
          <a:xfrm>
            <a:off x="39624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35" name="Oval 39"/>
          <p:cNvSpPr>
            <a:spLocks noChangeArrowheads="1"/>
          </p:cNvSpPr>
          <p:nvPr/>
        </p:nvSpPr>
        <p:spPr bwMode="auto">
          <a:xfrm>
            <a:off x="39624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36" name="Oval 40"/>
          <p:cNvSpPr>
            <a:spLocks noChangeArrowheads="1"/>
          </p:cNvSpPr>
          <p:nvPr/>
        </p:nvSpPr>
        <p:spPr bwMode="auto">
          <a:xfrm>
            <a:off x="39624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37" name="Oval 41"/>
          <p:cNvSpPr>
            <a:spLocks noChangeArrowheads="1"/>
          </p:cNvSpPr>
          <p:nvPr/>
        </p:nvSpPr>
        <p:spPr bwMode="auto">
          <a:xfrm>
            <a:off x="45720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38" name="Oval 42"/>
          <p:cNvSpPr>
            <a:spLocks noChangeArrowheads="1"/>
          </p:cNvSpPr>
          <p:nvPr/>
        </p:nvSpPr>
        <p:spPr bwMode="auto">
          <a:xfrm>
            <a:off x="45720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39" name="Oval 43"/>
          <p:cNvSpPr>
            <a:spLocks noChangeArrowheads="1"/>
          </p:cNvSpPr>
          <p:nvPr/>
        </p:nvSpPr>
        <p:spPr bwMode="auto">
          <a:xfrm>
            <a:off x="45720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40" name="Oval 44"/>
          <p:cNvSpPr>
            <a:spLocks noChangeArrowheads="1"/>
          </p:cNvSpPr>
          <p:nvPr/>
        </p:nvSpPr>
        <p:spPr bwMode="auto">
          <a:xfrm>
            <a:off x="45720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41" name="Oval 45"/>
          <p:cNvSpPr>
            <a:spLocks noChangeArrowheads="1"/>
          </p:cNvSpPr>
          <p:nvPr/>
        </p:nvSpPr>
        <p:spPr bwMode="auto">
          <a:xfrm>
            <a:off x="45720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42" name="Oval 46"/>
          <p:cNvSpPr>
            <a:spLocks noChangeArrowheads="1"/>
          </p:cNvSpPr>
          <p:nvPr/>
        </p:nvSpPr>
        <p:spPr bwMode="auto">
          <a:xfrm>
            <a:off x="45720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43" name="Oval 47"/>
          <p:cNvSpPr>
            <a:spLocks noChangeArrowheads="1"/>
          </p:cNvSpPr>
          <p:nvPr/>
        </p:nvSpPr>
        <p:spPr bwMode="auto">
          <a:xfrm>
            <a:off x="45720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44" name="Oval 48"/>
          <p:cNvSpPr>
            <a:spLocks noChangeArrowheads="1"/>
          </p:cNvSpPr>
          <p:nvPr/>
        </p:nvSpPr>
        <p:spPr bwMode="auto">
          <a:xfrm>
            <a:off x="45720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45" name="Oval 49"/>
          <p:cNvSpPr>
            <a:spLocks noChangeArrowheads="1"/>
          </p:cNvSpPr>
          <p:nvPr/>
        </p:nvSpPr>
        <p:spPr bwMode="auto">
          <a:xfrm>
            <a:off x="45720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46" name="Oval 50"/>
          <p:cNvSpPr>
            <a:spLocks noChangeArrowheads="1"/>
          </p:cNvSpPr>
          <p:nvPr/>
        </p:nvSpPr>
        <p:spPr bwMode="auto">
          <a:xfrm>
            <a:off x="5181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47" name="Oval 51"/>
          <p:cNvSpPr>
            <a:spLocks noChangeArrowheads="1"/>
          </p:cNvSpPr>
          <p:nvPr/>
        </p:nvSpPr>
        <p:spPr bwMode="auto">
          <a:xfrm>
            <a:off x="5181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48" name="Oval 52"/>
          <p:cNvSpPr>
            <a:spLocks noChangeArrowheads="1"/>
          </p:cNvSpPr>
          <p:nvPr/>
        </p:nvSpPr>
        <p:spPr bwMode="auto">
          <a:xfrm>
            <a:off x="51816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49" name="Oval 53"/>
          <p:cNvSpPr>
            <a:spLocks noChangeArrowheads="1"/>
          </p:cNvSpPr>
          <p:nvPr/>
        </p:nvSpPr>
        <p:spPr bwMode="auto">
          <a:xfrm>
            <a:off x="51816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50" name="Oval 54"/>
          <p:cNvSpPr>
            <a:spLocks noChangeArrowheads="1"/>
          </p:cNvSpPr>
          <p:nvPr/>
        </p:nvSpPr>
        <p:spPr bwMode="auto">
          <a:xfrm>
            <a:off x="51816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51" name="Oval 55"/>
          <p:cNvSpPr>
            <a:spLocks noChangeArrowheads="1"/>
          </p:cNvSpPr>
          <p:nvPr/>
        </p:nvSpPr>
        <p:spPr bwMode="auto">
          <a:xfrm>
            <a:off x="51816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52" name="Oval 56"/>
          <p:cNvSpPr>
            <a:spLocks noChangeArrowheads="1"/>
          </p:cNvSpPr>
          <p:nvPr/>
        </p:nvSpPr>
        <p:spPr bwMode="auto">
          <a:xfrm>
            <a:off x="51816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53" name="Oval 57"/>
          <p:cNvSpPr>
            <a:spLocks noChangeArrowheads="1"/>
          </p:cNvSpPr>
          <p:nvPr/>
        </p:nvSpPr>
        <p:spPr bwMode="auto">
          <a:xfrm>
            <a:off x="51816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54" name="Oval 58"/>
          <p:cNvSpPr>
            <a:spLocks noChangeArrowheads="1"/>
          </p:cNvSpPr>
          <p:nvPr/>
        </p:nvSpPr>
        <p:spPr bwMode="auto">
          <a:xfrm>
            <a:off x="51816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55" name="Oval 59"/>
          <p:cNvSpPr>
            <a:spLocks noChangeArrowheads="1"/>
          </p:cNvSpPr>
          <p:nvPr/>
        </p:nvSpPr>
        <p:spPr bwMode="auto">
          <a:xfrm>
            <a:off x="57912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56" name="Oval 60"/>
          <p:cNvSpPr>
            <a:spLocks noChangeArrowheads="1"/>
          </p:cNvSpPr>
          <p:nvPr/>
        </p:nvSpPr>
        <p:spPr bwMode="auto">
          <a:xfrm>
            <a:off x="57912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57" name="Oval 61"/>
          <p:cNvSpPr>
            <a:spLocks noChangeArrowheads="1"/>
          </p:cNvSpPr>
          <p:nvPr/>
        </p:nvSpPr>
        <p:spPr bwMode="auto">
          <a:xfrm>
            <a:off x="5791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58" name="Oval 62"/>
          <p:cNvSpPr>
            <a:spLocks noChangeArrowheads="1"/>
          </p:cNvSpPr>
          <p:nvPr/>
        </p:nvSpPr>
        <p:spPr bwMode="auto">
          <a:xfrm>
            <a:off x="57912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59" name="Oval 63"/>
          <p:cNvSpPr>
            <a:spLocks noChangeArrowheads="1"/>
          </p:cNvSpPr>
          <p:nvPr/>
        </p:nvSpPr>
        <p:spPr bwMode="auto">
          <a:xfrm>
            <a:off x="57912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60" name="Oval 64"/>
          <p:cNvSpPr>
            <a:spLocks noChangeArrowheads="1"/>
          </p:cNvSpPr>
          <p:nvPr/>
        </p:nvSpPr>
        <p:spPr bwMode="auto">
          <a:xfrm>
            <a:off x="57912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61" name="Oval 65"/>
          <p:cNvSpPr>
            <a:spLocks noChangeArrowheads="1"/>
          </p:cNvSpPr>
          <p:nvPr/>
        </p:nvSpPr>
        <p:spPr bwMode="auto">
          <a:xfrm>
            <a:off x="57912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62" name="Oval 66"/>
          <p:cNvSpPr>
            <a:spLocks noChangeArrowheads="1"/>
          </p:cNvSpPr>
          <p:nvPr/>
        </p:nvSpPr>
        <p:spPr bwMode="auto">
          <a:xfrm>
            <a:off x="57912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63" name="Oval 67"/>
          <p:cNvSpPr>
            <a:spLocks noChangeArrowheads="1"/>
          </p:cNvSpPr>
          <p:nvPr/>
        </p:nvSpPr>
        <p:spPr bwMode="auto">
          <a:xfrm>
            <a:off x="57912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64" name="Oval 68"/>
          <p:cNvSpPr>
            <a:spLocks noChangeArrowheads="1"/>
          </p:cNvSpPr>
          <p:nvPr/>
        </p:nvSpPr>
        <p:spPr bwMode="auto">
          <a:xfrm>
            <a:off x="64008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65" name="Oval 69"/>
          <p:cNvSpPr>
            <a:spLocks noChangeArrowheads="1"/>
          </p:cNvSpPr>
          <p:nvPr/>
        </p:nvSpPr>
        <p:spPr bwMode="auto">
          <a:xfrm>
            <a:off x="64008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66" name="Oval 70"/>
          <p:cNvSpPr>
            <a:spLocks noChangeArrowheads="1"/>
          </p:cNvSpPr>
          <p:nvPr/>
        </p:nvSpPr>
        <p:spPr bwMode="auto">
          <a:xfrm>
            <a:off x="64008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67" name="Oval 71"/>
          <p:cNvSpPr>
            <a:spLocks noChangeArrowheads="1"/>
          </p:cNvSpPr>
          <p:nvPr/>
        </p:nvSpPr>
        <p:spPr bwMode="auto">
          <a:xfrm>
            <a:off x="6400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68" name="Oval 72"/>
          <p:cNvSpPr>
            <a:spLocks noChangeArrowheads="1"/>
          </p:cNvSpPr>
          <p:nvPr/>
        </p:nvSpPr>
        <p:spPr bwMode="auto">
          <a:xfrm>
            <a:off x="64008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69" name="Oval 73"/>
          <p:cNvSpPr>
            <a:spLocks noChangeArrowheads="1"/>
          </p:cNvSpPr>
          <p:nvPr/>
        </p:nvSpPr>
        <p:spPr bwMode="auto">
          <a:xfrm>
            <a:off x="64008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70" name="Oval 74"/>
          <p:cNvSpPr>
            <a:spLocks noChangeArrowheads="1"/>
          </p:cNvSpPr>
          <p:nvPr/>
        </p:nvSpPr>
        <p:spPr bwMode="auto">
          <a:xfrm>
            <a:off x="64008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71" name="Oval 75"/>
          <p:cNvSpPr>
            <a:spLocks noChangeArrowheads="1"/>
          </p:cNvSpPr>
          <p:nvPr/>
        </p:nvSpPr>
        <p:spPr bwMode="auto">
          <a:xfrm>
            <a:off x="64008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72" name="Oval 76"/>
          <p:cNvSpPr>
            <a:spLocks noChangeArrowheads="1"/>
          </p:cNvSpPr>
          <p:nvPr/>
        </p:nvSpPr>
        <p:spPr bwMode="auto">
          <a:xfrm>
            <a:off x="64008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73" name="Oval 77"/>
          <p:cNvSpPr>
            <a:spLocks noChangeArrowheads="1"/>
          </p:cNvSpPr>
          <p:nvPr/>
        </p:nvSpPr>
        <p:spPr bwMode="auto">
          <a:xfrm>
            <a:off x="70104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74" name="Oval 78"/>
          <p:cNvSpPr>
            <a:spLocks noChangeArrowheads="1"/>
          </p:cNvSpPr>
          <p:nvPr/>
        </p:nvSpPr>
        <p:spPr bwMode="auto">
          <a:xfrm>
            <a:off x="70104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75" name="Oval 79"/>
          <p:cNvSpPr>
            <a:spLocks noChangeArrowheads="1"/>
          </p:cNvSpPr>
          <p:nvPr/>
        </p:nvSpPr>
        <p:spPr bwMode="auto">
          <a:xfrm>
            <a:off x="70104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76" name="Oval 80"/>
          <p:cNvSpPr>
            <a:spLocks noChangeArrowheads="1"/>
          </p:cNvSpPr>
          <p:nvPr/>
        </p:nvSpPr>
        <p:spPr bwMode="auto">
          <a:xfrm>
            <a:off x="70104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77" name="Oval 81"/>
          <p:cNvSpPr>
            <a:spLocks noChangeArrowheads="1"/>
          </p:cNvSpPr>
          <p:nvPr/>
        </p:nvSpPr>
        <p:spPr bwMode="auto">
          <a:xfrm>
            <a:off x="70104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78" name="Oval 82"/>
          <p:cNvSpPr>
            <a:spLocks noChangeArrowheads="1"/>
          </p:cNvSpPr>
          <p:nvPr/>
        </p:nvSpPr>
        <p:spPr bwMode="auto">
          <a:xfrm>
            <a:off x="70104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79" name="Oval 83"/>
          <p:cNvSpPr>
            <a:spLocks noChangeArrowheads="1"/>
          </p:cNvSpPr>
          <p:nvPr/>
        </p:nvSpPr>
        <p:spPr bwMode="auto">
          <a:xfrm>
            <a:off x="70104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80" name="Oval 84"/>
          <p:cNvSpPr>
            <a:spLocks noChangeArrowheads="1"/>
          </p:cNvSpPr>
          <p:nvPr/>
        </p:nvSpPr>
        <p:spPr bwMode="auto">
          <a:xfrm>
            <a:off x="70104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81" name="Oval 85"/>
          <p:cNvSpPr>
            <a:spLocks noChangeArrowheads="1"/>
          </p:cNvSpPr>
          <p:nvPr/>
        </p:nvSpPr>
        <p:spPr bwMode="auto">
          <a:xfrm>
            <a:off x="70104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82" name="Oval 86"/>
          <p:cNvSpPr>
            <a:spLocks noChangeArrowheads="1"/>
          </p:cNvSpPr>
          <p:nvPr/>
        </p:nvSpPr>
        <p:spPr bwMode="auto">
          <a:xfrm>
            <a:off x="76200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83" name="Oval 87"/>
          <p:cNvSpPr>
            <a:spLocks noChangeArrowheads="1"/>
          </p:cNvSpPr>
          <p:nvPr/>
        </p:nvSpPr>
        <p:spPr bwMode="auto">
          <a:xfrm>
            <a:off x="76200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84" name="Oval 88"/>
          <p:cNvSpPr>
            <a:spLocks noChangeArrowheads="1"/>
          </p:cNvSpPr>
          <p:nvPr/>
        </p:nvSpPr>
        <p:spPr bwMode="auto">
          <a:xfrm>
            <a:off x="76200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85" name="Oval 89"/>
          <p:cNvSpPr>
            <a:spLocks noChangeArrowheads="1"/>
          </p:cNvSpPr>
          <p:nvPr/>
        </p:nvSpPr>
        <p:spPr bwMode="auto">
          <a:xfrm>
            <a:off x="76200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86" name="Oval 90"/>
          <p:cNvSpPr>
            <a:spLocks noChangeArrowheads="1"/>
          </p:cNvSpPr>
          <p:nvPr/>
        </p:nvSpPr>
        <p:spPr bwMode="auto">
          <a:xfrm>
            <a:off x="76200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87" name="Oval 91"/>
          <p:cNvSpPr>
            <a:spLocks noChangeArrowheads="1"/>
          </p:cNvSpPr>
          <p:nvPr/>
        </p:nvSpPr>
        <p:spPr bwMode="auto">
          <a:xfrm>
            <a:off x="76200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88" name="Oval 92"/>
          <p:cNvSpPr>
            <a:spLocks noChangeArrowheads="1"/>
          </p:cNvSpPr>
          <p:nvPr/>
        </p:nvSpPr>
        <p:spPr bwMode="auto">
          <a:xfrm>
            <a:off x="76200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89" name="Oval 93"/>
          <p:cNvSpPr>
            <a:spLocks noChangeArrowheads="1"/>
          </p:cNvSpPr>
          <p:nvPr/>
        </p:nvSpPr>
        <p:spPr bwMode="auto">
          <a:xfrm>
            <a:off x="76200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90" name="Oval 94"/>
          <p:cNvSpPr>
            <a:spLocks noChangeArrowheads="1"/>
          </p:cNvSpPr>
          <p:nvPr/>
        </p:nvSpPr>
        <p:spPr bwMode="auto">
          <a:xfrm>
            <a:off x="76200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91" name="AutoShape 95"/>
          <p:cNvSpPr>
            <a:spLocks noChangeArrowheads="1"/>
          </p:cNvSpPr>
          <p:nvPr/>
        </p:nvSpPr>
        <p:spPr bwMode="auto">
          <a:xfrm>
            <a:off x="2590800" y="4419600"/>
            <a:ext cx="2895600" cy="12954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92" name="AutoShape 96"/>
          <p:cNvSpPr>
            <a:spLocks noChangeArrowheads="1"/>
          </p:cNvSpPr>
          <p:nvPr/>
        </p:nvSpPr>
        <p:spPr bwMode="auto">
          <a:xfrm>
            <a:off x="3810000" y="4724400"/>
            <a:ext cx="2438400" cy="1295400"/>
          </a:xfrm>
          <a:prstGeom prst="roundRect">
            <a:avLst>
              <a:gd name="adj" fmla="val 16667"/>
            </a:avLst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93" name="Text Box 97"/>
          <p:cNvSpPr txBox="1">
            <a:spLocks noChangeArrowheads="1"/>
          </p:cNvSpPr>
          <p:nvPr/>
        </p:nvSpPr>
        <p:spPr bwMode="auto">
          <a:xfrm>
            <a:off x="990600" y="46482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b="1">
                <a:solidFill>
                  <a:srgbClr val="FF0000"/>
                </a:solidFill>
              </a:rPr>
              <a:t>X</a:t>
            </a:r>
            <a:endParaRPr lang="es-ES" altLang="es-ES" sz="2400" b="1">
              <a:solidFill>
                <a:srgbClr val="FF0000"/>
              </a:solidFill>
            </a:endParaRPr>
          </a:p>
        </p:txBody>
      </p:sp>
      <p:sp>
        <p:nvSpPr>
          <p:cNvPr id="4194" name="Text Box 98"/>
          <p:cNvSpPr txBox="1">
            <a:spLocks noChangeArrowheads="1"/>
          </p:cNvSpPr>
          <p:nvPr/>
        </p:nvSpPr>
        <p:spPr bwMode="auto">
          <a:xfrm>
            <a:off x="990600" y="53340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b="1">
                <a:solidFill>
                  <a:schemeClr val="accent2"/>
                </a:solidFill>
              </a:rPr>
              <a:t>w</a:t>
            </a:r>
            <a:endParaRPr lang="es-ES" altLang="es-ES" sz="2400" b="1">
              <a:solidFill>
                <a:schemeClr val="accent2"/>
              </a:solidFill>
            </a:endParaRPr>
          </a:p>
        </p:txBody>
      </p:sp>
      <p:sp>
        <p:nvSpPr>
          <p:cNvPr id="4195" name="Text Box 99"/>
          <p:cNvSpPr txBox="1">
            <a:spLocks noChangeArrowheads="1"/>
          </p:cNvSpPr>
          <p:nvPr/>
        </p:nvSpPr>
        <p:spPr bwMode="auto">
          <a:xfrm>
            <a:off x="1524000" y="37338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b="1">
                <a:solidFill>
                  <a:schemeClr val="accent1"/>
                </a:solidFill>
              </a:rPr>
              <a:t>A</a:t>
            </a:r>
            <a:endParaRPr lang="es-ES" altLang="es-ES" sz="2400" b="1">
              <a:solidFill>
                <a:schemeClr val="accent1"/>
              </a:solidFill>
            </a:endParaRPr>
          </a:p>
        </p:txBody>
      </p:sp>
      <p:cxnSp>
        <p:nvCxnSpPr>
          <p:cNvPr id="4196" name="AutoShape 100"/>
          <p:cNvCxnSpPr>
            <a:cxnSpLocks noChangeShapeType="1"/>
            <a:stCxn id="4193" idx="3"/>
            <a:endCxn id="4191" idx="1"/>
          </p:cNvCxnSpPr>
          <p:nvPr/>
        </p:nvCxnSpPr>
        <p:spPr bwMode="auto">
          <a:xfrm>
            <a:off x="1395413" y="4876800"/>
            <a:ext cx="1166812" cy="190500"/>
          </a:xfrm>
          <a:prstGeom prst="curvedConnector3">
            <a:avLst>
              <a:gd name="adj1" fmla="val 51157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7" name="AutoShape 101"/>
          <p:cNvCxnSpPr>
            <a:cxnSpLocks noChangeShapeType="1"/>
            <a:stCxn id="4194" idx="3"/>
            <a:endCxn id="4192" idx="1"/>
          </p:cNvCxnSpPr>
          <p:nvPr/>
        </p:nvCxnSpPr>
        <p:spPr bwMode="auto">
          <a:xfrm flipV="1">
            <a:off x="1395413" y="5372100"/>
            <a:ext cx="2386012" cy="190500"/>
          </a:xfrm>
          <a:prstGeom prst="curvedConnector3">
            <a:avLst>
              <a:gd name="adj1" fmla="val 50565"/>
            </a:avLst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98" name="AutoShape 102"/>
          <p:cNvSpPr>
            <a:spLocks noChangeArrowheads="1"/>
          </p:cNvSpPr>
          <p:nvPr/>
        </p:nvSpPr>
        <p:spPr bwMode="auto">
          <a:xfrm>
            <a:off x="1828800" y="3359150"/>
            <a:ext cx="6324600" cy="3422650"/>
          </a:xfrm>
          <a:prstGeom prst="roundRect">
            <a:avLst>
              <a:gd name="adj" fmla="val 16667"/>
            </a:avLst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199" name="Oval 103"/>
          <p:cNvSpPr>
            <a:spLocks noChangeArrowheads="1"/>
          </p:cNvSpPr>
          <p:nvPr/>
        </p:nvSpPr>
        <p:spPr bwMode="auto">
          <a:xfrm>
            <a:off x="21431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200" name="Oval 104"/>
          <p:cNvSpPr>
            <a:spLocks noChangeArrowheads="1"/>
          </p:cNvSpPr>
          <p:nvPr/>
        </p:nvSpPr>
        <p:spPr bwMode="auto">
          <a:xfrm>
            <a:off x="27527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201" name="Oval 105"/>
          <p:cNvSpPr>
            <a:spLocks noChangeArrowheads="1"/>
          </p:cNvSpPr>
          <p:nvPr/>
        </p:nvSpPr>
        <p:spPr bwMode="auto">
          <a:xfrm>
            <a:off x="33623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202" name="Oval 106"/>
          <p:cNvSpPr>
            <a:spLocks noChangeArrowheads="1"/>
          </p:cNvSpPr>
          <p:nvPr/>
        </p:nvSpPr>
        <p:spPr bwMode="auto">
          <a:xfrm>
            <a:off x="39719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203" name="Oval 107"/>
          <p:cNvSpPr>
            <a:spLocks noChangeArrowheads="1"/>
          </p:cNvSpPr>
          <p:nvPr/>
        </p:nvSpPr>
        <p:spPr bwMode="auto">
          <a:xfrm>
            <a:off x="45815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204" name="Oval 108"/>
          <p:cNvSpPr>
            <a:spLocks noChangeArrowheads="1"/>
          </p:cNvSpPr>
          <p:nvPr/>
        </p:nvSpPr>
        <p:spPr bwMode="auto">
          <a:xfrm>
            <a:off x="51911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205" name="Oval 109"/>
          <p:cNvSpPr>
            <a:spLocks noChangeArrowheads="1"/>
          </p:cNvSpPr>
          <p:nvPr/>
        </p:nvSpPr>
        <p:spPr bwMode="auto">
          <a:xfrm>
            <a:off x="58007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206" name="Oval 110"/>
          <p:cNvSpPr>
            <a:spLocks noChangeArrowheads="1"/>
          </p:cNvSpPr>
          <p:nvPr/>
        </p:nvSpPr>
        <p:spPr bwMode="auto">
          <a:xfrm>
            <a:off x="64103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207" name="Oval 111"/>
          <p:cNvSpPr>
            <a:spLocks noChangeArrowheads="1"/>
          </p:cNvSpPr>
          <p:nvPr/>
        </p:nvSpPr>
        <p:spPr bwMode="auto">
          <a:xfrm>
            <a:off x="70199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208" name="Oval 112"/>
          <p:cNvSpPr>
            <a:spLocks noChangeArrowheads="1"/>
          </p:cNvSpPr>
          <p:nvPr/>
        </p:nvSpPr>
        <p:spPr bwMode="auto">
          <a:xfrm>
            <a:off x="76295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14"/>
          <p:cNvSpPr>
            <a:spLocks noChangeArrowheads="1"/>
          </p:cNvSpPr>
          <p:nvPr/>
        </p:nvSpPr>
        <p:spPr bwMode="auto">
          <a:xfrm>
            <a:off x="1600200" y="3352800"/>
            <a:ext cx="5867400" cy="16764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Teorema de Bayes</a:t>
            </a:r>
            <a:endParaRPr lang="es-ES" altLang="es-ES" smtClean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Por tanto, se puede obtener:</a:t>
            </a:r>
          </a:p>
          <a:p>
            <a:pPr eaLnBrk="1" hangingPunct="1"/>
            <a:endParaRPr lang="es-ES_tradnl" altLang="es-ES" smtClean="0"/>
          </a:p>
          <a:p>
            <a:pPr eaLnBrk="1" hangingPunct="1"/>
            <a:endParaRPr lang="es-ES_tradnl" altLang="es-ES" smtClean="0"/>
          </a:p>
          <a:p>
            <a:pPr eaLnBrk="1" hangingPunct="1"/>
            <a:endParaRPr lang="es-ES_tradnl" altLang="es-ES" smtClean="0"/>
          </a:p>
          <a:p>
            <a:pPr eaLnBrk="1" hangingPunct="1">
              <a:buFontTx/>
              <a:buNone/>
            </a:pPr>
            <a:r>
              <a:rPr lang="es-ES_tradnl" altLang="es-ES" smtClean="0"/>
              <a:t>	</a:t>
            </a:r>
          </a:p>
          <a:p>
            <a:pPr eaLnBrk="1" hangingPunct="1"/>
            <a:endParaRPr lang="es-ES_tradnl" altLang="es-ES" smtClean="0"/>
          </a:p>
          <a:p>
            <a:pPr eaLnBrk="1" hangingPunct="1"/>
            <a:endParaRPr lang="es-ES_tradnl" altLang="es-ES" smtClean="0"/>
          </a:p>
          <a:p>
            <a:pPr eaLnBrk="1" hangingPunct="1">
              <a:buFontTx/>
              <a:buNone/>
            </a:pPr>
            <a:endParaRPr lang="es-ES_tradnl" altLang="es-ES" smtClean="0"/>
          </a:p>
          <a:p>
            <a:pPr eaLnBrk="1" hangingPunct="1"/>
            <a:endParaRPr lang="es-ES" altLang="es-ES" smtClean="0"/>
          </a:p>
        </p:txBody>
      </p:sp>
      <p:graphicFrame>
        <p:nvGraphicFramePr>
          <p:cNvPr id="5125" name="Object 4"/>
          <p:cNvGraphicFramePr>
            <a:graphicFrameLocks noChangeAspect="1"/>
          </p:cNvGraphicFramePr>
          <p:nvPr/>
        </p:nvGraphicFramePr>
        <p:xfrm>
          <a:off x="1828800" y="3592513"/>
          <a:ext cx="5403850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cuación" r:id="rId3" imgW="1663700" imgH="419100" progId="Equation.3">
                  <p:embed/>
                </p:oleObj>
              </mc:Choice>
              <mc:Fallback>
                <p:oleObj name="Ecuación" r:id="rId3" imgW="16637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592513"/>
                        <a:ext cx="5403850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 Box 5"/>
          <p:cNvSpPr txBox="1">
            <a:spLocks noChangeArrowheads="1"/>
          </p:cNvSpPr>
          <p:nvPr/>
        </p:nvSpPr>
        <p:spPr bwMode="auto">
          <a:xfrm>
            <a:off x="6096000" y="2590800"/>
            <a:ext cx="275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Probabilidad </a:t>
            </a:r>
            <a:r>
              <a:rPr lang="es-ES_tradnl" altLang="es-ES" sz="2400" i="1"/>
              <a:t>a priori</a:t>
            </a:r>
            <a:endParaRPr lang="es-ES" altLang="es-ES" sz="2400" i="1"/>
          </a:p>
        </p:txBody>
      </p:sp>
      <p:sp>
        <p:nvSpPr>
          <p:cNvPr id="5127" name="Text Box 6"/>
          <p:cNvSpPr txBox="1">
            <a:spLocks noChangeArrowheads="1"/>
          </p:cNvSpPr>
          <p:nvPr/>
        </p:nvSpPr>
        <p:spPr bwMode="auto">
          <a:xfrm>
            <a:off x="762000" y="5334000"/>
            <a:ext cx="3246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Probabilidad </a:t>
            </a:r>
            <a:r>
              <a:rPr lang="es-ES_tradnl" altLang="es-ES" sz="2400" i="1"/>
              <a:t>a posteriori</a:t>
            </a:r>
            <a:endParaRPr lang="es-ES" altLang="es-ES" sz="2400" i="1"/>
          </a:p>
        </p:txBody>
      </p:sp>
      <p:sp>
        <p:nvSpPr>
          <p:cNvPr id="5128" name="Text Box 7"/>
          <p:cNvSpPr txBox="1">
            <a:spLocks noChangeArrowheads="1"/>
          </p:cNvSpPr>
          <p:nvPr/>
        </p:nvSpPr>
        <p:spPr bwMode="auto">
          <a:xfrm>
            <a:off x="2133600" y="2514600"/>
            <a:ext cx="3405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Probabiblidad </a:t>
            </a:r>
            <a:r>
              <a:rPr lang="es-ES_tradnl" altLang="es-ES" sz="2400" i="1"/>
              <a:t>condicional</a:t>
            </a:r>
            <a:endParaRPr lang="es-ES" altLang="es-ES" sz="2400" i="1"/>
          </a:p>
        </p:txBody>
      </p:sp>
      <p:sp>
        <p:nvSpPr>
          <p:cNvPr id="5129" name="Line 11"/>
          <p:cNvSpPr>
            <a:spLocks noChangeShapeType="1"/>
          </p:cNvSpPr>
          <p:nvPr/>
        </p:nvSpPr>
        <p:spPr bwMode="auto">
          <a:xfrm flipV="1">
            <a:off x="2362200" y="4495800"/>
            <a:ext cx="3048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130" name="Line 12"/>
          <p:cNvSpPr>
            <a:spLocks noChangeShapeType="1"/>
          </p:cNvSpPr>
          <p:nvPr/>
        </p:nvSpPr>
        <p:spPr bwMode="auto">
          <a:xfrm>
            <a:off x="4114800" y="2971800"/>
            <a:ext cx="8382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131" name="Line 13"/>
          <p:cNvSpPr>
            <a:spLocks noChangeShapeType="1"/>
          </p:cNvSpPr>
          <p:nvPr/>
        </p:nvSpPr>
        <p:spPr bwMode="auto">
          <a:xfrm flipH="1">
            <a:off x="6553200" y="2971800"/>
            <a:ext cx="685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14300"/>
            <a:ext cx="7772400" cy="1143000"/>
          </a:xfrm>
        </p:spPr>
        <p:txBody>
          <a:bodyPr/>
          <a:lstStyle/>
          <a:p>
            <a:pPr eaLnBrk="1" hangingPunct="1"/>
            <a:r>
              <a:rPr lang="es-ES_tradnl" altLang="es-ES" smtClean="0"/>
              <a:t>Bayes aplicado a clasificación</a:t>
            </a:r>
            <a:endParaRPr lang="es-ES" altLang="es-ES" smtClean="0"/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214438"/>
            <a:ext cx="8458200" cy="4114800"/>
          </a:xfrm>
        </p:spPr>
        <p:txBody>
          <a:bodyPr/>
          <a:lstStyle/>
          <a:p>
            <a:pPr eaLnBrk="1" hangingPunct="1"/>
            <a:r>
              <a:rPr lang="es-ES_tradnl" altLang="es-ES" sz="2400" smtClean="0"/>
              <a:t>Supongamos</a:t>
            </a:r>
          </a:p>
          <a:p>
            <a:pPr lvl="1" eaLnBrk="1" hangingPunct="1">
              <a:buFontTx/>
              <a:buNone/>
            </a:pPr>
            <a:r>
              <a:rPr lang="es-ES_tradnl" altLang="es-ES" sz="2000" smtClean="0"/>
              <a:t>A = conjunto de caracteres estudiados (un grupo de alumnos)</a:t>
            </a:r>
          </a:p>
          <a:p>
            <a:pPr lvl="1" eaLnBrk="1" hangingPunct="1">
              <a:buFontTx/>
              <a:buNone/>
            </a:pPr>
            <a:r>
              <a:rPr lang="es-ES_tradnl" altLang="es-ES" sz="2000" smtClean="0"/>
              <a:t>X = una característica (por ej.: Tiene pendientes)</a:t>
            </a:r>
          </a:p>
          <a:p>
            <a:pPr lvl="1" eaLnBrk="1" hangingPunct="1">
              <a:buFontTx/>
              <a:buNone/>
            </a:pPr>
            <a:r>
              <a:rPr lang="es-ES_tradnl" altLang="es-ES" sz="2000" smtClean="0"/>
              <a:t>w</a:t>
            </a:r>
            <a:r>
              <a:rPr lang="es-ES_tradnl" altLang="es-ES" sz="2000" baseline="-25000" smtClean="0"/>
              <a:t>1</a:t>
            </a:r>
            <a:r>
              <a:rPr lang="es-ES_tradnl" altLang="es-ES" sz="2000" smtClean="0"/>
              <a:t>= conjunto de mujeres  =           32 MUJERES		</a:t>
            </a:r>
          </a:p>
          <a:p>
            <a:pPr lvl="1" eaLnBrk="1" hangingPunct="1">
              <a:buFontTx/>
              <a:buNone/>
            </a:pPr>
            <a:r>
              <a:rPr lang="es-ES_tradnl" altLang="es-ES" sz="2000" smtClean="0"/>
              <a:t>w</a:t>
            </a:r>
            <a:r>
              <a:rPr lang="es-ES_tradnl" altLang="es-ES" sz="2000" baseline="-25000" smtClean="0"/>
              <a:t>2</a:t>
            </a:r>
            <a:r>
              <a:rPr lang="es-ES_tradnl" altLang="es-ES" sz="2000" smtClean="0"/>
              <a:t> = conjunto de hombres =          68 HOMBRES</a:t>
            </a:r>
            <a:endParaRPr lang="es-ES_tradnl" altLang="es-ES" sz="2000" smtClean="0">
              <a:solidFill>
                <a:schemeClr val="accent2"/>
              </a:solidFill>
            </a:endParaRPr>
          </a:p>
          <a:p>
            <a:pPr eaLnBrk="1" hangingPunct="1"/>
            <a:endParaRPr lang="es-ES_tradnl" altLang="es-ES" sz="2400" smtClean="0"/>
          </a:p>
        </p:txBody>
      </p:sp>
      <p:sp>
        <p:nvSpPr>
          <p:cNvPr id="6148" name="Oval 20"/>
          <p:cNvSpPr>
            <a:spLocks noChangeArrowheads="1"/>
          </p:cNvSpPr>
          <p:nvPr/>
        </p:nvSpPr>
        <p:spPr bwMode="auto">
          <a:xfrm>
            <a:off x="2133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49" name="Oval 21"/>
          <p:cNvSpPr>
            <a:spLocks noChangeArrowheads="1"/>
          </p:cNvSpPr>
          <p:nvPr/>
        </p:nvSpPr>
        <p:spPr bwMode="auto">
          <a:xfrm>
            <a:off x="2133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50" name="Oval 22"/>
          <p:cNvSpPr>
            <a:spLocks noChangeArrowheads="1"/>
          </p:cNvSpPr>
          <p:nvPr/>
        </p:nvSpPr>
        <p:spPr bwMode="auto">
          <a:xfrm>
            <a:off x="21336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51" name="Oval 23"/>
          <p:cNvSpPr>
            <a:spLocks noChangeArrowheads="1"/>
          </p:cNvSpPr>
          <p:nvPr/>
        </p:nvSpPr>
        <p:spPr bwMode="auto">
          <a:xfrm>
            <a:off x="21336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52" name="Oval 24"/>
          <p:cNvSpPr>
            <a:spLocks noChangeArrowheads="1"/>
          </p:cNvSpPr>
          <p:nvPr/>
        </p:nvSpPr>
        <p:spPr bwMode="auto">
          <a:xfrm>
            <a:off x="21336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53" name="Oval 25"/>
          <p:cNvSpPr>
            <a:spLocks noChangeArrowheads="1"/>
          </p:cNvSpPr>
          <p:nvPr/>
        </p:nvSpPr>
        <p:spPr bwMode="auto">
          <a:xfrm>
            <a:off x="21336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54" name="Oval 26"/>
          <p:cNvSpPr>
            <a:spLocks noChangeArrowheads="1"/>
          </p:cNvSpPr>
          <p:nvPr/>
        </p:nvSpPr>
        <p:spPr bwMode="auto">
          <a:xfrm>
            <a:off x="21336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55" name="Oval 27"/>
          <p:cNvSpPr>
            <a:spLocks noChangeArrowheads="1"/>
          </p:cNvSpPr>
          <p:nvPr/>
        </p:nvSpPr>
        <p:spPr bwMode="auto">
          <a:xfrm>
            <a:off x="21336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56" name="Oval 28"/>
          <p:cNvSpPr>
            <a:spLocks noChangeArrowheads="1"/>
          </p:cNvSpPr>
          <p:nvPr/>
        </p:nvSpPr>
        <p:spPr bwMode="auto">
          <a:xfrm>
            <a:off x="21336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57" name="Oval 29"/>
          <p:cNvSpPr>
            <a:spLocks noChangeArrowheads="1"/>
          </p:cNvSpPr>
          <p:nvPr/>
        </p:nvSpPr>
        <p:spPr bwMode="auto">
          <a:xfrm>
            <a:off x="27432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58" name="Oval 30"/>
          <p:cNvSpPr>
            <a:spLocks noChangeArrowheads="1"/>
          </p:cNvSpPr>
          <p:nvPr/>
        </p:nvSpPr>
        <p:spPr bwMode="auto">
          <a:xfrm>
            <a:off x="27432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59" name="Oval 31"/>
          <p:cNvSpPr>
            <a:spLocks noChangeArrowheads="1"/>
          </p:cNvSpPr>
          <p:nvPr/>
        </p:nvSpPr>
        <p:spPr bwMode="auto">
          <a:xfrm>
            <a:off x="2743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60" name="Oval 32"/>
          <p:cNvSpPr>
            <a:spLocks noChangeArrowheads="1"/>
          </p:cNvSpPr>
          <p:nvPr/>
        </p:nvSpPr>
        <p:spPr bwMode="auto">
          <a:xfrm>
            <a:off x="27432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61" name="Oval 33"/>
          <p:cNvSpPr>
            <a:spLocks noChangeArrowheads="1"/>
          </p:cNvSpPr>
          <p:nvPr/>
        </p:nvSpPr>
        <p:spPr bwMode="auto">
          <a:xfrm>
            <a:off x="27432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62" name="Oval 34"/>
          <p:cNvSpPr>
            <a:spLocks noChangeArrowheads="1"/>
          </p:cNvSpPr>
          <p:nvPr/>
        </p:nvSpPr>
        <p:spPr bwMode="auto">
          <a:xfrm>
            <a:off x="27432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63" name="Oval 35"/>
          <p:cNvSpPr>
            <a:spLocks noChangeArrowheads="1"/>
          </p:cNvSpPr>
          <p:nvPr/>
        </p:nvSpPr>
        <p:spPr bwMode="auto">
          <a:xfrm>
            <a:off x="27432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64" name="Oval 36"/>
          <p:cNvSpPr>
            <a:spLocks noChangeArrowheads="1"/>
          </p:cNvSpPr>
          <p:nvPr/>
        </p:nvSpPr>
        <p:spPr bwMode="auto">
          <a:xfrm>
            <a:off x="27432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65" name="Oval 37"/>
          <p:cNvSpPr>
            <a:spLocks noChangeArrowheads="1"/>
          </p:cNvSpPr>
          <p:nvPr/>
        </p:nvSpPr>
        <p:spPr bwMode="auto">
          <a:xfrm>
            <a:off x="27432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66" name="Oval 38"/>
          <p:cNvSpPr>
            <a:spLocks noChangeArrowheads="1"/>
          </p:cNvSpPr>
          <p:nvPr/>
        </p:nvSpPr>
        <p:spPr bwMode="auto">
          <a:xfrm>
            <a:off x="33528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67" name="Oval 39"/>
          <p:cNvSpPr>
            <a:spLocks noChangeArrowheads="1"/>
          </p:cNvSpPr>
          <p:nvPr/>
        </p:nvSpPr>
        <p:spPr bwMode="auto">
          <a:xfrm>
            <a:off x="33528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68" name="Oval 40"/>
          <p:cNvSpPr>
            <a:spLocks noChangeArrowheads="1"/>
          </p:cNvSpPr>
          <p:nvPr/>
        </p:nvSpPr>
        <p:spPr bwMode="auto">
          <a:xfrm>
            <a:off x="33528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69" name="Oval 41"/>
          <p:cNvSpPr>
            <a:spLocks noChangeArrowheads="1"/>
          </p:cNvSpPr>
          <p:nvPr/>
        </p:nvSpPr>
        <p:spPr bwMode="auto">
          <a:xfrm>
            <a:off x="3352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70" name="Oval 42"/>
          <p:cNvSpPr>
            <a:spLocks noChangeArrowheads="1"/>
          </p:cNvSpPr>
          <p:nvPr/>
        </p:nvSpPr>
        <p:spPr bwMode="auto">
          <a:xfrm>
            <a:off x="33528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71" name="Oval 43"/>
          <p:cNvSpPr>
            <a:spLocks noChangeArrowheads="1"/>
          </p:cNvSpPr>
          <p:nvPr/>
        </p:nvSpPr>
        <p:spPr bwMode="auto">
          <a:xfrm>
            <a:off x="33528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72" name="Oval 44"/>
          <p:cNvSpPr>
            <a:spLocks noChangeArrowheads="1"/>
          </p:cNvSpPr>
          <p:nvPr/>
        </p:nvSpPr>
        <p:spPr bwMode="auto">
          <a:xfrm>
            <a:off x="33528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73" name="Oval 45"/>
          <p:cNvSpPr>
            <a:spLocks noChangeArrowheads="1"/>
          </p:cNvSpPr>
          <p:nvPr/>
        </p:nvSpPr>
        <p:spPr bwMode="auto">
          <a:xfrm>
            <a:off x="33528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74" name="Oval 46"/>
          <p:cNvSpPr>
            <a:spLocks noChangeArrowheads="1"/>
          </p:cNvSpPr>
          <p:nvPr/>
        </p:nvSpPr>
        <p:spPr bwMode="auto">
          <a:xfrm>
            <a:off x="33528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75" name="Oval 47"/>
          <p:cNvSpPr>
            <a:spLocks noChangeArrowheads="1"/>
          </p:cNvSpPr>
          <p:nvPr/>
        </p:nvSpPr>
        <p:spPr bwMode="auto">
          <a:xfrm>
            <a:off x="39624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76" name="Oval 48"/>
          <p:cNvSpPr>
            <a:spLocks noChangeArrowheads="1"/>
          </p:cNvSpPr>
          <p:nvPr/>
        </p:nvSpPr>
        <p:spPr bwMode="auto">
          <a:xfrm>
            <a:off x="39624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77" name="Oval 49"/>
          <p:cNvSpPr>
            <a:spLocks noChangeArrowheads="1"/>
          </p:cNvSpPr>
          <p:nvPr/>
        </p:nvSpPr>
        <p:spPr bwMode="auto">
          <a:xfrm>
            <a:off x="39624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78" name="Oval 50"/>
          <p:cNvSpPr>
            <a:spLocks noChangeArrowheads="1"/>
          </p:cNvSpPr>
          <p:nvPr/>
        </p:nvSpPr>
        <p:spPr bwMode="auto">
          <a:xfrm>
            <a:off x="39624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79" name="Oval 51"/>
          <p:cNvSpPr>
            <a:spLocks noChangeArrowheads="1"/>
          </p:cNvSpPr>
          <p:nvPr/>
        </p:nvSpPr>
        <p:spPr bwMode="auto">
          <a:xfrm>
            <a:off x="39624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80" name="Oval 52"/>
          <p:cNvSpPr>
            <a:spLocks noChangeArrowheads="1"/>
          </p:cNvSpPr>
          <p:nvPr/>
        </p:nvSpPr>
        <p:spPr bwMode="auto">
          <a:xfrm>
            <a:off x="39624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81" name="Oval 53"/>
          <p:cNvSpPr>
            <a:spLocks noChangeArrowheads="1"/>
          </p:cNvSpPr>
          <p:nvPr/>
        </p:nvSpPr>
        <p:spPr bwMode="auto">
          <a:xfrm>
            <a:off x="39624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82" name="Oval 54"/>
          <p:cNvSpPr>
            <a:spLocks noChangeArrowheads="1"/>
          </p:cNvSpPr>
          <p:nvPr/>
        </p:nvSpPr>
        <p:spPr bwMode="auto">
          <a:xfrm>
            <a:off x="39624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83" name="Oval 55"/>
          <p:cNvSpPr>
            <a:spLocks noChangeArrowheads="1"/>
          </p:cNvSpPr>
          <p:nvPr/>
        </p:nvSpPr>
        <p:spPr bwMode="auto">
          <a:xfrm>
            <a:off x="39624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84" name="Oval 56"/>
          <p:cNvSpPr>
            <a:spLocks noChangeArrowheads="1"/>
          </p:cNvSpPr>
          <p:nvPr/>
        </p:nvSpPr>
        <p:spPr bwMode="auto">
          <a:xfrm>
            <a:off x="45720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85" name="Oval 57"/>
          <p:cNvSpPr>
            <a:spLocks noChangeArrowheads="1"/>
          </p:cNvSpPr>
          <p:nvPr/>
        </p:nvSpPr>
        <p:spPr bwMode="auto">
          <a:xfrm>
            <a:off x="45720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86" name="Oval 58"/>
          <p:cNvSpPr>
            <a:spLocks noChangeArrowheads="1"/>
          </p:cNvSpPr>
          <p:nvPr/>
        </p:nvSpPr>
        <p:spPr bwMode="auto">
          <a:xfrm>
            <a:off x="45720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87" name="Oval 59"/>
          <p:cNvSpPr>
            <a:spLocks noChangeArrowheads="1"/>
          </p:cNvSpPr>
          <p:nvPr/>
        </p:nvSpPr>
        <p:spPr bwMode="auto">
          <a:xfrm>
            <a:off x="45720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88" name="Oval 60"/>
          <p:cNvSpPr>
            <a:spLocks noChangeArrowheads="1"/>
          </p:cNvSpPr>
          <p:nvPr/>
        </p:nvSpPr>
        <p:spPr bwMode="auto">
          <a:xfrm>
            <a:off x="45720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89" name="Oval 61"/>
          <p:cNvSpPr>
            <a:spLocks noChangeArrowheads="1"/>
          </p:cNvSpPr>
          <p:nvPr/>
        </p:nvSpPr>
        <p:spPr bwMode="auto">
          <a:xfrm>
            <a:off x="45720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90" name="Oval 62"/>
          <p:cNvSpPr>
            <a:spLocks noChangeArrowheads="1"/>
          </p:cNvSpPr>
          <p:nvPr/>
        </p:nvSpPr>
        <p:spPr bwMode="auto">
          <a:xfrm>
            <a:off x="45720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91" name="Oval 63"/>
          <p:cNvSpPr>
            <a:spLocks noChangeArrowheads="1"/>
          </p:cNvSpPr>
          <p:nvPr/>
        </p:nvSpPr>
        <p:spPr bwMode="auto">
          <a:xfrm>
            <a:off x="45720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92" name="Oval 64"/>
          <p:cNvSpPr>
            <a:spLocks noChangeArrowheads="1"/>
          </p:cNvSpPr>
          <p:nvPr/>
        </p:nvSpPr>
        <p:spPr bwMode="auto">
          <a:xfrm>
            <a:off x="45720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93" name="Oval 65"/>
          <p:cNvSpPr>
            <a:spLocks noChangeArrowheads="1"/>
          </p:cNvSpPr>
          <p:nvPr/>
        </p:nvSpPr>
        <p:spPr bwMode="auto">
          <a:xfrm>
            <a:off x="5181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94" name="Oval 66"/>
          <p:cNvSpPr>
            <a:spLocks noChangeArrowheads="1"/>
          </p:cNvSpPr>
          <p:nvPr/>
        </p:nvSpPr>
        <p:spPr bwMode="auto">
          <a:xfrm>
            <a:off x="5181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95" name="Oval 67"/>
          <p:cNvSpPr>
            <a:spLocks noChangeArrowheads="1"/>
          </p:cNvSpPr>
          <p:nvPr/>
        </p:nvSpPr>
        <p:spPr bwMode="auto">
          <a:xfrm>
            <a:off x="51816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96" name="Oval 68"/>
          <p:cNvSpPr>
            <a:spLocks noChangeArrowheads="1"/>
          </p:cNvSpPr>
          <p:nvPr/>
        </p:nvSpPr>
        <p:spPr bwMode="auto">
          <a:xfrm>
            <a:off x="51816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97" name="Oval 69"/>
          <p:cNvSpPr>
            <a:spLocks noChangeArrowheads="1"/>
          </p:cNvSpPr>
          <p:nvPr/>
        </p:nvSpPr>
        <p:spPr bwMode="auto">
          <a:xfrm>
            <a:off x="51816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98" name="Oval 70"/>
          <p:cNvSpPr>
            <a:spLocks noChangeArrowheads="1"/>
          </p:cNvSpPr>
          <p:nvPr/>
        </p:nvSpPr>
        <p:spPr bwMode="auto">
          <a:xfrm>
            <a:off x="51816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199" name="Oval 71"/>
          <p:cNvSpPr>
            <a:spLocks noChangeArrowheads="1"/>
          </p:cNvSpPr>
          <p:nvPr/>
        </p:nvSpPr>
        <p:spPr bwMode="auto">
          <a:xfrm>
            <a:off x="51816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00" name="Oval 72"/>
          <p:cNvSpPr>
            <a:spLocks noChangeArrowheads="1"/>
          </p:cNvSpPr>
          <p:nvPr/>
        </p:nvSpPr>
        <p:spPr bwMode="auto">
          <a:xfrm>
            <a:off x="51816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01" name="Oval 73"/>
          <p:cNvSpPr>
            <a:spLocks noChangeArrowheads="1"/>
          </p:cNvSpPr>
          <p:nvPr/>
        </p:nvSpPr>
        <p:spPr bwMode="auto">
          <a:xfrm>
            <a:off x="51816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02" name="Oval 74"/>
          <p:cNvSpPr>
            <a:spLocks noChangeArrowheads="1"/>
          </p:cNvSpPr>
          <p:nvPr/>
        </p:nvSpPr>
        <p:spPr bwMode="auto">
          <a:xfrm>
            <a:off x="57912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03" name="Oval 75"/>
          <p:cNvSpPr>
            <a:spLocks noChangeArrowheads="1"/>
          </p:cNvSpPr>
          <p:nvPr/>
        </p:nvSpPr>
        <p:spPr bwMode="auto">
          <a:xfrm>
            <a:off x="57912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04" name="Oval 76"/>
          <p:cNvSpPr>
            <a:spLocks noChangeArrowheads="1"/>
          </p:cNvSpPr>
          <p:nvPr/>
        </p:nvSpPr>
        <p:spPr bwMode="auto">
          <a:xfrm>
            <a:off x="5791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05" name="Oval 77"/>
          <p:cNvSpPr>
            <a:spLocks noChangeArrowheads="1"/>
          </p:cNvSpPr>
          <p:nvPr/>
        </p:nvSpPr>
        <p:spPr bwMode="auto">
          <a:xfrm>
            <a:off x="57912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06" name="Oval 78"/>
          <p:cNvSpPr>
            <a:spLocks noChangeArrowheads="1"/>
          </p:cNvSpPr>
          <p:nvPr/>
        </p:nvSpPr>
        <p:spPr bwMode="auto">
          <a:xfrm>
            <a:off x="57912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07" name="Oval 79"/>
          <p:cNvSpPr>
            <a:spLocks noChangeArrowheads="1"/>
          </p:cNvSpPr>
          <p:nvPr/>
        </p:nvSpPr>
        <p:spPr bwMode="auto">
          <a:xfrm>
            <a:off x="57912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08" name="Oval 80"/>
          <p:cNvSpPr>
            <a:spLocks noChangeArrowheads="1"/>
          </p:cNvSpPr>
          <p:nvPr/>
        </p:nvSpPr>
        <p:spPr bwMode="auto">
          <a:xfrm>
            <a:off x="57912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09" name="Oval 81"/>
          <p:cNvSpPr>
            <a:spLocks noChangeArrowheads="1"/>
          </p:cNvSpPr>
          <p:nvPr/>
        </p:nvSpPr>
        <p:spPr bwMode="auto">
          <a:xfrm>
            <a:off x="57912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10" name="Oval 82"/>
          <p:cNvSpPr>
            <a:spLocks noChangeArrowheads="1"/>
          </p:cNvSpPr>
          <p:nvPr/>
        </p:nvSpPr>
        <p:spPr bwMode="auto">
          <a:xfrm>
            <a:off x="57912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11" name="Oval 83"/>
          <p:cNvSpPr>
            <a:spLocks noChangeArrowheads="1"/>
          </p:cNvSpPr>
          <p:nvPr/>
        </p:nvSpPr>
        <p:spPr bwMode="auto">
          <a:xfrm>
            <a:off x="64008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12" name="Oval 84"/>
          <p:cNvSpPr>
            <a:spLocks noChangeArrowheads="1"/>
          </p:cNvSpPr>
          <p:nvPr/>
        </p:nvSpPr>
        <p:spPr bwMode="auto">
          <a:xfrm>
            <a:off x="64008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13" name="Oval 85"/>
          <p:cNvSpPr>
            <a:spLocks noChangeArrowheads="1"/>
          </p:cNvSpPr>
          <p:nvPr/>
        </p:nvSpPr>
        <p:spPr bwMode="auto">
          <a:xfrm>
            <a:off x="64008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14" name="Oval 86"/>
          <p:cNvSpPr>
            <a:spLocks noChangeArrowheads="1"/>
          </p:cNvSpPr>
          <p:nvPr/>
        </p:nvSpPr>
        <p:spPr bwMode="auto">
          <a:xfrm>
            <a:off x="6400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15" name="Oval 87"/>
          <p:cNvSpPr>
            <a:spLocks noChangeArrowheads="1"/>
          </p:cNvSpPr>
          <p:nvPr/>
        </p:nvSpPr>
        <p:spPr bwMode="auto">
          <a:xfrm>
            <a:off x="64008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16" name="Oval 88"/>
          <p:cNvSpPr>
            <a:spLocks noChangeArrowheads="1"/>
          </p:cNvSpPr>
          <p:nvPr/>
        </p:nvSpPr>
        <p:spPr bwMode="auto">
          <a:xfrm>
            <a:off x="64008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17" name="Oval 89"/>
          <p:cNvSpPr>
            <a:spLocks noChangeArrowheads="1"/>
          </p:cNvSpPr>
          <p:nvPr/>
        </p:nvSpPr>
        <p:spPr bwMode="auto">
          <a:xfrm>
            <a:off x="64008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18" name="Oval 90"/>
          <p:cNvSpPr>
            <a:spLocks noChangeArrowheads="1"/>
          </p:cNvSpPr>
          <p:nvPr/>
        </p:nvSpPr>
        <p:spPr bwMode="auto">
          <a:xfrm>
            <a:off x="64008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19" name="Oval 91"/>
          <p:cNvSpPr>
            <a:spLocks noChangeArrowheads="1"/>
          </p:cNvSpPr>
          <p:nvPr/>
        </p:nvSpPr>
        <p:spPr bwMode="auto">
          <a:xfrm>
            <a:off x="64008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20" name="Oval 92"/>
          <p:cNvSpPr>
            <a:spLocks noChangeArrowheads="1"/>
          </p:cNvSpPr>
          <p:nvPr/>
        </p:nvSpPr>
        <p:spPr bwMode="auto">
          <a:xfrm>
            <a:off x="70104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21" name="Oval 93"/>
          <p:cNvSpPr>
            <a:spLocks noChangeArrowheads="1"/>
          </p:cNvSpPr>
          <p:nvPr/>
        </p:nvSpPr>
        <p:spPr bwMode="auto">
          <a:xfrm>
            <a:off x="70104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22" name="Oval 94"/>
          <p:cNvSpPr>
            <a:spLocks noChangeArrowheads="1"/>
          </p:cNvSpPr>
          <p:nvPr/>
        </p:nvSpPr>
        <p:spPr bwMode="auto">
          <a:xfrm>
            <a:off x="70104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23" name="Oval 95"/>
          <p:cNvSpPr>
            <a:spLocks noChangeArrowheads="1"/>
          </p:cNvSpPr>
          <p:nvPr/>
        </p:nvSpPr>
        <p:spPr bwMode="auto">
          <a:xfrm>
            <a:off x="70104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24" name="Oval 96"/>
          <p:cNvSpPr>
            <a:spLocks noChangeArrowheads="1"/>
          </p:cNvSpPr>
          <p:nvPr/>
        </p:nvSpPr>
        <p:spPr bwMode="auto">
          <a:xfrm>
            <a:off x="70104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25" name="Oval 97"/>
          <p:cNvSpPr>
            <a:spLocks noChangeArrowheads="1"/>
          </p:cNvSpPr>
          <p:nvPr/>
        </p:nvSpPr>
        <p:spPr bwMode="auto">
          <a:xfrm>
            <a:off x="70104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26" name="Oval 98"/>
          <p:cNvSpPr>
            <a:spLocks noChangeArrowheads="1"/>
          </p:cNvSpPr>
          <p:nvPr/>
        </p:nvSpPr>
        <p:spPr bwMode="auto">
          <a:xfrm>
            <a:off x="70104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27" name="Oval 99"/>
          <p:cNvSpPr>
            <a:spLocks noChangeArrowheads="1"/>
          </p:cNvSpPr>
          <p:nvPr/>
        </p:nvSpPr>
        <p:spPr bwMode="auto">
          <a:xfrm>
            <a:off x="70104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28" name="Oval 100"/>
          <p:cNvSpPr>
            <a:spLocks noChangeArrowheads="1"/>
          </p:cNvSpPr>
          <p:nvPr/>
        </p:nvSpPr>
        <p:spPr bwMode="auto">
          <a:xfrm>
            <a:off x="70104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29" name="Oval 101"/>
          <p:cNvSpPr>
            <a:spLocks noChangeArrowheads="1"/>
          </p:cNvSpPr>
          <p:nvPr/>
        </p:nvSpPr>
        <p:spPr bwMode="auto">
          <a:xfrm>
            <a:off x="76200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30" name="Oval 102"/>
          <p:cNvSpPr>
            <a:spLocks noChangeArrowheads="1"/>
          </p:cNvSpPr>
          <p:nvPr/>
        </p:nvSpPr>
        <p:spPr bwMode="auto">
          <a:xfrm>
            <a:off x="76200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31" name="Oval 103"/>
          <p:cNvSpPr>
            <a:spLocks noChangeArrowheads="1"/>
          </p:cNvSpPr>
          <p:nvPr/>
        </p:nvSpPr>
        <p:spPr bwMode="auto">
          <a:xfrm>
            <a:off x="76200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32" name="Oval 104"/>
          <p:cNvSpPr>
            <a:spLocks noChangeArrowheads="1"/>
          </p:cNvSpPr>
          <p:nvPr/>
        </p:nvSpPr>
        <p:spPr bwMode="auto">
          <a:xfrm>
            <a:off x="76200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33" name="Oval 105"/>
          <p:cNvSpPr>
            <a:spLocks noChangeArrowheads="1"/>
          </p:cNvSpPr>
          <p:nvPr/>
        </p:nvSpPr>
        <p:spPr bwMode="auto">
          <a:xfrm>
            <a:off x="76200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34" name="Oval 106"/>
          <p:cNvSpPr>
            <a:spLocks noChangeArrowheads="1"/>
          </p:cNvSpPr>
          <p:nvPr/>
        </p:nvSpPr>
        <p:spPr bwMode="auto">
          <a:xfrm>
            <a:off x="76200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35" name="Oval 107"/>
          <p:cNvSpPr>
            <a:spLocks noChangeArrowheads="1"/>
          </p:cNvSpPr>
          <p:nvPr/>
        </p:nvSpPr>
        <p:spPr bwMode="auto">
          <a:xfrm>
            <a:off x="76200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36" name="Oval 108"/>
          <p:cNvSpPr>
            <a:spLocks noChangeArrowheads="1"/>
          </p:cNvSpPr>
          <p:nvPr/>
        </p:nvSpPr>
        <p:spPr bwMode="auto">
          <a:xfrm>
            <a:off x="76200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37" name="Oval 109"/>
          <p:cNvSpPr>
            <a:spLocks noChangeArrowheads="1"/>
          </p:cNvSpPr>
          <p:nvPr/>
        </p:nvSpPr>
        <p:spPr bwMode="auto">
          <a:xfrm>
            <a:off x="76200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38" name="Text Box 113"/>
          <p:cNvSpPr txBox="1">
            <a:spLocks noChangeArrowheads="1"/>
          </p:cNvSpPr>
          <p:nvPr/>
        </p:nvSpPr>
        <p:spPr bwMode="auto">
          <a:xfrm>
            <a:off x="1219200" y="5562600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b="1">
                <a:solidFill>
                  <a:srgbClr val="FF0000"/>
                </a:solidFill>
              </a:rPr>
              <a:t>w</a:t>
            </a:r>
            <a:r>
              <a:rPr lang="es-ES_tradnl" altLang="es-ES" sz="2400" b="1" baseline="-25000">
                <a:solidFill>
                  <a:srgbClr val="FF0000"/>
                </a:solidFill>
              </a:rPr>
              <a:t>1</a:t>
            </a:r>
            <a:endParaRPr lang="es-ES" altLang="es-ES" sz="2400" b="1" baseline="-25000">
              <a:solidFill>
                <a:srgbClr val="FF0000"/>
              </a:solidFill>
            </a:endParaRPr>
          </a:p>
        </p:txBody>
      </p:sp>
      <p:sp>
        <p:nvSpPr>
          <p:cNvPr id="6239" name="Text Box 114"/>
          <p:cNvSpPr txBox="1">
            <a:spLocks noChangeArrowheads="1"/>
          </p:cNvSpPr>
          <p:nvPr/>
        </p:nvSpPr>
        <p:spPr bwMode="auto">
          <a:xfrm>
            <a:off x="1524000" y="37338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b="1"/>
              <a:t>A</a:t>
            </a:r>
            <a:endParaRPr lang="es-ES" altLang="es-ES" sz="2400" b="1"/>
          </a:p>
        </p:txBody>
      </p:sp>
      <p:sp>
        <p:nvSpPr>
          <p:cNvPr id="6240" name="AutoShape 117"/>
          <p:cNvSpPr>
            <a:spLocks noChangeArrowheads="1"/>
          </p:cNvSpPr>
          <p:nvPr/>
        </p:nvSpPr>
        <p:spPr bwMode="auto">
          <a:xfrm>
            <a:off x="1828800" y="3400425"/>
            <a:ext cx="6324600" cy="3381375"/>
          </a:xfrm>
          <a:prstGeom prst="roundRect">
            <a:avLst>
              <a:gd name="adj" fmla="val 16667"/>
            </a:avLst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41" name="Oval 118"/>
          <p:cNvSpPr>
            <a:spLocks noChangeArrowheads="1"/>
          </p:cNvSpPr>
          <p:nvPr/>
        </p:nvSpPr>
        <p:spPr bwMode="auto">
          <a:xfrm>
            <a:off x="4260850" y="2454275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42" name="Oval 119"/>
          <p:cNvSpPr>
            <a:spLocks noChangeArrowheads="1"/>
          </p:cNvSpPr>
          <p:nvPr/>
        </p:nvSpPr>
        <p:spPr bwMode="auto">
          <a:xfrm>
            <a:off x="4267200" y="283527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43" name="Text Box 120"/>
          <p:cNvSpPr txBox="1">
            <a:spLocks noChangeArrowheads="1"/>
          </p:cNvSpPr>
          <p:nvPr/>
        </p:nvSpPr>
        <p:spPr bwMode="auto">
          <a:xfrm>
            <a:off x="8229600" y="4191000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b="1">
                <a:solidFill>
                  <a:schemeClr val="accent1"/>
                </a:solidFill>
              </a:rPr>
              <a:t>w</a:t>
            </a:r>
            <a:r>
              <a:rPr lang="es-ES_tradnl" altLang="es-ES" sz="2400" b="1" baseline="-25000">
                <a:solidFill>
                  <a:schemeClr val="accent1"/>
                </a:solidFill>
              </a:rPr>
              <a:t>2</a:t>
            </a:r>
            <a:endParaRPr lang="es-ES" altLang="es-ES" sz="2400" b="1" baseline="-25000">
              <a:solidFill>
                <a:schemeClr val="accent1"/>
              </a:solidFill>
            </a:endParaRPr>
          </a:p>
        </p:txBody>
      </p:sp>
      <p:sp>
        <p:nvSpPr>
          <p:cNvPr id="6244" name="AutoShape 143"/>
          <p:cNvSpPr>
            <a:spLocks noChangeArrowheads="1"/>
          </p:cNvSpPr>
          <p:nvPr/>
        </p:nvSpPr>
        <p:spPr bwMode="auto">
          <a:xfrm>
            <a:off x="1981200" y="5638800"/>
            <a:ext cx="6019800" cy="9906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45" name="Line 144"/>
          <p:cNvSpPr>
            <a:spLocks noChangeShapeType="1"/>
          </p:cNvSpPr>
          <p:nvPr/>
        </p:nvSpPr>
        <p:spPr bwMode="auto">
          <a:xfrm flipH="1">
            <a:off x="8001000" y="5468938"/>
            <a:ext cx="685800" cy="1968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6246" name="Oval 145"/>
          <p:cNvSpPr>
            <a:spLocks noChangeArrowheads="1"/>
          </p:cNvSpPr>
          <p:nvPr/>
        </p:nvSpPr>
        <p:spPr bwMode="auto">
          <a:xfrm>
            <a:off x="21431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47" name="Oval 146"/>
          <p:cNvSpPr>
            <a:spLocks noChangeArrowheads="1"/>
          </p:cNvSpPr>
          <p:nvPr/>
        </p:nvSpPr>
        <p:spPr bwMode="auto">
          <a:xfrm>
            <a:off x="27527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48" name="Oval 147"/>
          <p:cNvSpPr>
            <a:spLocks noChangeArrowheads="1"/>
          </p:cNvSpPr>
          <p:nvPr/>
        </p:nvSpPr>
        <p:spPr bwMode="auto">
          <a:xfrm>
            <a:off x="33623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49" name="Oval 148"/>
          <p:cNvSpPr>
            <a:spLocks noChangeArrowheads="1"/>
          </p:cNvSpPr>
          <p:nvPr/>
        </p:nvSpPr>
        <p:spPr bwMode="auto">
          <a:xfrm>
            <a:off x="39719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50" name="Oval 149"/>
          <p:cNvSpPr>
            <a:spLocks noChangeArrowheads="1"/>
          </p:cNvSpPr>
          <p:nvPr/>
        </p:nvSpPr>
        <p:spPr bwMode="auto">
          <a:xfrm>
            <a:off x="45815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51" name="Oval 150"/>
          <p:cNvSpPr>
            <a:spLocks noChangeArrowheads="1"/>
          </p:cNvSpPr>
          <p:nvPr/>
        </p:nvSpPr>
        <p:spPr bwMode="auto">
          <a:xfrm>
            <a:off x="51911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52" name="Oval 151"/>
          <p:cNvSpPr>
            <a:spLocks noChangeArrowheads="1"/>
          </p:cNvSpPr>
          <p:nvPr/>
        </p:nvSpPr>
        <p:spPr bwMode="auto">
          <a:xfrm>
            <a:off x="58007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53" name="Oval 152"/>
          <p:cNvSpPr>
            <a:spLocks noChangeArrowheads="1"/>
          </p:cNvSpPr>
          <p:nvPr/>
        </p:nvSpPr>
        <p:spPr bwMode="auto">
          <a:xfrm>
            <a:off x="64103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54" name="Oval 153"/>
          <p:cNvSpPr>
            <a:spLocks noChangeArrowheads="1"/>
          </p:cNvSpPr>
          <p:nvPr/>
        </p:nvSpPr>
        <p:spPr bwMode="auto">
          <a:xfrm>
            <a:off x="70199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55" name="Oval 154"/>
          <p:cNvSpPr>
            <a:spLocks noChangeArrowheads="1"/>
          </p:cNvSpPr>
          <p:nvPr/>
        </p:nvSpPr>
        <p:spPr bwMode="auto">
          <a:xfrm>
            <a:off x="76295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6256" name="Rectángulo 1"/>
          <p:cNvSpPr>
            <a:spLocks noChangeArrowheads="1"/>
          </p:cNvSpPr>
          <p:nvPr/>
        </p:nvSpPr>
        <p:spPr bwMode="auto">
          <a:xfrm>
            <a:off x="8685213" y="5168900"/>
            <a:ext cx="4079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>
                <a:solidFill>
                  <a:schemeClr val="accent2"/>
                </a:solidFill>
              </a:rPr>
              <a:t>X</a:t>
            </a:r>
            <a:endParaRPr lang="es-ES" altLang="es-E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Probabilidad "a priori"</a:t>
            </a:r>
            <a:endParaRPr lang="es-ES" altLang="es-ES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Seleccionamos una persona cualquiera</a:t>
            </a:r>
          </a:p>
          <a:p>
            <a:pPr eaLnBrk="1" hangingPunct="1"/>
            <a:r>
              <a:rPr lang="es-ES_tradnl" altLang="es-ES" smtClean="0"/>
              <a:t>Supongamos que conozco la "probabilidad a priori"</a:t>
            </a:r>
          </a:p>
          <a:p>
            <a:pPr lvl="2" eaLnBrk="1" hangingPunct="1">
              <a:buFontTx/>
              <a:buNone/>
            </a:pPr>
            <a:r>
              <a:rPr lang="es-ES_tradnl" altLang="es-ES" smtClean="0"/>
              <a:t>P(hombre) = 68/100      P(mujer)=32/100</a:t>
            </a:r>
          </a:p>
          <a:p>
            <a:pPr eaLnBrk="1" hangingPunct="1"/>
            <a:r>
              <a:rPr lang="es-ES_tradnl" altLang="es-ES" smtClean="0"/>
              <a:t>Si he de decidir sobre su sexo, invariablemente diré que lo más probable es que sea un hombre.</a:t>
            </a:r>
          </a:p>
          <a:p>
            <a:pPr lvl="2" eaLnBrk="1" hangingPunct="1">
              <a:buFontTx/>
              <a:buNone/>
            </a:pPr>
            <a:endParaRPr lang="es-ES" alt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s-ES_tradnl" altLang="es-ES" smtClean="0"/>
              <a:t>Clasificador bayesiano</a:t>
            </a:r>
            <a:endParaRPr lang="es-ES" altLang="es-ES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58200" cy="4114800"/>
          </a:xfrm>
        </p:spPr>
        <p:txBody>
          <a:bodyPr/>
          <a:lstStyle/>
          <a:p>
            <a:pPr eaLnBrk="1" hangingPunct="1"/>
            <a:r>
              <a:rPr lang="es-ES_tradnl" altLang="es-ES" sz="2800" smtClean="0"/>
              <a:t>Suponga que sabemos un dato (X): Tiene pendientes</a:t>
            </a:r>
          </a:p>
          <a:p>
            <a:pPr lvl="2" eaLnBrk="1" hangingPunct="1">
              <a:buFontTx/>
              <a:buNone/>
            </a:pPr>
            <a:r>
              <a:rPr lang="es-ES_tradnl" altLang="es-ES" smtClean="0"/>
              <a:t>P(w</a:t>
            </a:r>
            <a:r>
              <a:rPr lang="es-ES_tradnl" altLang="es-ES" baseline="-25000" smtClean="0"/>
              <a:t>1</a:t>
            </a:r>
            <a:r>
              <a:rPr lang="es-ES_tradnl" altLang="es-ES" smtClean="0"/>
              <a:t>)=P(hombre)=68/100      P(w</a:t>
            </a:r>
            <a:r>
              <a:rPr lang="es-ES_tradnl" altLang="es-ES" baseline="-25000" smtClean="0"/>
              <a:t>2</a:t>
            </a:r>
            <a:r>
              <a:rPr lang="es-ES_tradnl" altLang="es-ES" smtClean="0"/>
              <a:t>)=P(mujer)=32/100</a:t>
            </a:r>
          </a:p>
          <a:p>
            <a:pPr lvl="2" eaLnBrk="1" hangingPunct="1">
              <a:buFontTx/>
              <a:buNone/>
            </a:pPr>
            <a:r>
              <a:rPr lang="es-ES_tradnl" altLang="es-ES" smtClean="0"/>
              <a:t>P(X|w</a:t>
            </a:r>
            <a:r>
              <a:rPr lang="es-ES_tradnl" altLang="es-ES" baseline="-25000" smtClean="0"/>
              <a:t>1</a:t>
            </a:r>
            <a:r>
              <a:rPr lang="es-ES_tradnl" altLang="es-ES" smtClean="0"/>
              <a:t>)=P(tiene pendientes|hombre)=6/68</a:t>
            </a:r>
          </a:p>
          <a:p>
            <a:pPr lvl="2" eaLnBrk="1" hangingPunct="1">
              <a:buFontTx/>
              <a:buNone/>
            </a:pPr>
            <a:r>
              <a:rPr lang="es-ES_tradnl" altLang="es-ES" smtClean="0"/>
              <a:t>P(X|w</a:t>
            </a:r>
            <a:r>
              <a:rPr lang="es-ES_tradnl" altLang="es-ES" baseline="-25000" smtClean="0"/>
              <a:t>2</a:t>
            </a:r>
            <a:r>
              <a:rPr lang="es-ES_tradnl" altLang="es-ES" smtClean="0"/>
              <a:t>)=P(tiene pendientes|mujer)=24/32</a:t>
            </a:r>
          </a:p>
          <a:p>
            <a:pPr lvl="2" eaLnBrk="1" hangingPunct="1">
              <a:buFontTx/>
              <a:buNone/>
            </a:pPr>
            <a:r>
              <a:rPr lang="es-ES_tradnl" altLang="es-ES" smtClean="0"/>
              <a:t>P(X)=P(tener pendientes) = P(X|w</a:t>
            </a:r>
            <a:r>
              <a:rPr lang="es-ES_tradnl" altLang="es-ES" baseline="-25000" smtClean="0"/>
              <a:t>1</a:t>
            </a:r>
            <a:r>
              <a:rPr lang="es-ES_tradnl" altLang="es-ES" smtClean="0"/>
              <a:t>)</a:t>
            </a:r>
            <a:r>
              <a:rPr lang="es-ES_tradnl" altLang="es-ES" smtClean="0">
                <a:sym typeface="Symbol" panose="05050102010706020507" pitchFamily="18" charset="2"/>
              </a:rPr>
              <a:t>*P(w</a:t>
            </a:r>
            <a:r>
              <a:rPr lang="es-ES_tradnl" altLang="es-ES" baseline="-25000" smtClean="0"/>
              <a:t>1</a:t>
            </a:r>
            <a:r>
              <a:rPr lang="es-ES_tradnl" altLang="es-ES" smtClean="0"/>
              <a:t>)+P(X|w</a:t>
            </a:r>
            <a:r>
              <a:rPr lang="es-ES_tradnl" altLang="es-ES" baseline="-25000" smtClean="0"/>
              <a:t>2</a:t>
            </a:r>
            <a:r>
              <a:rPr lang="es-ES_tradnl" altLang="es-ES" smtClean="0"/>
              <a:t>)</a:t>
            </a:r>
            <a:r>
              <a:rPr lang="es-ES_tradnl" altLang="es-ES" smtClean="0">
                <a:sym typeface="Symbol" panose="05050102010706020507" pitchFamily="18" charset="2"/>
              </a:rPr>
              <a:t>*P(w</a:t>
            </a:r>
            <a:r>
              <a:rPr lang="es-ES_tradnl" altLang="es-ES" baseline="-25000" smtClean="0"/>
              <a:t>2</a:t>
            </a:r>
            <a:r>
              <a:rPr lang="es-ES_tradnl" altLang="es-ES" smtClean="0"/>
              <a:t>) = 6/68*68/100+24/32*32/100 = 30/100 = 0.3</a:t>
            </a:r>
          </a:p>
          <a:p>
            <a:pPr eaLnBrk="1" hangingPunct="1"/>
            <a:r>
              <a:rPr lang="es-ES_tradnl" altLang="es-ES" sz="2800" smtClean="0"/>
              <a:t>Luego, por el teorema de Bayes:</a:t>
            </a:r>
          </a:p>
          <a:p>
            <a:pPr lvl="2" eaLnBrk="1" hangingPunct="1">
              <a:buFontTx/>
              <a:buNone/>
            </a:pPr>
            <a:r>
              <a:rPr lang="es-ES_tradnl" altLang="es-ES" smtClean="0"/>
              <a:t>P(w</a:t>
            </a:r>
            <a:r>
              <a:rPr lang="es-ES_tradnl" altLang="es-ES" baseline="-25000" smtClean="0"/>
              <a:t>1</a:t>
            </a:r>
            <a:r>
              <a:rPr lang="es-ES_tradnl" altLang="es-ES" smtClean="0"/>
              <a:t>|X)=P(hombre|tiene pendientes)=P(X|w1)*P(w1)/P(X) = (6/68*68/100)/(30/100)=6/30=0.2</a:t>
            </a:r>
          </a:p>
          <a:p>
            <a:pPr lvl="2" eaLnBrk="1" hangingPunct="1">
              <a:buFontTx/>
              <a:buNone/>
            </a:pPr>
            <a:r>
              <a:rPr lang="es-ES_tradnl" altLang="es-ES" smtClean="0"/>
              <a:t>P(w</a:t>
            </a:r>
            <a:r>
              <a:rPr lang="es-ES_tradnl" altLang="es-ES" baseline="-25000" smtClean="0"/>
              <a:t>2</a:t>
            </a:r>
            <a:r>
              <a:rPr lang="es-ES_tradnl" altLang="es-ES" smtClean="0"/>
              <a:t>|X)=P(mujer|tiene pendientes)=P(X|w2)*P(w2)/P(X)= (24/32*32/100)/(30/100)=24/30=0.8  </a:t>
            </a:r>
            <a:endParaRPr lang="es-ES" altLang="es-ES" smtClean="0"/>
          </a:p>
          <a:p>
            <a:pPr lvl="2" eaLnBrk="1" hangingPunct="1">
              <a:buFontTx/>
              <a:buNone/>
            </a:pPr>
            <a:endParaRPr lang="es-ES" altLang="es-ES" smtClean="0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1073150" y="6045200"/>
            <a:ext cx="7004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800"/>
              <a:t>!!! Luego, lo más probable que sea una mujer!!!</a:t>
            </a:r>
            <a:endParaRPr lang="es-ES" altLang="es-E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smtClean="0"/>
              <a:t>Cambio en la percepción de la realidad</a:t>
            </a:r>
          </a:p>
        </p:txBody>
      </p:sp>
      <p:sp>
        <p:nvSpPr>
          <p:cNvPr id="9219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ES" altLang="es-ES" smtClean="0"/>
          </a:p>
          <a:p>
            <a:pPr eaLnBrk="1" hangingPunct="1"/>
            <a:r>
              <a:rPr lang="es-ES" altLang="es-ES" smtClean="0"/>
              <a:t>HOMBRE	0.68                            0.2</a:t>
            </a:r>
          </a:p>
          <a:p>
            <a:pPr eaLnBrk="1" hangingPunct="1"/>
            <a:endParaRPr lang="es-ES" altLang="es-ES" smtClean="0"/>
          </a:p>
          <a:p>
            <a:pPr eaLnBrk="1" hangingPunct="1"/>
            <a:endParaRPr lang="es-ES" altLang="es-ES" smtClean="0"/>
          </a:p>
          <a:p>
            <a:pPr eaLnBrk="1" hangingPunct="1"/>
            <a:endParaRPr lang="es-ES" altLang="es-ES" smtClean="0"/>
          </a:p>
          <a:p>
            <a:pPr eaLnBrk="1" hangingPunct="1"/>
            <a:r>
              <a:rPr lang="es-ES" altLang="es-ES" smtClean="0"/>
              <a:t>MUJER		0.32                            0.8</a:t>
            </a:r>
          </a:p>
        </p:txBody>
      </p:sp>
      <p:grpSp>
        <p:nvGrpSpPr>
          <p:cNvPr id="9220" name="Grupo 9"/>
          <p:cNvGrpSpPr>
            <a:grpSpLocks/>
          </p:cNvGrpSpPr>
          <p:nvPr/>
        </p:nvGrpSpPr>
        <p:grpSpPr bwMode="auto">
          <a:xfrm>
            <a:off x="4467225" y="3024188"/>
            <a:ext cx="2133600" cy="1914525"/>
            <a:chOff x="4467225" y="2514600"/>
            <a:chExt cx="2133600" cy="1914525"/>
          </a:xfrm>
        </p:grpSpPr>
        <p:sp>
          <p:nvSpPr>
            <p:cNvPr id="4" name="Flecha derecha 3"/>
            <p:cNvSpPr/>
            <p:nvPr/>
          </p:nvSpPr>
          <p:spPr>
            <a:xfrm>
              <a:off x="4467225" y="2514600"/>
              <a:ext cx="2133600" cy="19145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  <p:sp>
          <p:nvSpPr>
            <p:cNvPr id="9226" name="CuadroTexto 4"/>
            <p:cNvSpPr txBox="1">
              <a:spLocks noChangeArrowheads="1"/>
            </p:cNvSpPr>
            <p:nvPr/>
          </p:nvSpPr>
          <p:spPr bwMode="auto">
            <a:xfrm>
              <a:off x="4784461" y="3028950"/>
              <a:ext cx="149912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2400"/>
                <a:t>Tiene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2400"/>
                <a:t>pendientes</a:t>
              </a:r>
            </a:p>
          </p:txBody>
        </p:sp>
      </p:grpSp>
      <p:sp>
        <p:nvSpPr>
          <p:cNvPr id="6" name="Elipse 5"/>
          <p:cNvSpPr/>
          <p:nvPr/>
        </p:nvSpPr>
        <p:spPr>
          <a:xfrm>
            <a:off x="3133725" y="2190750"/>
            <a:ext cx="1514475" cy="13716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sp>
        <p:nvSpPr>
          <p:cNvPr id="7" name="Elipse 6"/>
          <p:cNvSpPr/>
          <p:nvPr/>
        </p:nvSpPr>
        <p:spPr>
          <a:xfrm>
            <a:off x="6600825" y="4519613"/>
            <a:ext cx="1514475" cy="13716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sp>
        <p:nvSpPr>
          <p:cNvPr id="9223" name="CuadroTexto 7"/>
          <p:cNvSpPr txBox="1">
            <a:spLocks noChangeArrowheads="1"/>
          </p:cNvSpPr>
          <p:nvPr/>
        </p:nvSpPr>
        <p:spPr bwMode="auto">
          <a:xfrm>
            <a:off x="2982913" y="6105525"/>
            <a:ext cx="1816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2400"/>
              <a:t>Prob. a priori</a:t>
            </a:r>
          </a:p>
        </p:txBody>
      </p:sp>
      <p:sp>
        <p:nvSpPr>
          <p:cNvPr id="9224" name="CuadroTexto 8"/>
          <p:cNvSpPr txBox="1">
            <a:spLocks noChangeArrowheads="1"/>
          </p:cNvSpPr>
          <p:nvPr/>
        </p:nvSpPr>
        <p:spPr bwMode="auto">
          <a:xfrm>
            <a:off x="6221413" y="6105525"/>
            <a:ext cx="231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2400"/>
              <a:t>Prob. a posteriori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Teorema de Bayes</a:t>
            </a:r>
            <a:endParaRPr lang="es-ES" altLang="es-ES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s-ES_tradnl" altLang="es-ES" smtClean="0"/>
          </a:p>
          <a:p>
            <a:pPr eaLnBrk="1" hangingPunct="1"/>
            <a:endParaRPr lang="es-ES_tradnl" altLang="es-ES" smtClean="0"/>
          </a:p>
          <a:p>
            <a:pPr eaLnBrk="1" hangingPunct="1"/>
            <a:endParaRPr lang="es-ES_tradnl" altLang="es-ES" smtClean="0"/>
          </a:p>
          <a:p>
            <a:pPr eaLnBrk="1" hangingPunct="1">
              <a:buFontTx/>
              <a:buNone/>
            </a:pPr>
            <a:endParaRPr lang="es-ES_tradnl" altLang="es-ES" smtClean="0"/>
          </a:p>
          <a:p>
            <a:pPr eaLnBrk="1" hangingPunct="1"/>
            <a:endParaRPr lang="es-ES" altLang="es-ES" smtClean="0"/>
          </a:p>
        </p:txBody>
      </p:sp>
      <p:graphicFrame>
        <p:nvGraphicFramePr>
          <p:cNvPr id="10244" name="Object 8"/>
          <p:cNvGraphicFramePr>
            <a:graphicFrameLocks noChangeAspect="1"/>
          </p:cNvGraphicFramePr>
          <p:nvPr/>
        </p:nvGraphicFramePr>
        <p:xfrm>
          <a:off x="4038600" y="4845050"/>
          <a:ext cx="43497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Ecuación" r:id="rId3" imgW="1714500" imgH="342900" progId="Equation.3">
                  <p:embed/>
                </p:oleObj>
              </mc:Choice>
              <mc:Fallback>
                <p:oleObj name="Ecuación" r:id="rId3" imgW="1714500" imgH="342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845050"/>
                        <a:ext cx="43497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AutoShape 9"/>
          <p:cNvSpPr>
            <a:spLocks noChangeArrowheads="1"/>
          </p:cNvSpPr>
          <p:nvPr/>
        </p:nvSpPr>
        <p:spPr bwMode="auto">
          <a:xfrm>
            <a:off x="1447800" y="2590800"/>
            <a:ext cx="5867400" cy="16764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graphicFrame>
        <p:nvGraphicFramePr>
          <p:cNvPr id="10246" name="Object 10"/>
          <p:cNvGraphicFramePr>
            <a:graphicFrameLocks noChangeAspect="1"/>
          </p:cNvGraphicFramePr>
          <p:nvPr/>
        </p:nvGraphicFramePr>
        <p:xfrm>
          <a:off x="1490663" y="2830513"/>
          <a:ext cx="5775325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Ecuación" r:id="rId5" imgW="1778000" imgH="419100" progId="Equation.3">
                  <p:embed/>
                </p:oleObj>
              </mc:Choice>
              <mc:Fallback>
                <p:oleObj name="Ecuación" r:id="rId5" imgW="17780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663" y="2830513"/>
                        <a:ext cx="5775325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11"/>
          <p:cNvSpPr txBox="1">
            <a:spLocks noChangeArrowheads="1"/>
          </p:cNvSpPr>
          <p:nvPr/>
        </p:nvSpPr>
        <p:spPr bwMode="auto">
          <a:xfrm>
            <a:off x="5943600" y="1828800"/>
            <a:ext cx="275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Probabilidad </a:t>
            </a:r>
            <a:r>
              <a:rPr lang="es-ES_tradnl" altLang="es-ES" sz="2400" i="1"/>
              <a:t>a priori</a:t>
            </a:r>
            <a:endParaRPr lang="es-ES" altLang="es-ES" sz="2400" i="1"/>
          </a:p>
        </p:txBody>
      </p:sp>
      <p:sp>
        <p:nvSpPr>
          <p:cNvPr id="10248" name="Text Box 12"/>
          <p:cNvSpPr txBox="1">
            <a:spLocks noChangeArrowheads="1"/>
          </p:cNvSpPr>
          <p:nvPr/>
        </p:nvSpPr>
        <p:spPr bwMode="auto">
          <a:xfrm>
            <a:off x="533400" y="4419600"/>
            <a:ext cx="3246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Probabilidad </a:t>
            </a:r>
            <a:r>
              <a:rPr lang="es-ES_tradnl" altLang="es-ES" sz="2400" i="1"/>
              <a:t>a posteriori</a:t>
            </a:r>
            <a:endParaRPr lang="es-ES" altLang="es-ES" sz="2400" i="1"/>
          </a:p>
        </p:txBody>
      </p:sp>
      <p:sp>
        <p:nvSpPr>
          <p:cNvPr id="10249" name="Text Box 13"/>
          <p:cNvSpPr txBox="1">
            <a:spLocks noChangeArrowheads="1"/>
          </p:cNvSpPr>
          <p:nvPr/>
        </p:nvSpPr>
        <p:spPr bwMode="auto">
          <a:xfrm>
            <a:off x="1704975" y="1847850"/>
            <a:ext cx="3422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 i="1"/>
              <a:t>Verosimilitud (Likelihood)</a:t>
            </a:r>
            <a:endParaRPr lang="es-ES" altLang="es-ES" sz="2400" i="1"/>
          </a:p>
        </p:txBody>
      </p:sp>
      <p:sp>
        <p:nvSpPr>
          <p:cNvPr id="10250" name="Line 14"/>
          <p:cNvSpPr>
            <a:spLocks noChangeShapeType="1"/>
          </p:cNvSpPr>
          <p:nvPr/>
        </p:nvSpPr>
        <p:spPr bwMode="auto">
          <a:xfrm flipV="1">
            <a:off x="2209800" y="3733800"/>
            <a:ext cx="304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0251" name="Line 15"/>
          <p:cNvSpPr>
            <a:spLocks noChangeShapeType="1"/>
          </p:cNvSpPr>
          <p:nvPr/>
        </p:nvSpPr>
        <p:spPr bwMode="auto">
          <a:xfrm>
            <a:off x="3962400" y="2209800"/>
            <a:ext cx="8382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0252" name="Line 16"/>
          <p:cNvSpPr>
            <a:spLocks noChangeShapeType="1"/>
          </p:cNvSpPr>
          <p:nvPr/>
        </p:nvSpPr>
        <p:spPr bwMode="auto">
          <a:xfrm flipH="1">
            <a:off x="6400800" y="2209800"/>
            <a:ext cx="685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0253" name="Text Box 17"/>
          <p:cNvSpPr txBox="1">
            <a:spLocks noChangeArrowheads="1"/>
          </p:cNvSpPr>
          <p:nvPr/>
        </p:nvSpPr>
        <p:spPr bwMode="auto">
          <a:xfrm>
            <a:off x="534988" y="4867275"/>
            <a:ext cx="3478212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_tradnl" altLang="es-ES" sz="2800"/>
              <a:t>  Se define P(X) como</a:t>
            </a:r>
          </a:p>
          <a:p>
            <a:pPr eaLnBrk="1" hangingPunct="1">
              <a:spcBef>
                <a:spcPct val="0"/>
              </a:spcBef>
            </a:pPr>
            <a:endParaRPr lang="es-ES_tradnl" altLang="es-ES" sz="2800"/>
          </a:p>
          <a:p>
            <a:pPr eaLnBrk="1" hangingPunct="1">
              <a:spcBef>
                <a:spcPct val="0"/>
              </a:spcBef>
            </a:pPr>
            <a:r>
              <a:rPr lang="es-ES_tradnl" altLang="es-ES" sz="2800"/>
              <a:t>  Se asume que</a:t>
            </a:r>
            <a:endParaRPr lang="es-ES" altLang="es-ES" sz="2800"/>
          </a:p>
        </p:txBody>
      </p:sp>
      <p:graphicFrame>
        <p:nvGraphicFramePr>
          <p:cNvPr id="10254" name="Object 18"/>
          <p:cNvGraphicFramePr>
            <a:graphicFrameLocks noChangeAspect="1"/>
          </p:cNvGraphicFramePr>
          <p:nvPr/>
        </p:nvGraphicFramePr>
        <p:xfrm>
          <a:off x="3048000" y="5638800"/>
          <a:ext cx="25130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name="Ecuación" r:id="rId7" imgW="990170" imgH="342751" progId="Equation.3">
                  <p:embed/>
                </p:oleObj>
              </mc:Choice>
              <mc:Fallback>
                <p:oleObj name="Ecuación" r:id="rId7" imgW="990170" imgH="34275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638800"/>
                        <a:ext cx="251301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Text Box 19"/>
          <p:cNvSpPr txBox="1">
            <a:spLocks noChangeArrowheads="1"/>
          </p:cNvSpPr>
          <p:nvPr/>
        </p:nvSpPr>
        <p:spPr bwMode="auto">
          <a:xfrm>
            <a:off x="7027863" y="4275138"/>
            <a:ext cx="1400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i="1"/>
              <a:t>Evidencia</a:t>
            </a:r>
            <a:endParaRPr lang="es-ES" altLang="es-ES" sz="2400" i="1"/>
          </a:p>
        </p:txBody>
      </p:sp>
      <p:sp>
        <p:nvSpPr>
          <p:cNvPr id="10256" name="Line 20"/>
          <p:cNvSpPr>
            <a:spLocks noChangeShapeType="1"/>
          </p:cNvSpPr>
          <p:nvPr/>
        </p:nvSpPr>
        <p:spPr bwMode="auto">
          <a:xfrm flipH="1" flipV="1">
            <a:off x="6121400" y="3994150"/>
            <a:ext cx="969963" cy="465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14300"/>
            <a:ext cx="7772400" cy="1143000"/>
          </a:xfrm>
        </p:spPr>
        <p:txBody>
          <a:bodyPr/>
          <a:lstStyle/>
          <a:p>
            <a:pPr eaLnBrk="1" hangingPunct="1"/>
            <a:r>
              <a:rPr lang="es-ES_tradnl" altLang="es-ES" smtClean="0"/>
              <a:t>Bayes aplicado a clasificación</a:t>
            </a:r>
            <a:endParaRPr lang="es-ES" altLang="es-ES" smtClean="0"/>
          </a:p>
        </p:txBody>
      </p:sp>
      <p:sp>
        <p:nvSpPr>
          <p:cNvPr id="1126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052513"/>
            <a:ext cx="8458200" cy="4114800"/>
          </a:xfrm>
        </p:spPr>
        <p:txBody>
          <a:bodyPr/>
          <a:lstStyle/>
          <a:p>
            <a:pPr lvl="1" eaLnBrk="1" hangingPunct="1">
              <a:buFontTx/>
              <a:buNone/>
            </a:pPr>
            <a:r>
              <a:rPr lang="es-ES_tradnl" altLang="es-ES" sz="2000" smtClean="0"/>
              <a:t>X = una característica (por ej.: Tiene pendientes)</a:t>
            </a:r>
          </a:p>
          <a:p>
            <a:pPr lvl="1" eaLnBrk="1" hangingPunct="1">
              <a:buFontTx/>
              <a:buNone/>
            </a:pPr>
            <a:r>
              <a:rPr lang="es-ES_tradnl" altLang="es-ES" sz="2000" smtClean="0"/>
              <a:t>Y = otra característica (por ej.: Tiene el pelo corto)</a:t>
            </a:r>
          </a:p>
          <a:p>
            <a:pPr lvl="1" eaLnBrk="1" hangingPunct="1">
              <a:buFontTx/>
              <a:buNone/>
            </a:pPr>
            <a:r>
              <a:rPr lang="es-ES_tradnl" altLang="es-ES" sz="2000" smtClean="0"/>
              <a:t>Tiene pendientes y el pelo corto </a:t>
            </a:r>
            <a:r>
              <a:rPr lang="es-ES_tradnl" altLang="es-ES" sz="2000" smtClean="0">
                <a:sym typeface="Wingdings" panose="05000000000000000000" pitchFamily="2" charset="2"/>
              </a:rPr>
              <a:t> P(hombre)=2/8   P(mujer)=6/8</a:t>
            </a:r>
          </a:p>
          <a:p>
            <a:pPr lvl="1" eaLnBrk="1" hangingPunct="1">
              <a:buFontTx/>
              <a:buNone/>
            </a:pPr>
            <a:r>
              <a:rPr lang="es-ES_tradnl" altLang="es-ES" sz="2000" smtClean="0"/>
              <a:t>Tiene pendientes y el pelo largo </a:t>
            </a:r>
            <a:r>
              <a:rPr lang="es-ES_tradnl" altLang="es-ES" sz="2000" smtClean="0">
                <a:sym typeface="Wingdings" panose="05000000000000000000" pitchFamily="2" charset="2"/>
              </a:rPr>
              <a:t> P(hombre)=4/22   P(mujer)=18/22</a:t>
            </a:r>
          </a:p>
          <a:p>
            <a:pPr lvl="1" eaLnBrk="1" hangingPunct="1">
              <a:buFontTx/>
              <a:buNone/>
            </a:pPr>
            <a:r>
              <a:rPr lang="es-ES_tradnl" altLang="es-ES" sz="2000" smtClean="0">
                <a:sym typeface="Wingdings" panose="05000000000000000000" pitchFamily="2" charset="2"/>
              </a:rPr>
              <a:t>No tiene pendientes y el pelo corto  P(hombre)=50/56   P(mujer)=6/56</a:t>
            </a:r>
          </a:p>
          <a:p>
            <a:pPr lvl="1" eaLnBrk="1" hangingPunct="1">
              <a:buFontTx/>
              <a:buNone/>
            </a:pPr>
            <a:r>
              <a:rPr lang="es-ES_tradnl" altLang="es-ES" sz="2000" smtClean="0">
                <a:sym typeface="Wingdings" panose="05000000000000000000" pitchFamily="2" charset="2"/>
              </a:rPr>
              <a:t>No tiene pendientes y el pelo largo  P(hombre)= 12/14  P(mujer)=2/14</a:t>
            </a:r>
            <a:endParaRPr lang="es-ES_tradnl" altLang="es-ES" sz="2000" smtClean="0"/>
          </a:p>
          <a:p>
            <a:pPr lvl="1" eaLnBrk="1" hangingPunct="1">
              <a:buFontTx/>
              <a:buNone/>
            </a:pPr>
            <a:endParaRPr lang="es-ES_tradnl" altLang="es-ES" sz="2000" smtClean="0"/>
          </a:p>
          <a:p>
            <a:pPr eaLnBrk="1" hangingPunct="1"/>
            <a:endParaRPr lang="es-ES_tradnl" altLang="es-ES" sz="2400" smtClean="0"/>
          </a:p>
        </p:txBody>
      </p:sp>
      <p:sp>
        <p:nvSpPr>
          <p:cNvPr id="11268" name="Oval 20"/>
          <p:cNvSpPr>
            <a:spLocks noChangeArrowheads="1"/>
          </p:cNvSpPr>
          <p:nvPr/>
        </p:nvSpPr>
        <p:spPr bwMode="auto">
          <a:xfrm>
            <a:off x="2133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69" name="Oval 21"/>
          <p:cNvSpPr>
            <a:spLocks noChangeArrowheads="1"/>
          </p:cNvSpPr>
          <p:nvPr/>
        </p:nvSpPr>
        <p:spPr bwMode="auto">
          <a:xfrm>
            <a:off x="2133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70" name="Oval 22"/>
          <p:cNvSpPr>
            <a:spLocks noChangeArrowheads="1"/>
          </p:cNvSpPr>
          <p:nvPr/>
        </p:nvSpPr>
        <p:spPr bwMode="auto">
          <a:xfrm>
            <a:off x="21336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71" name="Oval 23"/>
          <p:cNvSpPr>
            <a:spLocks noChangeArrowheads="1"/>
          </p:cNvSpPr>
          <p:nvPr/>
        </p:nvSpPr>
        <p:spPr bwMode="auto">
          <a:xfrm>
            <a:off x="21336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72" name="Oval 24"/>
          <p:cNvSpPr>
            <a:spLocks noChangeArrowheads="1"/>
          </p:cNvSpPr>
          <p:nvPr/>
        </p:nvSpPr>
        <p:spPr bwMode="auto">
          <a:xfrm>
            <a:off x="21336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73" name="Oval 25"/>
          <p:cNvSpPr>
            <a:spLocks noChangeArrowheads="1"/>
          </p:cNvSpPr>
          <p:nvPr/>
        </p:nvSpPr>
        <p:spPr bwMode="auto">
          <a:xfrm>
            <a:off x="21336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74" name="Oval 26"/>
          <p:cNvSpPr>
            <a:spLocks noChangeArrowheads="1"/>
          </p:cNvSpPr>
          <p:nvPr/>
        </p:nvSpPr>
        <p:spPr bwMode="auto">
          <a:xfrm>
            <a:off x="21336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75" name="Oval 27"/>
          <p:cNvSpPr>
            <a:spLocks noChangeArrowheads="1"/>
          </p:cNvSpPr>
          <p:nvPr/>
        </p:nvSpPr>
        <p:spPr bwMode="auto">
          <a:xfrm>
            <a:off x="21336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76" name="Oval 28"/>
          <p:cNvSpPr>
            <a:spLocks noChangeArrowheads="1"/>
          </p:cNvSpPr>
          <p:nvPr/>
        </p:nvSpPr>
        <p:spPr bwMode="auto">
          <a:xfrm>
            <a:off x="21336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77" name="Oval 29"/>
          <p:cNvSpPr>
            <a:spLocks noChangeArrowheads="1"/>
          </p:cNvSpPr>
          <p:nvPr/>
        </p:nvSpPr>
        <p:spPr bwMode="auto">
          <a:xfrm>
            <a:off x="27432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78" name="Oval 30"/>
          <p:cNvSpPr>
            <a:spLocks noChangeArrowheads="1"/>
          </p:cNvSpPr>
          <p:nvPr/>
        </p:nvSpPr>
        <p:spPr bwMode="auto">
          <a:xfrm>
            <a:off x="27432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79" name="Oval 31"/>
          <p:cNvSpPr>
            <a:spLocks noChangeArrowheads="1"/>
          </p:cNvSpPr>
          <p:nvPr/>
        </p:nvSpPr>
        <p:spPr bwMode="auto">
          <a:xfrm>
            <a:off x="2743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80" name="Oval 32"/>
          <p:cNvSpPr>
            <a:spLocks noChangeArrowheads="1"/>
          </p:cNvSpPr>
          <p:nvPr/>
        </p:nvSpPr>
        <p:spPr bwMode="auto">
          <a:xfrm>
            <a:off x="27432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81" name="Oval 33"/>
          <p:cNvSpPr>
            <a:spLocks noChangeArrowheads="1"/>
          </p:cNvSpPr>
          <p:nvPr/>
        </p:nvSpPr>
        <p:spPr bwMode="auto">
          <a:xfrm>
            <a:off x="27432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82" name="Oval 34"/>
          <p:cNvSpPr>
            <a:spLocks noChangeArrowheads="1"/>
          </p:cNvSpPr>
          <p:nvPr/>
        </p:nvSpPr>
        <p:spPr bwMode="auto">
          <a:xfrm>
            <a:off x="27432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83" name="Oval 35"/>
          <p:cNvSpPr>
            <a:spLocks noChangeArrowheads="1"/>
          </p:cNvSpPr>
          <p:nvPr/>
        </p:nvSpPr>
        <p:spPr bwMode="auto">
          <a:xfrm>
            <a:off x="27432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84" name="Oval 36"/>
          <p:cNvSpPr>
            <a:spLocks noChangeArrowheads="1"/>
          </p:cNvSpPr>
          <p:nvPr/>
        </p:nvSpPr>
        <p:spPr bwMode="auto">
          <a:xfrm>
            <a:off x="27432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85" name="Oval 37"/>
          <p:cNvSpPr>
            <a:spLocks noChangeArrowheads="1"/>
          </p:cNvSpPr>
          <p:nvPr/>
        </p:nvSpPr>
        <p:spPr bwMode="auto">
          <a:xfrm>
            <a:off x="27432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86" name="Oval 38"/>
          <p:cNvSpPr>
            <a:spLocks noChangeArrowheads="1"/>
          </p:cNvSpPr>
          <p:nvPr/>
        </p:nvSpPr>
        <p:spPr bwMode="auto">
          <a:xfrm>
            <a:off x="33528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87" name="Oval 39"/>
          <p:cNvSpPr>
            <a:spLocks noChangeArrowheads="1"/>
          </p:cNvSpPr>
          <p:nvPr/>
        </p:nvSpPr>
        <p:spPr bwMode="auto">
          <a:xfrm>
            <a:off x="33528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88" name="Oval 40"/>
          <p:cNvSpPr>
            <a:spLocks noChangeArrowheads="1"/>
          </p:cNvSpPr>
          <p:nvPr/>
        </p:nvSpPr>
        <p:spPr bwMode="auto">
          <a:xfrm>
            <a:off x="33528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89" name="Oval 41"/>
          <p:cNvSpPr>
            <a:spLocks noChangeArrowheads="1"/>
          </p:cNvSpPr>
          <p:nvPr/>
        </p:nvSpPr>
        <p:spPr bwMode="auto">
          <a:xfrm>
            <a:off x="3352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90" name="Oval 42"/>
          <p:cNvSpPr>
            <a:spLocks noChangeArrowheads="1"/>
          </p:cNvSpPr>
          <p:nvPr/>
        </p:nvSpPr>
        <p:spPr bwMode="auto">
          <a:xfrm>
            <a:off x="33528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91" name="Oval 43"/>
          <p:cNvSpPr>
            <a:spLocks noChangeArrowheads="1"/>
          </p:cNvSpPr>
          <p:nvPr/>
        </p:nvSpPr>
        <p:spPr bwMode="auto">
          <a:xfrm>
            <a:off x="33528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92" name="Oval 44"/>
          <p:cNvSpPr>
            <a:spLocks noChangeArrowheads="1"/>
          </p:cNvSpPr>
          <p:nvPr/>
        </p:nvSpPr>
        <p:spPr bwMode="auto">
          <a:xfrm>
            <a:off x="33528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93" name="Oval 45"/>
          <p:cNvSpPr>
            <a:spLocks noChangeArrowheads="1"/>
          </p:cNvSpPr>
          <p:nvPr/>
        </p:nvSpPr>
        <p:spPr bwMode="auto">
          <a:xfrm>
            <a:off x="33528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94" name="Oval 46"/>
          <p:cNvSpPr>
            <a:spLocks noChangeArrowheads="1"/>
          </p:cNvSpPr>
          <p:nvPr/>
        </p:nvSpPr>
        <p:spPr bwMode="auto">
          <a:xfrm>
            <a:off x="33528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95" name="Oval 47"/>
          <p:cNvSpPr>
            <a:spLocks noChangeArrowheads="1"/>
          </p:cNvSpPr>
          <p:nvPr/>
        </p:nvSpPr>
        <p:spPr bwMode="auto">
          <a:xfrm>
            <a:off x="39624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96" name="Oval 48"/>
          <p:cNvSpPr>
            <a:spLocks noChangeArrowheads="1"/>
          </p:cNvSpPr>
          <p:nvPr/>
        </p:nvSpPr>
        <p:spPr bwMode="auto">
          <a:xfrm>
            <a:off x="39624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97" name="Oval 49"/>
          <p:cNvSpPr>
            <a:spLocks noChangeArrowheads="1"/>
          </p:cNvSpPr>
          <p:nvPr/>
        </p:nvSpPr>
        <p:spPr bwMode="auto">
          <a:xfrm>
            <a:off x="39624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98" name="Oval 50"/>
          <p:cNvSpPr>
            <a:spLocks noChangeArrowheads="1"/>
          </p:cNvSpPr>
          <p:nvPr/>
        </p:nvSpPr>
        <p:spPr bwMode="auto">
          <a:xfrm>
            <a:off x="39624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299" name="Oval 51"/>
          <p:cNvSpPr>
            <a:spLocks noChangeArrowheads="1"/>
          </p:cNvSpPr>
          <p:nvPr/>
        </p:nvSpPr>
        <p:spPr bwMode="auto">
          <a:xfrm>
            <a:off x="39624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00" name="Oval 52"/>
          <p:cNvSpPr>
            <a:spLocks noChangeArrowheads="1"/>
          </p:cNvSpPr>
          <p:nvPr/>
        </p:nvSpPr>
        <p:spPr bwMode="auto">
          <a:xfrm>
            <a:off x="39624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01" name="Oval 53"/>
          <p:cNvSpPr>
            <a:spLocks noChangeArrowheads="1"/>
          </p:cNvSpPr>
          <p:nvPr/>
        </p:nvSpPr>
        <p:spPr bwMode="auto">
          <a:xfrm>
            <a:off x="39624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02" name="Oval 54"/>
          <p:cNvSpPr>
            <a:spLocks noChangeArrowheads="1"/>
          </p:cNvSpPr>
          <p:nvPr/>
        </p:nvSpPr>
        <p:spPr bwMode="auto">
          <a:xfrm>
            <a:off x="39624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03" name="Oval 55"/>
          <p:cNvSpPr>
            <a:spLocks noChangeArrowheads="1"/>
          </p:cNvSpPr>
          <p:nvPr/>
        </p:nvSpPr>
        <p:spPr bwMode="auto">
          <a:xfrm>
            <a:off x="39624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04" name="Oval 56"/>
          <p:cNvSpPr>
            <a:spLocks noChangeArrowheads="1"/>
          </p:cNvSpPr>
          <p:nvPr/>
        </p:nvSpPr>
        <p:spPr bwMode="auto">
          <a:xfrm>
            <a:off x="45720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05" name="Oval 57"/>
          <p:cNvSpPr>
            <a:spLocks noChangeArrowheads="1"/>
          </p:cNvSpPr>
          <p:nvPr/>
        </p:nvSpPr>
        <p:spPr bwMode="auto">
          <a:xfrm>
            <a:off x="45720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06" name="Oval 58"/>
          <p:cNvSpPr>
            <a:spLocks noChangeArrowheads="1"/>
          </p:cNvSpPr>
          <p:nvPr/>
        </p:nvSpPr>
        <p:spPr bwMode="auto">
          <a:xfrm>
            <a:off x="45720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07" name="Oval 59"/>
          <p:cNvSpPr>
            <a:spLocks noChangeArrowheads="1"/>
          </p:cNvSpPr>
          <p:nvPr/>
        </p:nvSpPr>
        <p:spPr bwMode="auto">
          <a:xfrm>
            <a:off x="45720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08" name="Oval 60"/>
          <p:cNvSpPr>
            <a:spLocks noChangeArrowheads="1"/>
          </p:cNvSpPr>
          <p:nvPr/>
        </p:nvSpPr>
        <p:spPr bwMode="auto">
          <a:xfrm>
            <a:off x="45720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09" name="Oval 61"/>
          <p:cNvSpPr>
            <a:spLocks noChangeArrowheads="1"/>
          </p:cNvSpPr>
          <p:nvPr/>
        </p:nvSpPr>
        <p:spPr bwMode="auto">
          <a:xfrm>
            <a:off x="45720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10" name="Oval 62"/>
          <p:cNvSpPr>
            <a:spLocks noChangeArrowheads="1"/>
          </p:cNvSpPr>
          <p:nvPr/>
        </p:nvSpPr>
        <p:spPr bwMode="auto">
          <a:xfrm>
            <a:off x="45720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11" name="Oval 63"/>
          <p:cNvSpPr>
            <a:spLocks noChangeArrowheads="1"/>
          </p:cNvSpPr>
          <p:nvPr/>
        </p:nvSpPr>
        <p:spPr bwMode="auto">
          <a:xfrm>
            <a:off x="45720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12" name="Oval 64"/>
          <p:cNvSpPr>
            <a:spLocks noChangeArrowheads="1"/>
          </p:cNvSpPr>
          <p:nvPr/>
        </p:nvSpPr>
        <p:spPr bwMode="auto">
          <a:xfrm>
            <a:off x="45720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13" name="Oval 65"/>
          <p:cNvSpPr>
            <a:spLocks noChangeArrowheads="1"/>
          </p:cNvSpPr>
          <p:nvPr/>
        </p:nvSpPr>
        <p:spPr bwMode="auto">
          <a:xfrm>
            <a:off x="5181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14" name="Oval 66"/>
          <p:cNvSpPr>
            <a:spLocks noChangeArrowheads="1"/>
          </p:cNvSpPr>
          <p:nvPr/>
        </p:nvSpPr>
        <p:spPr bwMode="auto">
          <a:xfrm>
            <a:off x="51816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15" name="Oval 67"/>
          <p:cNvSpPr>
            <a:spLocks noChangeArrowheads="1"/>
          </p:cNvSpPr>
          <p:nvPr/>
        </p:nvSpPr>
        <p:spPr bwMode="auto">
          <a:xfrm>
            <a:off x="51816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16" name="Oval 68"/>
          <p:cNvSpPr>
            <a:spLocks noChangeArrowheads="1"/>
          </p:cNvSpPr>
          <p:nvPr/>
        </p:nvSpPr>
        <p:spPr bwMode="auto">
          <a:xfrm>
            <a:off x="51816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17" name="Oval 69"/>
          <p:cNvSpPr>
            <a:spLocks noChangeArrowheads="1"/>
          </p:cNvSpPr>
          <p:nvPr/>
        </p:nvSpPr>
        <p:spPr bwMode="auto">
          <a:xfrm>
            <a:off x="51816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18" name="Oval 70"/>
          <p:cNvSpPr>
            <a:spLocks noChangeArrowheads="1"/>
          </p:cNvSpPr>
          <p:nvPr/>
        </p:nvSpPr>
        <p:spPr bwMode="auto">
          <a:xfrm>
            <a:off x="51816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19" name="Oval 71"/>
          <p:cNvSpPr>
            <a:spLocks noChangeArrowheads="1"/>
          </p:cNvSpPr>
          <p:nvPr/>
        </p:nvSpPr>
        <p:spPr bwMode="auto">
          <a:xfrm>
            <a:off x="51816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20" name="Oval 72"/>
          <p:cNvSpPr>
            <a:spLocks noChangeArrowheads="1"/>
          </p:cNvSpPr>
          <p:nvPr/>
        </p:nvSpPr>
        <p:spPr bwMode="auto">
          <a:xfrm>
            <a:off x="51816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21" name="Oval 73"/>
          <p:cNvSpPr>
            <a:spLocks noChangeArrowheads="1"/>
          </p:cNvSpPr>
          <p:nvPr/>
        </p:nvSpPr>
        <p:spPr bwMode="auto">
          <a:xfrm>
            <a:off x="51816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22" name="Oval 74"/>
          <p:cNvSpPr>
            <a:spLocks noChangeArrowheads="1"/>
          </p:cNvSpPr>
          <p:nvPr/>
        </p:nvSpPr>
        <p:spPr bwMode="auto">
          <a:xfrm>
            <a:off x="57912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23" name="Oval 75"/>
          <p:cNvSpPr>
            <a:spLocks noChangeArrowheads="1"/>
          </p:cNvSpPr>
          <p:nvPr/>
        </p:nvSpPr>
        <p:spPr bwMode="auto">
          <a:xfrm>
            <a:off x="57912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24" name="Oval 76"/>
          <p:cNvSpPr>
            <a:spLocks noChangeArrowheads="1"/>
          </p:cNvSpPr>
          <p:nvPr/>
        </p:nvSpPr>
        <p:spPr bwMode="auto">
          <a:xfrm>
            <a:off x="57912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25" name="Oval 77"/>
          <p:cNvSpPr>
            <a:spLocks noChangeArrowheads="1"/>
          </p:cNvSpPr>
          <p:nvPr/>
        </p:nvSpPr>
        <p:spPr bwMode="auto">
          <a:xfrm>
            <a:off x="57912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26" name="Oval 78"/>
          <p:cNvSpPr>
            <a:spLocks noChangeArrowheads="1"/>
          </p:cNvSpPr>
          <p:nvPr/>
        </p:nvSpPr>
        <p:spPr bwMode="auto">
          <a:xfrm>
            <a:off x="57912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27" name="Oval 79"/>
          <p:cNvSpPr>
            <a:spLocks noChangeArrowheads="1"/>
          </p:cNvSpPr>
          <p:nvPr/>
        </p:nvSpPr>
        <p:spPr bwMode="auto">
          <a:xfrm>
            <a:off x="57912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28" name="Oval 80"/>
          <p:cNvSpPr>
            <a:spLocks noChangeArrowheads="1"/>
          </p:cNvSpPr>
          <p:nvPr/>
        </p:nvSpPr>
        <p:spPr bwMode="auto">
          <a:xfrm>
            <a:off x="57912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29" name="Oval 81"/>
          <p:cNvSpPr>
            <a:spLocks noChangeArrowheads="1"/>
          </p:cNvSpPr>
          <p:nvPr/>
        </p:nvSpPr>
        <p:spPr bwMode="auto">
          <a:xfrm>
            <a:off x="57912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30" name="Oval 82"/>
          <p:cNvSpPr>
            <a:spLocks noChangeArrowheads="1"/>
          </p:cNvSpPr>
          <p:nvPr/>
        </p:nvSpPr>
        <p:spPr bwMode="auto">
          <a:xfrm>
            <a:off x="57912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31" name="Oval 83"/>
          <p:cNvSpPr>
            <a:spLocks noChangeArrowheads="1"/>
          </p:cNvSpPr>
          <p:nvPr/>
        </p:nvSpPr>
        <p:spPr bwMode="auto">
          <a:xfrm>
            <a:off x="64008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32" name="Oval 84"/>
          <p:cNvSpPr>
            <a:spLocks noChangeArrowheads="1"/>
          </p:cNvSpPr>
          <p:nvPr/>
        </p:nvSpPr>
        <p:spPr bwMode="auto">
          <a:xfrm>
            <a:off x="64008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33" name="Oval 85"/>
          <p:cNvSpPr>
            <a:spLocks noChangeArrowheads="1"/>
          </p:cNvSpPr>
          <p:nvPr/>
        </p:nvSpPr>
        <p:spPr bwMode="auto">
          <a:xfrm>
            <a:off x="64008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34" name="Oval 86"/>
          <p:cNvSpPr>
            <a:spLocks noChangeArrowheads="1"/>
          </p:cNvSpPr>
          <p:nvPr/>
        </p:nvSpPr>
        <p:spPr bwMode="auto">
          <a:xfrm>
            <a:off x="6400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35" name="Oval 87"/>
          <p:cNvSpPr>
            <a:spLocks noChangeArrowheads="1"/>
          </p:cNvSpPr>
          <p:nvPr/>
        </p:nvSpPr>
        <p:spPr bwMode="auto">
          <a:xfrm>
            <a:off x="64008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36" name="Oval 88"/>
          <p:cNvSpPr>
            <a:spLocks noChangeArrowheads="1"/>
          </p:cNvSpPr>
          <p:nvPr/>
        </p:nvSpPr>
        <p:spPr bwMode="auto">
          <a:xfrm>
            <a:off x="6400800" y="5410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37" name="Oval 89"/>
          <p:cNvSpPr>
            <a:spLocks noChangeArrowheads="1"/>
          </p:cNvSpPr>
          <p:nvPr/>
        </p:nvSpPr>
        <p:spPr bwMode="auto">
          <a:xfrm>
            <a:off x="64008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38" name="Oval 90"/>
          <p:cNvSpPr>
            <a:spLocks noChangeArrowheads="1"/>
          </p:cNvSpPr>
          <p:nvPr/>
        </p:nvSpPr>
        <p:spPr bwMode="auto">
          <a:xfrm>
            <a:off x="6400800" y="6019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39" name="Oval 91"/>
          <p:cNvSpPr>
            <a:spLocks noChangeArrowheads="1"/>
          </p:cNvSpPr>
          <p:nvPr/>
        </p:nvSpPr>
        <p:spPr bwMode="auto">
          <a:xfrm>
            <a:off x="6400800" y="632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40" name="Oval 92"/>
          <p:cNvSpPr>
            <a:spLocks noChangeArrowheads="1"/>
          </p:cNvSpPr>
          <p:nvPr/>
        </p:nvSpPr>
        <p:spPr bwMode="auto">
          <a:xfrm>
            <a:off x="70104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41" name="Oval 93"/>
          <p:cNvSpPr>
            <a:spLocks noChangeArrowheads="1"/>
          </p:cNvSpPr>
          <p:nvPr/>
        </p:nvSpPr>
        <p:spPr bwMode="auto">
          <a:xfrm>
            <a:off x="70104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42" name="Oval 94"/>
          <p:cNvSpPr>
            <a:spLocks noChangeArrowheads="1"/>
          </p:cNvSpPr>
          <p:nvPr/>
        </p:nvSpPr>
        <p:spPr bwMode="auto">
          <a:xfrm>
            <a:off x="70104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43" name="Oval 95"/>
          <p:cNvSpPr>
            <a:spLocks noChangeArrowheads="1"/>
          </p:cNvSpPr>
          <p:nvPr/>
        </p:nvSpPr>
        <p:spPr bwMode="auto">
          <a:xfrm>
            <a:off x="70104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44" name="Oval 96"/>
          <p:cNvSpPr>
            <a:spLocks noChangeArrowheads="1"/>
          </p:cNvSpPr>
          <p:nvPr/>
        </p:nvSpPr>
        <p:spPr bwMode="auto">
          <a:xfrm>
            <a:off x="70104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45" name="Oval 97"/>
          <p:cNvSpPr>
            <a:spLocks noChangeArrowheads="1"/>
          </p:cNvSpPr>
          <p:nvPr/>
        </p:nvSpPr>
        <p:spPr bwMode="auto">
          <a:xfrm>
            <a:off x="70104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46" name="Oval 98"/>
          <p:cNvSpPr>
            <a:spLocks noChangeArrowheads="1"/>
          </p:cNvSpPr>
          <p:nvPr/>
        </p:nvSpPr>
        <p:spPr bwMode="auto">
          <a:xfrm>
            <a:off x="70104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47" name="Oval 99"/>
          <p:cNvSpPr>
            <a:spLocks noChangeArrowheads="1"/>
          </p:cNvSpPr>
          <p:nvPr/>
        </p:nvSpPr>
        <p:spPr bwMode="auto">
          <a:xfrm>
            <a:off x="70104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48" name="Oval 100"/>
          <p:cNvSpPr>
            <a:spLocks noChangeArrowheads="1"/>
          </p:cNvSpPr>
          <p:nvPr/>
        </p:nvSpPr>
        <p:spPr bwMode="auto">
          <a:xfrm>
            <a:off x="70104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49" name="Oval 101"/>
          <p:cNvSpPr>
            <a:spLocks noChangeArrowheads="1"/>
          </p:cNvSpPr>
          <p:nvPr/>
        </p:nvSpPr>
        <p:spPr bwMode="auto">
          <a:xfrm>
            <a:off x="76200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50" name="Oval 102"/>
          <p:cNvSpPr>
            <a:spLocks noChangeArrowheads="1"/>
          </p:cNvSpPr>
          <p:nvPr/>
        </p:nvSpPr>
        <p:spPr bwMode="auto">
          <a:xfrm>
            <a:off x="7620000" y="4191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51" name="Oval 103"/>
          <p:cNvSpPr>
            <a:spLocks noChangeArrowheads="1"/>
          </p:cNvSpPr>
          <p:nvPr/>
        </p:nvSpPr>
        <p:spPr bwMode="auto">
          <a:xfrm>
            <a:off x="76200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52" name="Oval 104"/>
          <p:cNvSpPr>
            <a:spLocks noChangeArrowheads="1"/>
          </p:cNvSpPr>
          <p:nvPr/>
        </p:nvSpPr>
        <p:spPr bwMode="auto">
          <a:xfrm>
            <a:off x="76200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53" name="Oval 105"/>
          <p:cNvSpPr>
            <a:spLocks noChangeArrowheads="1"/>
          </p:cNvSpPr>
          <p:nvPr/>
        </p:nvSpPr>
        <p:spPr bwMode="auto">
          <a:xfrm>
            <a:off x="76200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54" name="Oval 106"/>
          <p:cNvSpPr>
            <a:spLocks noChangeArrowheads="1"/>
          </p:cNvSpPr>
          <p:nvPr/>
        </p:nvSpPr>
        <p:spPr bwMode="auto">
          <a:xfrm>
            <a:off x="76200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55" name="Oval 107"/>
          <p:cNvSpPr>
            <a:spLocks noChangeArrowheads="1"/>
          </p:cNvSpPr>
          <p:nvPr/>
        </p:nvSpPr>
        <p:spPr bwMode="auto">
          <a:xfrm>
            <a:off x="76200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56" name="Oval 108"/>
          <p:cNvSpPr>
            <a:spLocks noChangeArrowheads="1"/>
          </p:cNvSpPr>
          <p:nvPr/>
        </p:nvSpPr>
        <p:spPr bwMode="auto">
          <a:xfrm>
            <a:off x="76200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57" name="Oval 109"/>
          <p:cNvSpPr>
            <a:spLocks noChangeArrowheads="1"/>
          </p:cNvSpPr>
          <p:nvPr/>
        </p:nvSpPr>
        <p:spPr bwMode="auto">
          <a:xfrm>
            <a:off x="7620000" y="6324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58" name="Text Box 113"/>
          <p:cNvSpPr txBox="1">
            <a:spLocks noChangeArrowheads="1"/>
          </p:cNvSpPr>
          <p:nvPr/>
        </p:nvSpPr>
        <p:spPr bwMode="auto">
          <a:xfrm>
            <a:off x="1219200" y="5562600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b="1">
                <a:solidFill>
                  <a:srgbClr val="FF0000"/>
                </a:solidFill>
              </a:rPr>
              <a:t>w</a:t>
            </a:r>
            <a:r>
              <a:rPr lang="es-ES_tradnl" altLang="es-ES" sz="2400" b="1" baseline="-25000">
                <a:solidFill>
                  <a:srgbClr val="FF0000"/>
                </a:solidFill>
              </a:rPr>
              <a:t>1</a:t>
            </a:r>
            <a:endParaRPr lang="es-ES" altLang="es-ES" sz="2400" b="1" baseline="-25000">
              <a:solidFill>
                <a:srgbClr val="FF0000"/>
              </a:solidFill>
            </a:endParaRPr>
          </a:p>
        </p:txBody>
      </p:sp>
      <p:sp>
        <p:nvSpPr>
          <p:cNvPr id="11359" name="AutoShape 117"/>
          <p:cNvSpPr>
            <a:spLocks noChangeArrowheads="1"/>
          </p:cNvSpPr>
          <p:nvPr/>
        </p:nvSpPr>
        <p:spPr bwMode="auto">
          <a:xfrm>
            <a:off x="1828800" y="3400425"/>
            <a:ext cx="6324600" cy="3381375"/>
          </a:xfrm>
          <a:prstGeom prst="roundRect">
            <a:avLst>
              <a:gd name="adj" fmla="val 16667"/>
            </a:avLst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60" name="Text Box 120"/>
          <p:cNvSpPr txBox="1">
            <a:spLocks noChangeArrowheads="1"/>
          </p:cNvSpPr>
          <p:nvPr/>
        </p:nvSpPr>
        <p:spPr bwMode="auto">
          <a:xfrm>
            <a:off x="8229600" y="4191000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b="1">
                <a:solidFill>
                  <a:schemeClr val="accent1"/>
                </a:solidFill>
              </a:rPr>
              <a:t>w</a:t>
            </a:r>
            <a:r>
              <a:rPr lang="es-ES_tradnl" altLang="es-ES" sz="2400" b="1" baseline="-25000">
                <a:solidFill>
                  <a:schemeClr val="accent1"/>
                </a:solidFill>
              </a:rPr>
              <a:t>2</a:t>
            </a:r>
            <a:endParaRPr lang="es-ES" altLang="es-ES" sz="2400" b="1" baseline="-25000">
              <a:solidFill>
                <a:schemeClr val="accent1"/>
              </a:solidFill>
            </a:endParaRPr>
          </a:p>
        </p:txBody>
      </p:sp>
      <p:sp>
        <p:nvSpPr>
          <p:cNvPr id="11361" name="AutoShape 143"/>
          <p:cNvSpPr>
            <a:spLocks noChangeArrowheads="1"/>
          </p:cNvSpPr>
          <p:nvPr/>
        </p:nvSpPr>
        <p:spPr bwMode="auto">
          <a:xfrm>
            <a:off x="1981200" y="5638800"/>
            <a:ext cx="6019800" cy="9906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62" name="Line 144"/>
          <p:cNvSpPr>
            <a:spLocks noChangeShapeType="1"/>
          </p:cNvSpPr>
          <p:nvPr/>
        </p:nvSpPr>
        <p:spPr bwMode="auto">
          <a:xfrm flipH="1">
            <a:off x="8001000" y="5468938"/>
            <a:ext cx="685800" cy="1968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1363" name="Oval 145"/>
          <p:cNvSpPr>
            <a:spLocks noChangeArrowheads="1"/>
          </p:cNvSpPr>
          <p:nvPr/>
        </p:nvSpPr>
        <p:spPr bwMode="auto">
          <a:xfrm>
            <a:off x="21431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64" name="Oval 146"/>
          <p:cNvSpPr>
            <a:spLocks noChangeArrowheads="1"/>
          </p:cNvSpPr>
          <p:nvPr/>
        </p:nvSpPr>
        <p:spPr bwMode="auto">
          <a:xfrm>
            <a:off x="27527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65" name="Oval 147"/>
          <p:cNvSpPr>
            <a:spLocks noChangeArrowheads="1"/>
          </p:cNvSpPr>
          <p:nvPr/>
        </p:nvSpPr>
        <p:spPr bwMode="auto">
          <a:xfrm>
            <a:off x="33623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66" name="Oval 148"/>
          <p:cNvSpPr>
            <a:spLocks noChangeArrowheads="1"/>
          </p:cNvSpPr>
          <p:nvPr/>
        </p:nvSpPr>
        <p:spPr bwMode="auto">
          <a:xfrm>
            <a:off x="39719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67" name="Oval 149"/>
          <p:cNvSpPr>
            <a:spLocks noChangeArrowheads="1"/>
          </p:cNvSpPr>
          <p:nvPr/>
        </p:nvSpPr>
        <p:spPr bwMode="auto">
          <a:xfrm>
            <a:off x="45815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68" name="Oval 150"/>
          <p:cNvSpPr>
            <a:spLocks noChangeArrowheads="1"/>
          </p:cNvSpPr>
          <p:nvPr/>
        </p:nvSpPr>
        <p:spPr bwMode="auto">
          <a:xfrm>
            <a:off x="51911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69" name="Oval 151"/>
          <p:cNvSpPr>
            <a:spLocks noChangeArrowheads="1"/>
          </p:cNvSpPr>
          <p:nvPr/>
        </p:nvSpPr>
        <p:spPr bwMode="auto">
          <a:xfrm>
            <a:off x="58007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70" name="Oval 152"/>
          <p:cNvSpPr>
            <a:spLocks noChangeArrowheads="1"/>
          </p:cNvSpPr>
          <p:nvPr/>
        </p:nvSpPr>
        <p:spPr bwMode="auto">
          <a:xfrm>
            <a:off x="64103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71" name="Oval 153"/>
          <p:cNvSpPr>
            <a:spLocks noChangeArrowheads="1"/>
          </p:cNvSpPr>
          <p:nvPr/>
        </p:nvSpPr>
        <p:spPr bwMode="auto">
          <a:xfrm>
            <a:off x="70199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72" name="Oval 154"/>
          <p:cNvSpPr>
            <a:spLocks noChangeArrowheads="1"/>
          </p:cNvSpPr>
          <p:nvPr/>
        </p:nvSpPr>
        <p:spPr bwMode="auto">
          <a:xfrm>
            <a:off x="7629525" y="35655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73" name="Rectángulo 1"/>
          <p:cNvSpPr>
            <a:spLocks noChangeArrowheads="1"/>
          </p:cNvSpPr>
          <p:nvPr/>
        </p:nvSpPr>
        <p:spPr bwMode="auto">
          <a:xfrm>
            <a:off x="8685213" y="5168900"/>
            <a:ext cx="4079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>
                <a:solidFill>
                  <a:schemeClr val="accent2"/>
                </a:solidFill>
              </a:rPr>
              <a:t>X</a:t>
            </a:r>
            <a:endParaRPr lang="es-ES" altLang="es-ES" sz="2400"/>
          </a:p>
        </p:txBody>
      </p:sp>
      <p:sp>
        <p:nvSpPr>
          <p:cNvPr id="11374" name="AutoShape 143"/>
          <p:cNvSpPr>
            <a:spLocks noChangeArrowheads="1"/>
          </p:cNvSpPr>
          <p:nvPr/>
        </p:nvSpPr>
        <p:spPr bwMode="auto">
          <a:xfrm>
            <a:off x="3133725" y="3400425"/>
            <a:ext cx="5019675" cy="258127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1375" name="Line 144"/>
          <p:cNvSpPr>
            <a:spLocks noChangeShapeType="1"/>
          </p:cNvSpPr>
          <p:nvPr/>
        </p:nvSpPr>
        <p:spPr bwMode="auto">
          <a:xfrm flipH="1">
            <a:off x="8115300" y="3390900"/>
            <a:ext cx="685800" cy="1968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1376" name="Rectángulo 115"/>
          <p:cNvSpPr>
            <a:spLocks noChangeArrowheads="1"/>
          </p:cNvSpPr>
          <p:nvPr/>
        </p:nvSpPr>
        <p:spPr bwMode="auto">
          <a:xfrm>
            <a:off x="8799513" y="3090863"/>
            <a:ext cx="4079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>
                <a:solidFill>
                  <a:schemeClr val="accent2"/>
                </a:solidFill>
              </a:rPr>
              <a:t>Y</a:t>
            </a:r>
            <a:endParaRPr lang="es-ES" altLang="es-E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smtClean="0"/>
              <a:t>Cambio en la percepción de la realidad</a:t>
            </a:r>
          </a:p>
        </p:txBody>
      </p:sp>
      <p:sp>
        <p:nvSpPr>
          <p:cNvPr id="12291" name="Marcador de contenido 2"/>
          <p:cNvSpPr>
            <a:spLocks noGrp="1"/>
          </p:cNvSpPr>
          <p:nvPr>
            <p:ph idx="1"/>
          </p:nvPr>
        </p:nvSpPr>
        <p:spPr>
          <a:xfrm>
            <a:off x="-257175" y="1981200"/>
            <a:ext cx="9686925" cy="4114800"/>
          </a:xfrm>
        </p:spPr>
        <p:txBody>
          <a:bodyPr/>
          <a:lstStyle/>
          <a:p>
            <a:pPr eaLnBrk="1" hangingPunct="1"/>
            <a:endParaRPr lang="es-ES" altLang="es-ES" smtClean="0"/>
          </a:p>
          <a:p>
            <a:pPr eaLnBrk="1" hangingPunct="1"/>
            <a:r>
              <a:rPr lang="es-ES" altLang="es-ES" smtClean="0"/>
              <a:t>HOMBRE	0.68                        0.2                     0.25</a:t>
            </a:r>
          </a:p>
          <a:p>
            <a:pPr eaLnBrk="1" hangingPunct="1"/>
            <a:endParaRPr lang="es-ES" altLang="es-ES" smtClean="0"/>
          </a:p>
          <a:p>
            <a:pPr eaLnBrk="1" hangingPunct="1"/>
            <a:endParaRPr lang="es-ES" altLang="es-ES" smtClean="0"/>
          </a:p>
          <a:p>
            <a:pPr eaLnBrk="1" hangingPunct="1"/>
            <a:endParaRPr lang="es-ES" altLang="es-ES" smtClean="0"/>
          </a:p>
          <a:p>
            <a:pPr eaLnBrk="1" hangingPunct="1"/>
            <a:r>
              <a:rPr lang="es-ES" altLang="es-ES" smtClean="0"/>
              <a:t>MUJER		0.32                         0.8                    0.75</a:t>
            </a:r>
          </a:p>
        </p:txBody>
      </p:sp>
      <p:grpSp>
        <p:nvGrpSpPr>
          <p:cNvPr id="12292" name="Grupo 9"/>
          <p:cNvGrpSpPr>
            <a:grpSpLocks/>
          </p:cNvGrpSpPr>
          <p:nvPr/>
        </p:nvGrpSpPr>
        <p:grpSpPr bwMode="auto">
          <a:xfrm>
            <a:off x="3524250" y="3024188"/>
            <a:ext cx="2133600" cy="1914525"/>
            <a:chOff x="4467225" y="2514600"/>
            <a:chExt cx="2133600" cy="1914525"/>
          </a:xfrm>
        </p:grpSpPr>
        <p:sp>
          <p:nvSpPr>
            <p:cNvPr id="4" name="Flecha derecha 3"/>
            <p:cNvSpPr/>
            <p:nvPr/>
          </p:nvSpPr>
          <p:spPr>
            <a:xfrm>
              <a:off x="4467225" y="2514600"/>
              <a:ext cx="2133600" cy="19145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  <p:sp>
          <p:nvSpPr>
            <p:cNvPr id="12302" name="CuadroTexto 4"/>
            <p:cNvSpPr txBox="1">
              <a:spLocks noChangeArrowheads="1"/>
            </p:cNvSpPr>
            <p:nvPr/>
          </p:nvSpPr>
          <p:spPr bwMode="auto">
            <a:xfrm>
              <a:off x="4784461" y="3028950"/>
              <a:ext cx="149912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2400"/>
                <a:t>Tiene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2400"/>
                <a:t>pendientes</a:t>
              </a:r>
            </a:p>
          </p:txBody>
        </p:sp>
      </p:grpSp>
      <p:sp>
        <p:nvSpPr>
          <p:cNvPr id="6" name="Elipse 5"/>
          <p:cNvSpPr/>
          <p:nvPr/>
        </p:nvSpPr>
        <p:spPr>
          <a:xfrm>
            <a:off x="2190750" y="2190750"/>
            <a:ext cx="1514475" cy="13716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sp>
        <p:nvSpPr>
          <p:cNvPr id="7" name="Elipse 6"/>
          <p:cNvSpPr/>
          <p:nvPr/>
        </p:nvSpPr>
        <p:spPr>
          <a:xfrm>
            <a:off x="5343525" y="4519613"/>
            <a:ext cx="1514475" cy="13716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sp>
        <p:nvSpPr>
          <p:cNvPr id="12295" name="CuadroTexto 7"/>
          <p:cNvSpPr txBox="1">
            <a:spLocks noChangeArrowheads="1"/>
          </p:cNvSpPr>
          <p:nvPr/>
        </p:nvSpPr>
        <p:spPr bwMode="auto">
          <a:xfrm>
            <a:off x="2039938" y="6105525"/>
            <a:ext cx="1816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2400"/>
              <a:t>Prob. a priori</a:t>
            </a:r>
          </a:p>
        </p:txBody>
      </p:sp>
      <p:sp>
        <p:nvSpPr>
          <p:cNvPr id="12296" name="CuadroTexto 8"/>
          <p:cNvSpPr txBox="1">
            <a:spLocks noChangeArrowheads="1"/>
          </p:cNvSpPr>
          <p:nvPr/>
        </p:nvSpPr>
        <p:spPr bwMode="auto">
          <a:xfrm>
            <a:off x="4945063" y="6105525"/>
            <a:ext cx="231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2400"/>
              <a:t>Prob. a posteriori</a:t>
            </a:r>
          </a:p>
        </p:txBody>
      </p:sp>
      <p:grpSp>
        <p:nvGrpSpPr>
          <p:cNvPr id="12297" name="Grupo 10"/>
          <p:cNvGrpSpPr>
            <a:grpSpLocks/>
          </p:cNvGrpSpPr>
          <p:nvPr/>
        </p:nvGrpSpPr>
        <p:grpSpPr bwMode="auto">
          <a:xfrm>
            <a:off x="6619875" y="3024188"/>
            <a:ext cx="2133600" cy="1914525"/>
            <a:chOff x="4467225" y="2514600"/>
            <a:chExt cx="2133600" cy="1914525"/>
          </a:xfrm>
        </p:grpSpPr>
        <p:sp>
          <p:nvSpPr>
            <p:cNvPr id="12" name="Flecha derecha 11"/>
            <p:cNvSpPr/>
            <p:nvPr/>
          </p:nvSpPr>
          <p:spPr>
            <a:xfrm>
              <a:off x="4467225" y="2514600"/>
              <a:ext cx="2133600" cy="19145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  <p:sp>
          <p:nvSpPr>
            <p:cNvPr id="12300" name="CuadroTexto 12"/>
            <p:cNvSpPr txBox="1">
              <a:spLocks noChangeArrowheads="1"/>
            </p:cNvSpPr>
            <p:nvPr/>
          </p:nvSpPr>
          <p:spPr bwMode="auto">
            <a:xfrm>
              <a:off x="4784461" y="3028950"/>
              <a:ext cx="143981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2400"/>
                <a:t>Tiene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2400"/>
                <a:t>Pelo corto</a:t>
              </a:r>
            </a:p>
          </p:txBody>
        </p:sp>
      </p:grpSp>
      <p:sp>
        <p:nvSpPr>
          <p:cNvPr id="14" name="Elipse 13"/>
          <p:cNvSpPr/>
          <p:nvPr/>
        </p:nvSpPr>
        <p:spPr>
          <a:xfrm>
            <a:off x="7924800" y="4537075"/>
            <a:ext cx="1514475" cy="13716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22325" y="52388"/>
            <a:ext cx="7772400" cy="1143000"/>
          </a:xfrm>
        </p:spPr>
        <p:txBody>
          <a:bodyPr/>
          <a:lstStyle/>
          <a:p>
            <a:pPr eaLnBrk="1" hangingPunct="1"/>
            <a:r>
              <a:rPr lang="es-ES_tradnl" altLang="es-ES" smtClean="0"/>
              <a:t>Clasificador bayesiano</a:t>
            </a:r>
            <a:endParaRPr lang="es-ES" altLang="es-ES" smtClean="0"/>
          </a:p>
        </p:txBody>
      </p:sp>
      <p:sp>
        <p:nvSpPr>
          <p:cNvPr id="13315" name="Rectangle 1027"/>
          <p:cNvSpPr>
            <a:spLocks noChangeArrowheads="1"/>
          </p:cNvSpPr>
          <p:nvPr/>
        </p:nvSpPr>
        <p:spPr bwMode="auto">
          <a:xfrm>
            <a:off x="2008188" y="2052638"/>
            <a:ext cx="1624012" cy="522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3316" name="Text Box 1028"/>
          <p:cNvSpPr txBox="1">
            <a:spLocks noChangeArrowheads="1"/>
          </p:cNvSpPr>
          <p:nvPr/>
        </p:nvSpPr>
        <p:spPr bwMode="auto">
          <a:xfrm>
            <a:off x="2319338" y="2049463"/>
            <a:ext cx="11715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3317" name="Line 1029"/>
          <p:cNvSpPr>
            <a:spLocks noChangeShapeType="1"/>
          </p:cNvSpPr>
          <p:nvPr/>
        </p:nvSpPr>
        <p:spPr bwMode="auto">
          <a:xfrm>
            <a:off x="1095375" y="2371725"/>
            <a:ext cx="896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18" name="Oval 1031"/>
          <p:cNvSpPr>
            <a:spLocks noChangeArrowheads="1"/>
          </p:cNvSpPr>
          <p:nvPr/>
        </p:nvSpPr>
        <p:spPr bwMode="auto">
          <a:xfrm>
            <a:off x="4327525" y="2016125"/>
            <a:ext cx="541338" cy="541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3319" name="Text Box 1032"/>
          <p:cNvSpPr txBox="1">
            <a:spLocks noChangeArrowheads="1"/>
          </p:cNvSpPr>
          <p:nvPr/>
        </p:nvSpPr>
        <p:spPr bwMode="auto">
          <a:xfrm>
            <a:off x="3676650" y="1195388"/>
            <a:ext cx="889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3320" name="Line 1033"/>
          <p:cNvSpPr>
            <a:spLocks noChangeShapeType="1"/>
          </p:cNvSpPr>
          <p:nvPr/>
        </p:nvSpPr>
        <p:spPr bwMode="auto">
          <a:xfrm>
            <a:off x="4251325" y="1681163"/>
            <a:ext cx="261938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21" name="Line 1034"/>
          <p:cNvSpPr>
            <a:spLocks noChangeShapeType="1"/>
          </p:cNvSpPr>
          <p:nvPr/>
        </p:nvSpPr>
        <p:spPr bwMode="auto">
          <a:xfrm flipV="1">
            <a:off x="3656013" y="23145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22" name="Line 1035"/>
          <p:cNvSpPr>
            <a:spLocks noChangeShapeType="1"/>
          </p:cNvSpPr>
          <p:nvPr/>
        </p:nvSpPr>
        <p:spPr bwMode="auto">
          <a:xfrm>
            <a:off x="4926013" y="2300288"/>
            <a:ext cx="192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23" name="Text Box 1036"/>
          <p:cNvSpPr txBox="1">
            <a:spLocks noChangeArrowheads="1"/>
          </p:cNvSpPr>
          <p:nvPr/>
        </p:nvSpPr>
        <p:spPr bwMode="auto">
          <a:xfrm>
            <a:off x="4906963" y="1771650"/>
            <a:ext cx="186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r>
              <a:rPr lang="es-ES_tradnl" altLang="es-ES" sz="2400">
                <a:cs typeface="Times New Roman" panose="02020603050405020304" pitchFamily="18" charset="0"/>
              </a:rPr>
              <a:t>·P(w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3324" name="Rectangle 1037"/>
          <p:cNvSpPr>
            <a:spLocks noChangeArrowheads="1"/>
          </p:cNvSpPr>
          <p:nvPr/>
        </p:nvSpPr>
        <p:spPr bwMode="auto">
          <a:xfrm>
            <a:off x="2008188" y="3462338"/>
            <a:ext cx="1624012" cy="522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3325" name="Text Box 1038"/>
          <p:cNvSpPr txBox="1">
            <a:spLocks noChangeArrowheads="1"/>
          </p:cNvSpPr>
          <p:nvPr/>
        </p:nvSpPr>
        <p:spPr bwMode="auto">
          <a:xfrm>
            <a:off x="2319338" y="3459163"/>
            <a:ext cx="11715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3326" name="Line 1039"/>
          <p:cNvSpPr>
            <a:spLocks noChangeShapeType="1"/>
          </p:cNvSpPr>
          <p:nvPr/>
        </p:nvSpPr>
        <p:spPr bwMode="auto">
          <a:xfrm>
            <a:off x="1095375" y="3781425"/>
            <a:ext cx="896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27" name="Oval 1040"/>
          <p:cNvSpPr>
            <a:spLocks noChangeArrowheads="1"/>
          </p:cNvSpPr>
          <p:nvPr/>
        </p:nvSpPr>
        <p:spPr bwMode="auto">
          <a:xfrm>
            <a:off x="4327525" y="3425825"/>
            <a:ext cx="541338" cy="541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3328" name="Text Box 1041"/>
          <p:cNvSpPr txBox="1">
            <a:spLocks noChangeArrowheads="1"/>
          </p:cNvSpPr>
          <p:nvPr/>
        </p:nvSpPr>
        <p:spPr bwMode="auto">
          <a:xfrm>
            <a:off x="3676650" y="2605088"/>
            <a:ext cx="889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3329" name="Line 1042"/>
          <p:cNvSpPr>
            <a:spLocks noChangeShapeType="1"/>
          </p:cNvSpPr>
          <p:nvPr/>
        </p:nvSpPr>
        <p:spPr bwMode="auto">
          <a:xfrm>
            <a:off x="4251325" y="3090863"/>
            <a:ext cx="261938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30" name="Line 1043"/>
          <p:cNvSpPr>
            <a:spLocks noChangeShapeType="1"/>
          </p:cNvSpPr>
          <p:nvPr/>
        </p:nvSpPr>
        <p:spPr bwMode="auto">
          <a:xfrm flipV="1">
            <a:off x="3656013" y="37242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31" name="Line 1044"/>
          <p:cNvSpPr>
            <a:spLocks noChangeShapeType="1"/>
          </p:cNvSpPr>
          <p:nvPr/>
        </p:nvSpPr>
        <p:spPr bwMode="auto">
          <a:xfrm>
            <a:off x="4926013" y="3709988"/>
            <a:ext cx="192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32" name="Text Box 1045"/>
          <p:cNvSpPr txBox="1">
            <a:spLocks noChangeArrowheads="1"/>
          </p:cNvSpPr>
          <p:nvPr/>
        </p:nvSpPr>
        <p:spPr bwMode="auto">
          <a:xfrm>
            <a:off x="4906963" y="3181350"/>
            <a:ext cx="186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r>
              <a:rPr lang="es-ES_tradnl" altLang="es-ES" sz="2400">
                <a:cs typeface="Times New Roman" panose="02020603050405020304" pitchFamily="18" charset="0"/>
              </a:rPr>
              <a:t>·P(w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3333" name="Rectangle 1046"/>
          <p:cNvSpPr>
            <a:spLocks noChangeArrowheads="1"/>
          </p:cNvSpPr>
          <p:nvPr/>
        </p:nvSpPr>
        <p:spPr bwMode="auto">
          <a:xfrm>
            <a:off x="2008188" y="5024438"/>
            <a:ext cx="1624012" cy="522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3334" name="Text Box 1047"/>
          <p:cNvSpPr txBox="1">
            <a:spLocks noChangeArrowheads="1"/>
          </p:cNvSpPr>
          <p:nvPr/>
        </p:nvSpPr>
        <p:spPr bwMode="auto">
          <a:xfrm>
            <a:off x="2319338" y="5021263"/>
            <a:ext cx="11715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n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3335" name="Line 1048"/>
          <p:cNvSpPr>
            <a:spLocks noChangeShapeType="1"/>
          </p:cNvSpPr>
          <p:nvPr/>
        </p:nvSpPr>
        <p:spPr bwMode="auto">
          <a:xfrm>
            <a:off x="1095375" y="5343525"/>
            <a:ext cx="896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36" name="Oval 1049"/>
          <p:cNvSpPr>
            <a:spLocks noChangeArrowheads="1"/>
          </p:cNvSpPr>
          <p:nvPr/>
        </p:nvSpPr>
        <p:spPr bwMode="auto">
          <a:xfrm>
            <a:off x="4327525" y="4987925"/>
            <a:ext cx="541338" cy="541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3337" name="Text Box 1050"/>
          <p:cNvSpPr txBox="1">
            <a:spLocks noChangeArrowheads="1"/>
          </p:cNvSpPr>
          <p:nvPr/>
        </p:nvSpPr>
        <p:spPr bwMode="auto">
          <a:xfrm>
            <a:off x="3676650" y="4167188"/>
            <a:ext cx="889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P(w</a:t>
            </a:r>
            <a:r>
              <a:rPr lang="es-ES_tradnl" altLang="es-ES" sz="2400" baseline="-25000"/>
              <a:t>n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3338" name="Line 1051"/>
          <p:cNvSpPr>
            <a:spLocks noChangeShapeType="1"/>
          </p:cNvSpPr>
          <p:nvPr/>
        </p:nvSpPr>
        <p:spPr bwMode="auto">
          <a:xfrm>
            <a:off x="4251325" y="4652963"/>
            <a:ext cx="261938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39" name="Line 1052"/>
          <p:cNvSpPr>
            <a:spLocks noChangeShapeType="1"/>
          </p:cNvSpPr>
          <p:nvPr/>
        </p:nvSpPr>
        <p:spPr bwMode="auto">
          <a:xfrm flipV="1">
            <a:off x="3656013" y="5286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40" name="Line 1053"/>
          <p:cNvSpPr>
            <a:spLocks noChangeShapeType="1"/>
          </p:cNvSpPr>
          <p:nvPr/>
        </p:nvSpPr>
        <p:spPr bwMode="auto">
          <a:xfrm>
            <a:off x="4926013" y="5272088"/>
            <a:ext cx="192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41" name="Text Box 1054"/>
          <p:cNvSpPr txBox="1">
            <a:spLocks noChangeArrowheads="1"/>
          </p:cNvSpPr>
          <p:nvPr/>
        </p:nvSpPr>
        <p:spPr bwMode="auto">
          <a:xfrm>
            <a:off x="4906963" y="4743450"/>
            <a:ext cx="186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n</a:t>
            </a:r>
            <a:r>
              <a:rPr lang="es-ES_tradnl" altLang="es-ES" sz="2400"/>
              <a:t>)</a:t>
            </a:r>
            <a:r>
              <a:rPr lang="es-ES_tradnl" altLang="es-ES" sz="2400">
                <a:cs typeface="Times New Roman" panose="02020603050405020304" pitchFamily="18" charset="0"/>
              </a:rPr>
              <a:t>·P(w</a:t>
            </a:r>
            <a:r>
              <a:rPr lang="es-ES_tradnl" altLang="es-ES" sz="2400" baseline="-25000"/>
              <a:t>n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3342" name="Rectangle 1055"/>
          <p:cNvSpPr>
            <a:spLocks noChangeArrowheads="1"/>
          </p:cNvSpPr>
          <p:nvPr/>
        </p:nvSpPr>
        <p:spPr bwMode="auto">
          <a:xfrm>
            <a:off x="6897688" y="1698625"/>
            <a:ext cx="1008062" cy="3956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M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X</a:t>
            </a:r>
            <a:endParaRPr lang="es-ES" altLang="es-ES" sz="2400"/>
          </a:p>
        </p:txBody>
      </p:sp>
      <p:sp>
        <p:nvSpPr>
          <p:cNvPr id="13343" name="Line 1057"/>
          <p:cNvSpPr>
            <a:spLocks noChangeShapeType="1"/>
          </p:cNvSpPr>
          <p:nvPr/>
        </p:nvSpPr>
        <p:spPr bwMode="auto">
          <a:xfrm>
            <a:off x="7869238" y="3733800"/>
            <a:ext cx="63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3344" name="Text Box 1058"/>
          <p:cNvSpPr txBox="1">
            <a:spLocks noChangeArrowheads="1"/>
          </p:cNvSpPr>
          <p:nvPr/>
        </p:nvSpPr>
        <p:spPr bwMode="auto">
          <a:xfrm>
            <a:off x="8113713" y="3262313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clase</a:t>
            </a:r>
            <a:endParaRPr lang="es-ES" altLang="es-ES" sz="2400"/>
          </a:p>
        </p:txBody>
      </p:sp>
      <p:sp>
        <p:nvSpPr>
          <p:cNvPr id="13345" name="Text Box 1059"/>
          <p:cNvSpPr txBox="1">
            <a:spLocks noChangeArrowheads="1"/>
          </p:cNvSpPr>
          <p:nvPr/>
        </p:nvSpPr>
        <p:spPr bwMode="auto">
          <a:xfrm>
            <a:off x="2306638" y="4024313"/>
            <a:ext cx="8826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4400"/>
              <a:t>. . .</a:t>
            </a:r>
            <a:endParaRPr lang="es-ES" altLang="es-ES" sz="4400"/>
          </a:p>
        </p:txBody>
      </p:sp>
      <p:sp>
        <p:nvSpPr>
          <p:cNvPr id="13346" name="Text Box 1060"/>
          <p:cNvSpPr txBox="1">
            <a:spLocks noChangeArrowheads="1"/>
          </p:cNvSpPr>
          <p:nvPr/>
        </p:nvSpPr>
        <p:spPr bwMode="auto">
          <a:xfrm>
            <a:off x="5443538" y="3565525"/>
            <a:ext cx="8826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4400"/>
              <a:t>. . .</a:t>
            </a:r>
            <a:endParaRPr lang="es-ES" altLang="es-ES" sz="4400"/>
          </a:p>
        </p:txBody>
      </p:sp>
      <p:grpSp>
        <p:nvGrpSpPr>
          <p:cNvPr id="4" name="Grupo 3"/>
          <p:cNvGrpSpPr/>
          <p:nvPr/>
        </p:nvGrpSpPr>
        <p:grpSpPr>
          <a:xfrm>
            <a:off x="4855669" y="1380838"/>
            <a:ext cx="1975221" cy="830997"/>
            <a:chOff x="6594475" y="80169"/>
            <a:chExt cx="1975221" cy="830997"/>
          </a:xfrm>
          <a:solidFill>
            <a:schemeClr val="bg1"/>
          </a:solidFill>
        </p:grpSpPr>
        <p:sp>
          <p:nvSpPr>
            <p:cNvPr id="37" name="Text Box 1036"/>
            <p:cNvSpPr txBox="1">
              <a:spLocks noChangeArrowheads="1"/>
            </p:cNvSpPr>
            <p:nvPr/>
          </p:nvSpPr>
          <p:spPr bwMode="auto">
            <a:xfrm>
              <a:off x="6594475" y="80169"/>
              <a:ext cx="1975221" cy="83099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s-ES_tradnl" altLang="es-ES" dirty="0"/>
                <a:t>P(X|w</a:t>
              </a:r>
              <a:r>
                <a:rPr lang="es-ES_tradnl" altLang="es-ES" baseline="-25000" dirty="0"/>
                <a:t>1</a:t>
              </a:r>
              <a:r>
                <a:rPr lang="es-ES_tradnl" altLang="es-ES" dirty="0"/>
                <a:t>)</a:t>
              </a:r>
              <a:r>
                <a:rPr lang="es-ES_tradnl" altLang="es-ES" dirty="0">
                  <a:cs typeface="Times New Roman" panose="02020603050405020304" pitchFamily="18" charset="0"/>
                </a:rPr>
                <a:t>·P(w</a:t>
              </a:r>
              <a:r>
                <a:rPr lang="es-ES_tradnl" altLang="es-ES" baseline="-25000" dirty="0"/>
                <a:t>1</a:t>
              </a:r>
              <a:r>
                <a:rPr lang="es-ES_tradnl" altLang="es-ES" dirty="0"/>
                <a:t>)</a:t>
              </a:r>
            </a:p>
            <a:p>
              <a:pPr eaLnBrk="1" hangingPunct="1">
                <a:defRPr/>
              </a:pPr>
              <a:r>
                <a:rPr lang="es-ES_tradnl" altLang="es-ES" dirty="0"/>
                <a:t>        P(X)</a:t>
              </a:r>
              <a:endParaRPr lang="es-ES" altLang="es-ES" dirty="0"/>
            </a:p>
          </p:txBody>
        </p:sp>
        <p:cxnSp>
          <p:nvCxnSpPr>
            <p:cNvPr id="3" name="Conector recto 2"/>
            <p:cNvCxnSpPr/>
            <p:nvPr/>
          </p:nvCxnSpPr>
          <p:spPr>
            <a:xfrm>
              <a:off x="6623710" y="516687"/>
              <a:ext cx="1782466" cy="1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upo 40"/>
          <p:cNvGrpSpPr/>
          <p:nvPr/>
        </p:nvGrpSpPr>
        <p:grpSpPr>
          <a:xfrm>
            <a:off x="4895271" y="2807661"/>
            <a:ext cx="1975221" cy="830997"/>
            <a:chOff x="6594475" y="80169"/>
            <a:chExt cx="1975221" cy="830997"/>
          </a:xfrm>
          <a:solidFill>
            <a:schemeClr val="bg1"/>
          </a:solidFill>
        </p:grpSpPr>
        <p:sp>
          <p:nvSpPr>
            <p:cNvPr id="42" name="Text Box 1036"/>
            <p:cNvSpPr txBox="1">
              <a:spLocks noChangeArrowheads="1"/>
            </p:cNvSpPr>
            <p:nvPr/>
          </p:nvSpPr>
          <p:spPr bwMode="auto">
            <a:xfrm>
              <a:off x="6594475" y="80169"/>
              <a:ext cx="1975221" cy="83099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s-ES_tradnl" altLang="es-ES" dirty="0"/>
                <a:t>P(X|w</a:t>
              </a:r>
              <a:r>
                <a:rPr lang="es-ES_tradnl" altLang="es-ES" baseline="-25000" dirty="0"/>
                <a:t>2</a:t>
              </a:r>
              <a:r>
                <a:rPr lang="es-ES_tradnl" altLang="es-ES" dirty="0"/>
                <a:t>)</a:t>
              </a:r>
              <a:r>
                <a:rPr lang="es-ES_tradnl" altLang="es-ES" dirty="0">
                  <a:cs typeface="Times New Roman" panose="02020603050405020304" pitchFamily="18" charset="0"/>
                </a:rPr>
                <a:t>·P(w</a:t>
              </a:r>
              <a:r>
                <a:rPr lang="es-ES_tradnl" altLang="es-ES" baseline="-25000" dirty="0"/>
                <a:t>2</a:t>
              </a:r>
              <a:r>
                <a:rPr lang="es-ES_tradnl" altLang="es-ES" dirty="0"/>
                <a:t>)</a:t>
              </a:r>
            </a:p>
            <a:p>
              <a:pPr eaLnBrk="1" hangingPunct="1">
                <a:defRPr/>
              </a:pPr>
              <a:r>
                <a:rPr lang="es-ES_tradnl" altLang="es-ES" dirty="0"/>
                <a:t>        P(X)</a:t>
              </a:r>
              <a:endParaRPr lang="es-ES" altLang="es-ES" dirty="0"/>
            </a:p>
          </p:txBody>
        </p:sp>
        <p:cxnSp>
          <p:nvCxnSpPr>
            <p:cNvPr id="43" name="Conector recto 42"/>
            <p:cNvCxnSpPr/>
            <p:nvPr/>
          </p:nvCxnSpPr>
          <p:spPr>
            <a:xfrm>
              <a:off x="6623710" y="516687"/>
              <a:ext cx="1782466" cy="1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upo 46"/>
          <p:cNvGrpSpPr/>
          <p:nvPr/>
        </p:nvGrpSpPr>
        <p:grpSpPr>
          <a:xfrm>
            <a:off x="4912436" y="4405393"/>
            <a:ext cx="1975221" cy="830997"/>
            <a:chOff x="6594475" y="80169"/>
            <a:chExt cx="1975221" cy="830997"/>
          </a:xfrm>
          <a:solidFill>
            <a:schemeClr val="bg1"/>
          </a:solidFill>
        </p:grpSpPr>
        <p:sp>
          <p:nvSpPr>
            <p:cNvPr id="48" name="Text Box 1036"/>
            <p:cNvSpPr txBox="1">
              <a:spLocks noChangeArrowheads="1"/>
            </p:cNvSpPr>
            <p:nvPr/>
          </p:nvSpPr>
          <p:spPr bwMode="auto">
            <a:xfrm>
              <a:off x="6594475" y="80169"/>
              <a:ext cx="1975221" cy="83099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s-ES_tradnl" altLang="es-ES" dirty="0"/>
                <a:t>P(</a:t>
              </a:r>
              <a:r>
                <a:rPr lang="es-ES_tradnl" altLang="es-ES" dirty="0" err="1"/>
                <a:t>X|w</a:t>
              </a:r>
              <a:r>
                <a:rPr lang="es-ES_tradnl" altLang="es-ES" baseline="-25000" dirty="0" err="1"/>
                <a:t>n</a:t>
              </a:r>
              <a:r>
                <a:rPr lang="es-ES_tradnl" altLang="es-ES" dirty="0"/>
                <a:t>)</a:t>
              </a:r>
              <a:r>
                <a:rPr lang="es-ES_tradnl" altLang="es-ES" dirty="0">
                  <a:cs typeface="Times New Roman" panose="02020603050405020304" pitchFamily="18" charset="0"/>
                </a:rPr>
                <a:t>·P(</a:t>
              </a:r>
              <a:r>
                <a:rPr lang="es-ES_tradnl" altLang="es-ES" dirty="0" err="1">
                  <a:cs typeface="Times New Roman" panose="02020603050405020304" pitchFamily="18" charset="0"/>
                </a:rPr>
                <a:t>w</a:t>
              </a:r>
              <a:r>
                <a:rPr lang="es-ES_tradnl" altLang="es-ES" baseline="-25000" dirty="0" err="1"/>
                <a:t>n</a:t>
              </a:r>
              <a:r>
                <a:rPr lang="es-ES_tradnl" altLang="es-ES" dirty="0"/>
                <a:t>)</a:t>
              </a:r>
            </a:p>
            <a:p>
              <a:pPr eaLnBrk="1" hangingPunct="1">
                <a:defRPr/>
              </a:pPr>
              <a:r>
                <a:rPr lang="es-ES_tradnl" altLang="es-ES" dirty="0"/>
                <a:t>        P(X)</a:t>
              </a:r>
              <a:endParaRPr lang="es-ES" altLang="es-ES" dirty="0"/>
            </a:p>
          </p:txBody>
        </p:sp>
        <p:cxnSp>
          <p:nvCxnSpPr>
            <p:cNvPr id="49" name="Conector recto 48"/>
            <p:cNvCxnSpPr/>
            <p:nvPr/>
          </p:nvCxnSpPr>
          <p:spPr>
            <a:xfrm>
              <a:off x="6623710" y="516687"/>
              <a:ext cx="1782466" cy="1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350" name="Object 8"/>
          <p:cNvGraphicFramePr>
            <a:graphicFrameLocks noChangeAspect="1"/>
          </p:cNvGraphicFramePr>
          <p:nvPr/>
        </p:nvGraphicFramePr>
        <p:xfrm>
          <a:off x="3217863" y="5938838"/>
          <a:ext cx="350678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" name="Ecuación" r:id="rId3" imgW="1714500" imgH="342900" progId="Equation.3">
                  <p:embed/>
                </p:oleObj>
              </mc:Choice>
              <mc:Fallback>
                <p:oleObj name="Ecuación" r:id="rId3" imgW="1714500" imgH="342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5938838"/>
                        <a:ext cx="3506787" cy="701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2"/>
          <p:cNvSpPr>
            <a:spLocks noChangeArrowheads="1"/>
          </p:cNvSpPr>
          <p:nvPr/>
        </p:nvSpPr>
        <p:spPr bwMode="auto">
          <a:xfrm>
            <a:off x="2057400" y="5181600"/>
            <a:ext cx="5181600" cy="762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762000" y="3352800"/>
            <a:ext cx="8001000" cy="762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Cómo seleccionar una hipótesis</a:t>
            </a:r>
            <a:endParaRPr lang="es-ES" altLang="es-ES" smtClean="0"/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</p:spPr>
        <p:txBody>
          <a:bodyPr/>
          <a:lstStyle/>
          <a:p>
            <a:pPr eaLnBrk="1" hangingPunct="1"/>
            <a:r>
              <a:rPr lang="es-ES_tradnl" altLang="es-ES" sz="2400" b="1" smtClean="0"/>
              <a:t>Criterio MAP (Maximum a-Posteriori)</a:t>
            </a:r>
          </a:p>
          <a:p>
            <a:pPr lvl="1" eaLnBrk="1" hangingPunct="1"/>
            <a:r>
              <a:rPr lang="es-ES_tradnl" altLang="es-ES" sz="2000" smtClean="0"/>
              <a:t>elegir aquella hipótesis con mayor prob. a posteriori</a:t>
            </a:r>
          </a:p>
          <a:p>
            <a:pPr lvl="1" eaLnBrk="1" hangingPunct="1"/>
            <a:r>
              <a:rPr lang="es-ES_tradnl" altLang="es-ES" sz="2000" smtClean="0"/>
              <a:t>En el proceso de clasificación, P(X) es igual a todas las hipótesis, por lo que se puede eliminar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s-ES_tradnl" altLang="es-ES" sz="2000" smtClean="0"/>
          </a:p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ES" sz="2000" smtClean="0"/>
              <a:t>argmax(P(w</a:t>
            </a:r>
            <a:r>
              <a:rPr lang="es-ES_tradnl" altLang="es-ES" sz="2000" baseline="-25000" smtClean="0"/>
              <a:t>i</a:t>
            </a:r>
            <a:r>
              <a:rPr lang="es-ES_tradnl" altLang="es-ES" sz="2000" smtClean="0"/>
              <a:t>|X)) = argmax(P(X|w</a:t>
            </a:r>
            <a:r>
              <a:rPr lang="es-ES_tradnl" altLang="es-ES" sz="2000" baseline="-25000" smtClean="0"/>
              <a:t>i</a:t>
            </a:r>
            <a:r>
              <a:rPr lang="es-ES_tradnl" altLang="es-ES" sz="2000" smtClean="0"/>
              <a:t>)*P(w</a:t>
            </a:r>
            <a:r>
              <a:rPr lang="es-ES_tradnl" altLang="es-ES" sz="2000" baseline="-25000" smtClean="0"/>
              <a:t>i</a:t>
            </a:r>
            <a:r>
              <a:rPr lang="es-ES_tradnl" altLang="es-ES" sz="2000" smtClean="0"/>
              <a:t>)/P(X)) = argmax(P(X|w</a:t>
            </a:r>
            <a:r>
              <a:rPr lang="es-ES_tradnl" altLang="es-ES" sz="2000" baseline="-25000" smtClean="0"/>
              <a:t>i</a:t>
            </a:r>
            <a:r>
              <a:rPr lang="es-ES_tradnl" altLang="es-ES" sz="2000" smtClean="0"/>
              <a:t>)*P(w</a:t>
            </a:r>
            <a:r>
              <a:rPr lang="es-ES_tradnl" altLang="es-ES" sz="2000" baseline="-25000" smtClean="0"/>
              <a:t>i</a:t>
            </a:r>
            <a:r>
              <a:rPr lang="es-ES_tradnl" altLang="es-ES" sz="2000" smtClean="0"/>
              <a:t>))</a:t>
            </a:r>
          </a:p>
          <a:p>
            <a:pPr>
              <a:spcBef>
                <a:spcPct val="0"/>
              </a:spcBef>
            </a:pPr>
            <a:endParaRPr lang="es-ES_tradnl" altLang="es-ES" sz="2400" smtClean="0"/>
          </a:p>
          <a:p>
            <a:pPr>
              <a:spcBef>
                <a:spcPct val="0"/>
              </a:spcBef>
            </a:pPr>
            <a:endParaRPr lang="es-ES_tradnl" altLang="es-ES" sz="2400" smtClean="0"/>
          </a:p>
          <a:p>
            <a:pPr>
              <a:spcBef>
                <a:spcPct val="0"/>
              </a:spcBef>
            </a:pPr>
            <a:r>
              <a:rPr lang="es-ES_tradnl" altLang="es-ES" sz="2400" b="1" smtClean="0"/>
              <a:t>Criterio Máxima Verosimilitud (Maximum Likelihood)</a:t>
            </a:r>
          </a:p>
          <a:p>
            <a:pPr lvl="1">
              <a:spcBef>
                <a:spcPct val="0"/>
              </a:spcBef>
            </a:pPr>
            <a:r>
              <a:rPr lang="es-ES_tradnl" altLang="es-ES" sz="2000" smtClean="0"/>
              <a:t>Es frecuente considerar clases equiprobables a priori. </a:t>
            </a:r>
          </a:p>
          <a:p>
            <a:pPr lvl="1">
              <a:spcBef>
                <a:spcPct val="0"/>
              </a:spcBef>
            </a:pPr>
            <a:endParaRPr lang="es-ES_tradnl" altLang="es-ES" sz="1800" smtClean="0"/>
          </a:p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ES" sz="2000" smtClean="0"/>
              <a:t>argmax(P(w</a:t>
            </a:r>
            <a:r>
              <a:rPr lang="es-ES_tradnl" altLang="es-ES" sz="2000" baseline="-25000" smtClean="0"/>
              <a:t>i</a:t>
            </a:r>
            <a:r>
              <a:rPr lang="es-ES_tradnl" altLang="es-ES" sz="2000" smtClean="0"/>
              <a:t>|X)) = argmax(P(X|w</a:t>
            </a:r>
            <a:r>
              <a:rPr lang="es-ES_tradnl" altLang="es-ES" sz="2000" baseline="-25000" smtClean="0"/>
              <a:t>i</a:t>
            </a:r>
            <a:r>
              <a:rPr lang="es-ES_tradnl" altLang="es-ES" sz="2000" smtClean="0"/>
              <a:t>))</a:t>
            </a:r>
          </a:p>
          <a:p>
            <a:pPr>
              <a:spcBef>
                <a:spcPct val="0"/>
              </a:spcBef>
            </a:pPr>
            <a:endParaRPr lang="es-ES" altLang="es-ES" sz="2000" smtClean="0"/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1370013" y="3627438"/>
            <a:ext cx="230187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000" baseline="-25000"/>
              <a:t>i</a:t>
            </a:r>
            <a:endParaRPr lang="es-ES" altLang="es-ES" sz="2000" baseline="-25000"/>
          </a:p>
        </p:txBody>
      </p:sp>
      <p:sp>
        <p:nvSpPr>
          <p:cNvPr id="14343" name="Rectangle 6"/>
          <p:cNvSpPr>
            <a:spLocks noChangeArrowheads="1"/>
          </p:cNvSpPr>
          <p:nvPr/>
        </p:nvSpPr>
        <p:spPr bwMode="auto">
          <a:xfrm>
            <a:off x="3351213" y="3625850"/>
            <a:ext cx="230187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000" baseline="-25000"/>
              <a:t>i</a:t>
            </a:r>
            <a:endParaRPr lang="es-ES" altLang="es-ES" sz="2000" baseline="-25000"/>
          </a:p>
        </p:txBody>
      </p:sp>
      <p:sp>
        <p:nvSpPr>
          <p:cNvPr id="14344" name="Rectangle 9"/>
          <p:cNvSpPr>
            <a:spLocks noChangeArrowheads="1"/>
          </p:cNvSpPr>
          <p:nvPr/>
        </p:nvSpPr>
        <p:spPr bwMode="auto">
          <a:xfrm>
            <a:off x="3276600" y="5576888"/>
            <a:ext cx="230188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000" baseline="-25000"/>
              <a:t>i</a:t>
            </a:r>
            <a:endParaRPr lang="es-ES" altLang="es-ES" sz="2000" baseline="-25000"/>
          </a:p>
        </p:txBody>
      </p:sp>
      <p:sp>
        <p:nvSpPr>
          <p:cNvPr id="14345" name="Rectangle 10"/>
          <p:cNvSpPr>
            <a:spLocks noChangeArrowheads="1"/>
          </p:cNvSpPr>
          <p:nvPr/>
        </p:nvSpPr>
        <p:spPr bwMode="auto">
          <a:xfrm>
            <a:off x="5256213" y="5576888"/>
            <a:ext cx="230187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000" baseline="-25000"/>
              <a:t>i</a:t>
            </a:r>
            <a:endParaRPr lang="es-ES" altLang="es-ES" sz="2000" baseline="-25000"/>
          </a:p>
        </p:txBody>
      </p:sp>
      <p:sp>
        <p:nvSpPr>
          <p:cNvPr id="14346" name="Rectangle 11"/>
          <p:cNvSpPr>
            <a:spLocks noChangeArrowheads="1"/>
          </p:cNvSpPr>
          <p:nvPr/>
        </p:nvSpPr>
        <p:spPr bwMode="auto">
          <a:xfrm>
            <a:off x="6553200" y="3625850"/>
            <a:ext cx="230188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000" baseline="-25000"/>
              <a:t>i</a:t>
            </a:r>
            <a:endParaRPr lang="es-ES" altLang="es-ES" sz="2000" baseline="-25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Clasificador bayesiano </a:t>
            </a:r>
            <a:br>
              <a:rPr lang="es-ES_tradnl" altLang="es-ES" smtClean="0"/>
            </a:br>
            <a:r>
              <a:rPr lang="es-ES_tradnl" altLang="es-ES" smtClean="0"/>
              <a:t>(X no discreto, sino contínuo)</a:t>
            </a:r>
            <a:endParaRPr lang="es-ES" altLang="es-ES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_tradnl" altLang="es-ES" sz="2800" smtClean="0"/>
              <a:t>Con frecuencia, X es un valor contínuo, por lo que P(X) y P(X | w</a:t>
            </a:r>
            <a:r>
              <a:rPr lang="es-ES_tradnl" altLang="es-ES" sz="2800" baseline="-25000" smtClean="0"/>
              <a:t>i</a:t>
            </a:r>
            <a:r>
              <a:rPr lang="es-ES_tradnl" altLang="es-ES" sz="2800" smtClean="0"/>
              <a:t>) son funciones de densidad de probabilidad (Por ejemplo: X=altura)</a:t>
            </a:r>
            <a:endParaRPr lang="es-ES" altLang="es-ES" sz="2800" smtClean="0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 flipV="1">
            <a:off x="1143000" y="34290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609600" y="5715000"/>
            <a:ext cx="716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5366" name="Freeform 6"/>
          <p:cNvSpPr>
            <a:spLocks/>
          </p:cNvSpPr>
          <p:nvPr/>
        </p:nvSpPr>
        <p:spPr bwMode="auto">
          <a:xfrm>
            <a:off x="1981200" y="3903663"/>
            <a:ext cx="3505200" cy="1824037"/>
          </a:xfrm>
          <a:custGeom>
            <a:avLst/>
            <a:gdLst>
              <a:gd name="T0" fmla="*/ 0 w 2208"/>
              <a:gd name="T1" fmla="*/ 2147483646 h 1149"/>
              <a:gd name="T2" fmla="*/ 2147483646 w 2208"/>
              <a:gd name="T3" fmla="*/ 2147483646 h 1149"/>
              <a:gd name="T4" fmla="*/ 2147483646 w 2208"/>
              <a:gd name="T5" fmla="*/ 2147483646 h 1149"/>
              <a:gd name="T6" fmla="*/ 2147483646 w 2208"/>
              <a:gd name="T7" fmla="*/ 2147483646 h 1149"/>
              <a:gd name="T8" fmla="*/ 2147483646 w 2208"/>
              <a:gd name="T9" fmla="*/ 2147483646 h 1149"/>
              <a:gd name="T10" fmla="*/ 2147483646 w 2208"/>
              <a:gd name="T11" fmla="*/ 2147483646 h 1149"/>
              <a:gd name="T12" fmla="*/ 2147483646 w 2208"/>
              <a:gd name="T13" fmla="*/ 2147483646 h 1149"/>
              <a:gd name="T14" fmla="*/ 2147483646 w 2208"/>
              <a:gd name="T15" fmla="*/ 2147483646 h 1149"/>
              <a:gd name="T16" fmla="*/ 2147483646 w 2208"/>
              <a:gd name="T17" fmla="*/ 2147483646 h 1149"/>
              <a:gd name="T18" fmla="*/ 2147483646 w 2208"/>
              <a:gd name="T19" fmla="*/ 2147483646 h 1149"/>
              <a:gd name="T20" fmla="*/ 2147483646 w 2208"/>
              <a:gd name="T21" fmla="*/ 2147483646 h 1149"/>
              <a:gd name="T22" fmla="*/ 2147483646 w 2208"/>
              <a:gd name="T23" fmla="*/ 2147483646 h 1149"/>
              <a:gd name="T24" fmla="*/ 2147483646 w 2208"/>
              <a:gd name="T25" fmla="*/ 2147483646 h 11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208" h="1149">
                <a:moveTo>
                  <a:pt x="0" y="1141"/>
                </a:moveTo>
                <a:cubicBezTo>
                  <a:pt x="186" y="1141"/>
                  <a:pt x="373" y="1141"/>
                  <a:pt x="518" y="1093"/>
                </a:cubicBezTo>
                <a:cubicBezTo>
                  <a:pt x="663" y="1045"/>
                  <a:pt x="786" y="949"/>
                  <a:pt x="872" y="853"/>
                </a:cubicBezTo>
                <a:cubicBezTo>
                  <a:pt x="959" y="757"/>
                  <a:pt x="995" y="645"/>
                  <a:pt x="1036" y="517"/>
                </a:cubicBezTo>
                <a:cubicBezTo>
                  <a:pt x="1077" y="389"/>
                  <a:pt x="1078" y="160"/>
                  <a:pt x="1118" y="85"/>
                </a:cubicBezTo>
                <a:cubicBezTo>
                  <a:pt x="1158" y="10"/>
                  <a:pt x="1240" y="0"/>
                  <a:pt x="1279" y="68"/>
                </a:cubicBezTo>
                <a:cubicBezTo>
                  <a:pt x="1318" y="136"/>
                  <a:pt x="1330" y="388"/>
                  <a:pt x="1350" y="492"/>
                </a:cubicBezTo>
                <a:cubicBezTo>
                  <a:pt x="1370" y="596"/>
                  <a:pt x="1381" y="631"/>
                  <a:pt x="1397" y="691"/>
                </a:cubicBezTo>
                <a:cubicBezTo>
                  <a:pt x="1413" y="751"/>
                  <a:pt x="1419" y="802"/>
                  <a:pt x="1445" y="853"/>
                </a:cubicBezTo>
                <a:cubicBezTo>
                  <a:pt x="1471" y="904"/>
                  <a:pt x="1517" y="957"/>
                  <a:pt x="1554" y="997"/>
                </a:cubicBezTo>
                <a:cubicBezTo>
                  <a:pt x="1590" y="1037"/>
                  <a:pt x="1599" y="1069"/>
                  <a:pt x="1663" y="1093"/>
                </a:cubicBezTo>
                <a:cubicBezTo>
                  <a:pt x="1726" y="1117"/>
                  <a:pt x="1845" y="1133"/>
                  <a:pt x="1935" y="1141"/>
                </a:cubicBezTo>
                <a:cubicBezTo>
                  <a:pt x="2026" y="1149"/>
                  <a:pt x="2117" y="1145"/>
                  <a:pt x="2208" y="114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5367" name="Freeform 7"/>
          <p:cNvSpPr>
            <a:spLocks/>
          </p:cNvSpPr>
          <p:nvPr/>
        </p:nvSpPr>
        <p:spPr bwMode="auto">
          <a:xfrm>
            <a:off x="1066800" y="4851400"/>
            <a:ext cx="6096000" cy="863600"/>
          </a:xfrm>
          <a:custGeom>
            <a:avLst/>
            <a:gdLst>
              <a:gd name="T0" fmla="*/ 0 w 3840"/>
              <a:gd name="T1" fmla="*/ 2147483646 h 544"/>
              <a:gd name="T2" fmla="*/ 2147483646 w 3840"/>
              <a:gd name="T3" fmla="*/ 2147483646 h 544"/>
              <a:gd name="T4" fmla="*/ 2147483646 w 3840"/>
              <a:gd name="T5" fmla="*/ 2147483646 h 544"/>
              <a:gd name="T6" fmla="*/ 2147483646 w 3840"/>
              <a:gd name="T7" fmla="*/ 2147483646 h 544"/>
              <a:gd name="T8" fmla="*/ 2147483646 w 3840"/>
              <a:gd name="T9" fmla="*/ 2147483646 h 544"/>
              <a:gd name="T10" fmla="*/ 2147483646 w 3840"/>
              <a:gd name="T11" fmla="*/ 2147483646 h 544"/>
              <a:gd name="T12" fmla="*/ 2147483646 w 3840"/>
              <a:gd name="T13" fmla="*/ 2147483646 h 544"/>
              <a:gd name="T14" fmla="*/ 2147483646 w 3840"/>
              <a:gd name="T15" fmla="*/ 2147483646 h 544"/>
              <a:gd name="T16" fmla="*/ 2147483646 w 3840"/>
              <a:gd name="T17" fmla="*/ 2147483646 h 544"/>
              <a:gd name="T18" fmla="*/ 2147483646 w 3840"/>
              <a:gd name="T19" fmla="*/ 2147483646 h 544"/>
              <a:gd name="T20" fmla="*/ 2147483646 w 3840"/>
              <a:gd name="T21" fmla="*/ 2147483646 h 544"/>
              <a:gd name="T22" fmla="*/ 2147483646 w 3840"/>
              <a:gd name="T23" fmla="*/ 2147483646 h 544"/>
              <a:gd name="T24" fmla="*/ 2147483646 w 3840"/>
              <a:gd name="T25" fmla="*/ 2147483646 h 54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40" h="544">
                <a:moveTo>
                  <a:pt x="0" y="540"/>
                </a:moveTo>
                <a:cubicBezTo>
                  <a:pt x="324" y="540"/>
                  <a:pt x="651" y="544"/>
                  <a:pt x="901" y="517"/>
                </a:cubicBezTo>
                <a:cubicBezTo>
                  <a:pt x="1151" y="490"/>
                  <a:pt x="1360" y="423"/>
                  <a:pt x="1503" y="376"/>
                </a:cubicBezTo>
                <a:cubicBezTo>
                  <a:pt x="1646" y="329"/>
                  <a:pt x="1688" y="292"/>
                  <a:pt x="1761" y="235"/>
                </a:cubicBezTo>
                <a:cubicBezTo>
                  <a:pt x="1834" y="178"/>
                  <a:pt x="1877" y="66"/>
                  <a:pt x="1944" y="33"/>
                </a:cubicBezTo>
                <a:cubicBezTo>
                  <a:pt x="2011" y="0"/>
                  <a:pt x="2106" y="9"/>
                  <a:pt x="2161" y="36"/>
                </a:cubicBezTo>
                <a:cubicBezTo>
                  <a:pt x="2216" y="63"/>
                  <a:pt x="2241" y="148"/>
                  <a:pt x="2276" y="194"/>
                </a:cubicBezTo>
                <a:cubicBezTo>
                  <a:pt x="2311" y="240"/>
                  <a:pt x="2331" y="275"/>
                  <a:pt x="2370" y="310"/>
                </a:cubicBezTo>
                <a:cubicBezTo>
                  <a:pt x="2410" y="344"/>
                  <a:pt x="2457" y="375"/>
                  <a:pt x="2513" y="402"/>
                </a:cubicBezTo>
                <a:cubicBezTo>
                  <a:pt x="2568" y="429"/>
                  <a:pt x="2639" y="452"/>
                  <a:pt x="2702" y="471"/>
                </a:cubicBezTo>
                <a:cubicBezTo>
                  <a:pt x="2765" y="490"/>
                  <a:pt x="2781" y="506"/>
                  <a:pt x="2892" y="517"/>
                </a:cubicBezTo>
                <a:cubicBezTo>
                  <a:pt x="3002" y="529"/>
                  <a:pt x="3208" y="536"/>
                  <a:pt x="3366" y="540"/>
                </a:cubicBezTo>
                <a:cubicBezTo>
                  <a:pt x="3524" y="544"/>
                  <a:pt x="3682" y="542"/>
                  <a:pt x="3840" y="54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4648200" y="4572000"/>
            <a:ext cx="1160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4021138" y="3581400"/>
            <a:ext cx="1160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7375525" y="5146675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X</a:t>
            </a:r>
            <a:endParaRPr lang="es-ES" altLang="es-ES" sz="2400"/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1203325" y="3394075"/>
            <a:ext cx="130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</a:t>
            </a:r>
            <a:r>
              <a:rPr lang="es-ES_tradnl" altLang="es-ES" sz="2400" baseline="-25000"/>
              <a:t>condicional</a:t>
            </a:r>
            <a:endParaRPr lang="es-ES" altLang="es-E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Cómo seleccionar una hipótesis</a:t>
            </a:r>
            <a:endParaRPr lang="es-ES" altLang="es-ES" smtClean="0"/>
          </a:p>
        </p:txBody>
      </p:sp>
      <p:sp>
        <p:nvSpPr>
          <p:cNvPr id="16387" name="Line 4"/>
          <p:cNvSpPr>
            <a:spLocks noChangeShapeType="1"/>
          </p:cNvSpPr>
          <p:nvPr/>
        </p:nvSpPr>
        <p:spPr bwMode="auto">
          <a:xfrm flipV="1">
            <a:off x="838200" y="27432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6388" name="Line 5"/>
          <p:cNvSpPr>
            <a:spLocks noChangeShapeType="1"/>
          </p:cNvSpPr>
          <p:nvPr/>
        </p:nvSpPr>
        <p:spPr bwMode="auto">
          <a:xfrm>
            <a:off x="304800" y="5029200"/>
            <a:ext cx="716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6389" name="Freeform 6"/>
          <p:cNvSpPr>
            <a:spLocks/>
          </p:cNvSpPr>
          <p:nvPr/>
        </p:nvSpPr>
        <p:spPr bwMode="auto">
          <a:xfrm>
            <a:off x="4083050" y="3192463"/>
            <a:ext cx="2514600" cy="1824037"/>
          </a:xfrm>
          <a:custGeom>
            <a:avLst/>
            <a:gdLst>
              <a:gd name="T0" fmla="*/ 0 w 2208"/>
              <a:gd name="T1" fmla="*/ 2147483646 h 1149"/>
              <a:gd name="T2" fmla="*/ 2147483646 w 2208"/>
              <a:gd name="T3" fmla="*/ 2147483646 h 1149"/>
              <a:gd name="T4" fmla="*/ 2147483646 w 2208"/>
              <a:gd name="T5" fmla="*/ 2147483646 h 1149"/>
              <a:gd name="T6" fmla="*/ 2147483646 w 2208"/>
              <a:gd name="T7" fmla="*/ 2147483646 h 1149"/>
              <a:gd name="T8" fmla="*/ 2147483646 w 2208"/>
              <a:gd name="T9" fmla="*/ 2147483646 h 1149"/>
              <a:gd name="T10" fmla="*/ 2147483646 w 2208"/>
              <a:gd name="T11" fmla="*/ 2147483646 h 1149"/>
              <a:gd name="T12" fmla="*/ 2147483646 w 2208"/>
              <a:gd name="T13" fmla="*/ 2147483646 h 1149"/>
              <a:gd name="T14" fmla="*/ 2147483646 w 2208"/>
              <a:gd name="T15" fmla="*/ 2147483646 h 1149"/>
              <a:gd name="T16" fmla="*/ 2147483646 w 2208"/>
              <a:gd name="T17" fmla="*/ 2147483646 h 1149"/>
              <a:gd name="T18" fmla="*/ 2147483646 w 2208"/>
              <a:gd name="T19" fmla="*/ 2147483646 h 1149"/>
              <a:gd name="T20" fmla="*/ 2147483646 w 2208"/>
              <a:gd name="T21" fmla="*/ 2147483646 h 1149"/>
              <a:gd name="T22" fmla="*/ 2147483646 w 2208"/>
              <a:gd name="T23" fmla="*/ 2147483646 h 1149"/>
              <a:gd name="T24" fmla="*/ 2147483646 w 2208"/>
              <a:gd name="T25" fmla="*/ 2147483646 h 11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208" h="1149">
                <a:moveTo>
                  <a:pt x="0" y="1141"/>
                </a:moveTo>
                <a:cubicBezTo>
                  <a:pt x="186" y="1141"/>
                  <a:pt x="373" y="1141"/>
                  <a:pt x="518" y="1093"/>
                </a:cubicBezTo>
                <a:cubicBezTo>
                  <a:pt x="663" y="1045"/>
                  <a:pt x="786" y="949"/>
                  <a:pt x="872" y="853"/>
                </a:cubicBezTo>
                <a:cubicBezTo>
                  <a:pt x="959" y="757"/>
                  <a:pt x="995" y="645"/>
                  <a:pt x="1036" y="517"/>
                </a:cubicBezTo>
                <a:cubicBezTo>
                  <a:pt x="1077" y="389"/>
                  <a:pt x="1078" y="160"/>
                  <a:pt x="1118" y="85"/>
                </a:cubicBezTo>
                <a:cubicBezTo>
                  <a:pt x="1158" y="10"/>
                  <a:pt x="1240" y="0"/>
                  <a:pt x="1279" y="68"/>
                </a:cubicBezTo>
                <a:cubicBezTo>
                  <a:pt x="1318" y="136"/>
                  <a:pt x="1330" y="388"/>
                  <a:pt x="1350" y="492"/>
                </a:cubicBezTo>
                <a:cubicBezTo>
                  <a:pt x="1370" y="596"/>
                  <a:pt x="1381" y="631"/>
                  <a:pt x="1397" y="691"/>
                </a:cubicBezTo>
                <a:cubicBezTo>
                  <a:pt x="1413" y="751"/>
                  <a:pt x="1419" y="802"/>
                  <a:pt x="1445" y="853"/>
                </a:cubicBezTo>
                <a:cubicBezTo>
                  <a:pt x="1471" y="904"/>
                  <a:pt x="1517" y="957"/>
                  <a:pt x="1554" y="997"/>
                </a:cubicBezTo>
                <a:cubicBezTo>
                  <a:pt x="1590" y="1037"/>
                  <a:pt x="1599" y="1069"/>
                  <a:pt x="1663" y="1093"/>
                </a:cubicBezTo>
                <a:cubicBezTo>
                  <a:pt x="1726" y="1117"/>
                  <a:pt x="1845" y="1133"/>
                  <a:pt x="1935" y="1141"/>
                </a:cubicBezTo>
                <a:cubicBezTo>
                  <a:pt x="2026" y="1149"/>
                  <a:pt x="2117" y="1145"/>
                  <a:pt x="2208" y="1141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6390" name="Freeform 7"/>
          <p:cNvSpPr>
            <a:spLocks/>
          </p:cNvSpPr>
          <p:nvPr/>
        </p:nvSpPr>
        <p:spPr bwMode="auto">
          <a:xfrm>
            <a:off x="762000" y="4165600"/>
            <a:ext cx="6096000" cy="863600"/>
          </a:xfrm>
          <a:custGeom>
            <a:avLst/>
            <a:gdLst>
              <a:gd name="T0" fmla="*/ 0 w 3840"/>
              <a:gd name="T1" fmla="*/ 2147483646 h 544"/>
              <a:gd name="T2" fmla="*/ 2147483646 w 3840"/>
              <a:gd name="T3" fmla="*/ 2147483646 h 544"/>
              <a:gd name="T4" fmla="*/ 2147483646 w 3840"/>
              <a:gd name="T5" fmla="*/ 2147483646 h 544"/>
              <a:gd name="T6" fmla="*/ 2147483646 w 3840"/>
              <a:gd name="T7" fmla="*/ 2147483646 h 544"/>
              <a:gd name="T8" fmla="*/ 2147483646 w 3840"/>
              <a:gd name="T9" fmla="*/ 2147483646 h 544"/>
              <a:gd name="T10" fmla="*/ 2147483646 w 3840"/>
              <a:gd name="T11" fmla="*/ 2147483646 h 544"/>
              <a:gd name="T12" fmla="*/ 2147483646 w 3840"/>
              <a:gd name="T13" fmla="*/ 2147483646 h 544"/>
              <a:gd name="T14" fmla="*/ 2147483646 w 3840"/>
              <a:gd name="T15" fmla="*/ 2147483646 h 544"/>
              <a:gd name="T16" fmla="*/ 2147483646 w 3840"/>
              <a:gd name="T17" fmla="*/ 2147483646 h 544"/>
              <a:gd name="T18" fmla="*/ 2147483646 w 3840"/>
              <a:gd name="T19" fmla="*/ 2147483646 h 544"/>
              <a:gd name="T20" fmla="*/ 2147483646 w 3840"/>
              <a:gd name="T21" fmla="*/ 2147483646 h 544"/>
              <a:gd name="T22" fmla="*/ 2147483646 w 3840"/>
              <a:gd name="T23" fmla="*/ 2147483646 h 544"/>
              <a:gd name="T24" fmla="*/ 2147483646 w 3840"/>
              <a:gd name="T25" fmla="*/ 2147483646 h 54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40" h="544">
                <a:moveTo>
                  <a:pt x="0" y="540"/>
                </a:moveTo>
                <a:cubicBezTo>
                  <a:pt x="324" y="540"/>
                  <a:pt x="651" y="544"/>
                  <a:pt x="901" y="517"/>
                </a:cubicBezTo>
                <a:cubicBezTo>
                  <a:pt x="1151" y="490"/>
                  <a:pt x="1360" y="423"/>
                  <a:pt x="1503" y="376"/>
                </a:cubicBezTo>
                <a:cubicBezTo>
                  <a:pt x="1646" y="329"/>
                  <a:pt x="1688" y="292"/>
                  <a:pt x="1761" y="235"/>
                </a:cubicBezTo>
                <a:cubicBezTo>
                  <a:pt x="1834" y="178"/>
                  <a:pt x="1877" y="66"/>
                  <a:pt x="1944" y="33"/>
                </a:cubicBezTo>
                <a:cubicBezTo>
                  <a:pt x="2011" y="0"/>
                  <a:pt x="2106" y="9"/>
                  <a:pt x="2161" y="36"/>
                </a:cubicBezTo>
                <a:cubicBezTo>
                  <a:pt x="2216" y="63"/>
                  <a:pt x="2241" y="148"/>
                  <a:pt x="2276" y="194"/>
                </a:cubicBezTo>
                <a:cubicBezTo>
                  <a:pt x="2311" y="240"/>
                  <a:pt x="2331" y="275"/>
                  <a:pt x="2370" y="310"/>
                </a:cubicBezTo>
                <a:cubicBezTo>
                  <a:pt x="2410" y="344"/>
                  <a:pt x="2457" y="375"/>
                  <a:pt x="2513" y="402"/>
                </a:cubicBezTo>
                <a:cubicBezTo>
                  <a:pt x="2568" y="429"/>
                  <a:pt x="2639" y="452"/>
                  <a:pt x="2702" y="471"/>
                </a:cubicBezTo>
                <a:cubicBezTo>
                  <a:pt x="2765" y="490"/>
                  <a:pt x="2781" y="506"/>
                  <a:pt x="2892" y="517"/>
                </a:cubicBezTo>
                <a:cubicBezTo>
                  <a:pt x="3002" y="529"/>
                  <a:pt x="3208" y="536"/>
                  <a:pt x="3366" y="540"/>
                </a:cubicBezTo>
                <a:cubicBezTo>
                  <a:pt x="3524" y="544"/>
                  <a:pt x="3682" y="542"/>
                  <a:pt x="3840" y="540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6391" name="Text Box 8"/>
          <p:cNvSpPr txBox="1">
            <a:spLocks noChangeArrowheads="1"/>
          </p:cNvSpPr>
          <p:nvPr/>
        </p:nvSpPr>
        <p:spPr bwMode="auto">
          <a:xfrm>
            <a:off x="1371600" y="4267200"/>
            <a:ext cx="2008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)*P(w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6392" name="Line 12"/>
          <p:cNvSpPr>
            <a:spLocks noChangeShapeType="1"/>
          </p:cNvSpPr>
          <p:nvPr/>
        </p:nvSpPr>
        <p:spPr bwMode="auto">
          <a:xfrm>
            <a:off x="4857750" y="4140200"/>
            <a:ext cx="0" cy="1752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6393" name="Line 14"/>
          <p:cNvSpPr>
            <a:spLocks noChangeShapeType="1"/>
          </p:cNvSpPr>
          <p:nvPr/>
        </p:nvSpPr>
        <p:spPr bwMode="auto">
          <a:xfrm>
            <a:off x="2343150" y="5565775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6394" name="Line 15"/>
          <p:cNvSpPr>
            <a:spLocks noChangeShapeType="1"/>
          </p:cNvSpPr>
          <p:nvPr/>
        </p:nvSpPr>
        <p:spPr bwMode="auto">
          <a:xfrm flipH="1">
            <a:off x="4865688" y="55626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6395" name="Text Box 17"/>
          <p:cNvSpPr txBox="1">
            <a:spLocks noChangeArrowheads="1"/>
          </p:cNvSpPr>
          <p:nvPr/>
        </p:nvSpPr>
        <p:spPr bwMode="auto">
          <a:xfrm>
            <a:off x="2720975" y="5751513"/>
            <a:ext cx="1089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Clase 1</a:t>
            </a:r>
            <a:endParaRPr lang="es-ES" altLang="es-ES" sz="2400"/>
          </a:p>
        </p:txBody>
      </p:sp>
      <p:sp>
        <p:nvSpPr>
          <p:cNvPr id="16396" name="Text Box 18"/>
          <p:cNvSpPr txBox="1">
            <a:spLocks noChangeArrowheads="1"/>
          </p:cNvSpPr>
          <p:nvPr/>
        </p:nvSpPr>
        <p:spPr bwMode="auto">
          <a:xfrm>
            <a:off x="5811838" y="5751513"/>
            <a:ext cx="10985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Clase 2</a:t>
            </a:r>
            <a:endParaRPr lang="es-ES" altLang="es-ES" sz="2400"/>
          </a:p>
        </p:txBody>
      </p:sp>
      <p:sp>
        <p:nvSpPr>
          <p:cNvPr id="16397" name="Text Box 20"/>
          <p:cNvSpPr txBox="1">
            <a:spLocks noChangeArrowheads="1"/>
          </p:cNvSpPr>
          <p:nvPr/>
        </p:nvSpPr>
        <p:spPr bwMode="auto">
          <a:xfrm>
            <a:off x="6910388" y="46132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X</a:t>
            </a:r>
            <a:endParaRPr lang="es-ES" altLang="es-ES" sz="2400"/>
          </a:p>
        </p:txBody>
      </p:sp>
      <p:sp>
        <p:nvSpPr>
          <p:cNvPr id="16398" name="Text Box 21"/>
          <p:cNvSpPr txBox="1">
            <a:spLocks noChangeArrowheads="1"/>
          </p:cNvSpPr>
          <p:nvPr/>
        </p:nvSpPr>
        <p:spPr bwMode="auto">
          <a:xfrm>
            <a:off x="822325" y="2373313"/>
            <a:ext cx="1670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>
                <a:sym typeface="Symbol" panose="05050102010706020507" pitchFamily="18" charset="2"/>
              </a:rPr>
              <a:t> </a:t>
            </a:r>
            <a:r>
              <a:rPr lang="es-ES_tradnl" altLang="es-ES" sz="2400"/>
              <a:t>P</a:t>
            </a:r>
            <a:r>
              <a:rPr lang="es-ES_tradnl" altLang="es-ES" sz="2400" baseline="-25000"/>
              <a:t>a posteriori</a:t>
            </a:r>
            <a:endParaRPr lang="es-ES" altLang="es-ES" sz="2400" baseline="-25000"/>
          </a:p>
        </p:txBody>
      </p:sp>
      <p:sp>
        <p:nvSpPr>
          <p:cNvPr id="16399" name="Text Box 22"/>
          <p:cNvSpPr txBox="1">
            <a:spLocks noChangeArrowheads="1"/>
          </p:cNvSpPr>
          <p:nvPr/>
        </p:nvSpPr>
        <p:spPr bwMode="auto">
          <a:xfrm>
            <a:off x="5676900" y="3216275"/>
            <a:ext cx="2008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)*P(w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Cómo seleccionar una hipótesis</a:t>
            </a:r>
            <a:endParaRPr lang="es-ES" altLang="es-ES" smtClean="0"/>
          </a:p>
        </p:txBody>
      </p:sp>
      <p:sp>
        <p:nvSpPr>
          <p:cNvPr id="17411" name="Line 4"/>
          <p:cNvSpPr>
            <a:spLocks noChangeShapeType="1"/>
          </p:cNvSpPr>
          <p:nvPr/>
        </p:nvSpPr>
        <p:spPr bwMode="auto">
          <a:xfrm flipV="1">
            <a:off x="838200" y="27432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7412" name="Line 5"/>
          <p:cNvSpPr>
            <a:spLocks noChangeShapeType="1"/>
          </p:cNvSpPr>
          <p:nvPr/>
        </p:nvSpPr>
        <p:spPr bwMode="auto">
          <a:xfrm>
            <a:off x="304800" y="5029200"/>
            <a:ext cx="716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7413" name="Freeform 6"/>
          <p:cNvSpPr>
            <a:spLocks/>
          </p:cNvSpPr>
          <p:nvPr/>
        </p:nvSpPr>
        <p:spPr bwMode="auto">
          <a:xfrm>
            <a:off x="2743200" y="3217863"/>
            <a:ext cx="2514600" cy="1824037"/>
          </a:xfrm>
          <a:custGeom>
            <a:avLst/>
            <a:gdLst>
              <a:gd name="T0" fmla="*/ 0 w 2208"/>
              <a:gd name="T1" fmla="*/ 2147483646 h 1149"/>
              <a:gd name="T2" fmla="*/ 2147483646 w 2208"/>
              <a:gd name="T3" fmla="*/ 2147483646 h 1149"/>
              <a:gd name="T4" fmla="*/ 2147483646 w 2208"/>
              <a:gd name="T5" fmla="*/ 2147483646 h 1149"/>
              <a:gd name="T6" fmla="*/ 2147483646 w 2208"/>
              <a:gd name="T7" fmla="*/ 2147483646 h 1149"/>
              <a:gd name="T8" fmla="*/ 2147483646 w 2208"/>
              <a:gd name="T9" fmla="*/ 2147483646 h 1149"/>
              <a:gd name="T10" fmla="*/ 2147483646 w 2208"/>
              <a:gd name="T11" fmla="*/ 2147483646 h 1149"/>
              <a:gd name="T12" fmla="*/ 2147483646 w 2208"/>
              <a:gd name="T13" fmla="*/ 2147483646 h 1149"/>
              <a:gd name="T14" fmla="*/ 2147483646 w 2208"/>
              <a:gd name="T15" fmla="*/ 2147483646 h 1149"/>
              <a:gd name="T16" fmla="*/ 2147483646 w 2208"/>
              <a:gd name="T17" fmla="*/ 2147483646 h 1149"/>
              <a:gd name="T18" fmla="*/ 2147483646 w 2208"/>
              <a:gd name="T19" fmla="*/ 2147483646 h 1149"/>
              <a:gd name="T20" fmla="*/ 2147483646 w 2208"/>
              <a:gd name="T21" fmla="*/ 2147483646 h 1149"/>
              <a:gd name="T22" fmla="*/ 2147483646 w 2208"/>
              <a:gd name="T23" fmla="*/ 2147483646 h 1149"/>
              <a:gd name="T24" fmla="*/ 2147483646 w 2208"/>
              <a:gd name="T25" fmla="*/ 2147483646 h 11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208" h="1149">
                <a:moveTo>
                  <a:pt x="0" y="1141"/>
                </a:moveTo>
                <a:cubicBezTo>
                  <a:pt x="186" y="1141"/>
                  <a:pt x="373" y="1141"/>
                  <a:pt x="518" y="1093"/>
                </a:cubicBezTo>
                <a:cubicBezTo>
                  <a:pt x="663" y="1045"/>
                  <a:pt x="786" y="949"/>
                  <a:pt x="872" y="853"/>
                </a:cubicBezTo>
                <a:cubicBezTo>
                  <a:pt x="959" y="757"/>
                  <a:pt x="995" y="645"/>
                  <a:pt x="1036" y="517"/>
                </a:cubicBezTo>
                <a:cubicBezTo>
                  <a:pt x="1077" y="389"/>
                  <a:pt x="1078" y="160"/>
                  <a:pt x="1118" y="85"/>
                </a:cubicBezTo>
                <a:cubicBezTo>
                  <a:pt x="1158" y="10"/>
                  <a:pt x="1240" y="0"/>
                  <a:pt x="1279" y="68"/>
                </a:cubicBezTo>
                <a:cubicBezTo>
                  <a:pt x="1318" y="136"/>
                  <a:pt x="1330" y="388"/>
                  <a:pt x="1350" y="492"/>
                </a:cubicBezTo>
                <a:cubicBezTo>
                  <a:pt x="1370" y="596"/>
                  <a:pt x="1381" y="631"/>
                  <a:pt x="1397" y="691"/>
                </a:cubicBezTo>
                <a:cubicBezTo>
                  <a:pt x="1413" y="751"/>
                  <a:pt x="1419" y="802"/>
                  <a:pt x="1445" y="853"/>
                </a:cubicBezTo>
                <a:cubicBezTo>
                  <a:pt x="1471" y="904"/>
                  <a:pt x="1517" y="957"/>
                  <a:pt x="1554" y="997"/>
                </a:cubicBezTo>
                <a:cubicBezTo>
                  <a:pt x="1590" y="1037"/>
                  <a:pt x="1599" y="1069"/>
                  <a:pt x="1663" y="1093"/>
                </a:cubicBezTo>
                <a:cubicBezTo>
                  <a:pt x="1726" y="1117"/>
                  <a:pt x="1845" y="1133"/>
                  <a:pt x="1935" y="1141"/>
                </a:cubicBezTo>
                <a:cubicBezTo>
                  <a:pt x="2026" y="1149"/>
                  <a:pt x="2117" y="1145"/>
                  <a:pt x="2208" y="1141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7414" name="Freeform 7"/>
          <p:cNvSpPr>
            <a:spLocks/>
          </p:cNvSpPr>
          <p:nvPr/>
        </p:nvSpPr>
        <p:spPr bwMode="auto">
          <a:xfrm>
            <a:off x="762000" y="4165600"/>
            <a:ext cx="6096000" cy="863600"/>
          </a:xfrm>
          <a:custGeom>
            <a:avLst/>
            <a:gdLst>
              <a:gd name="T0" fmla="*/ 0 w 3840"/>
              <a:gd name="T1" fmla="*/ 2147483646 h 544"/>
              <a:gd name="T2" fmla="*/ 2147483646 w 3840"/>
              <a:gd name="T3" fmla="*/ 2147483646 h 544"/>
              <a:gd name="T4" fmla="*/ 2147483646 w 3840"/>
              <a:gd name="T5" fmla="*/ 2147483646 h 544"/>
              <a:gd name="T6" fmla="*/ 2147483646 w 3840"/>
              <a:gd name="T7" fmla="*/ 2147483646 h 544"/>
              <a:gd name="T8" fmla="*/ 2147483646 w 3840"/>
              <a:gd name="T9" fmla="*/ 2147483646 h 544"/>
              <a:gd name="T10" fmla="*/ 2147483646 w 3840"/>
              <a:gd name="T11" fmla="*/ 2147483646 h 544"/>
              <a:gd name="T12" fmla="*/ 2147483646 w 3840"/>
              <a:gd name="T13" fmla="*/ 2147483646 h 544"/>
              <a:gd name="T14" fmla="*/ 2147483646 w 3840"/>
              <a:gd name="T15" fmla="*/ 2147483646 h 544"/>
              <a:gd name="T16" fmla="*/ 2147483646 w 3840"/>
              <a:gd name="T17" fmla="*/ 2147483646 h 544"/>
              <a:gd name="T18" fmla="*/ 2147483646 w 3840"/>
              <a:gd name="T19" fmla="*/ 2147483646 h 544"/>
              <a:gd name="T20" fmla="*/ 2147483646 w 3840"/>
              <a:gd name="T21" fmla="*/ 2147483646 h 544"/>
              <a:gd name="T22" fmla="*/ 2147483646 w 3840"/>
              <a:gd name="T23" fmla="*/ 2147483646 h 544"/>
              <a:gd name="T24" fmla="*/ 2147483646 w 3840"/>
              <a:gd name="T25" fmla="*/ 2147483646 h 54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40" h="544">
                <a:moveTo>
                  <a:pt x="0" y="540"/>
                </a:moveTo>
                <a:cubicBezTo>
                  <a:pt x="324" y="540"/>
                  <a:pt x="651" y="544"/>
                  <a:pt x="901" y="517"/>
                </a:cubicBezTo>
                <a:cubicBezTo>
                  <a:pt x="1151" y="490"/>
                  <a:pt x="1360" y="423"/>
                  <a:pt x="1503" y="376"/>
                </a:cubicBezTo>
                <a:cubicBezTo>
                  <a:pt x="1646" y="329"/>
                  <a:pt x="1688" y="292"/>
                  <a:pt x="1761" y="235"/>
                </a:cubicBezTo>
                <a:cubicBezTo>
                  <a:pt x="1834" y="178"/>
                  <a:pt x="1877" y="66"/>
                  <a:pt x="1944" y="33"/>
                </a:cubicBezTo>
                <a:cubicBezTo>
                  <a:pt x="2011" y="0"/>
                  <a:pt x="2106" y="9"/>
                  <a:pt x="2161" y="36"/>
                </a:cubicBezTo>
                <a:cubicBezTo>
                  <a:pt x="2216" y="63"/>
                  <a:pt x="2241" y="148"/>
                  <a:pt x="2276" y="194"/>
                </a:cubicBezTo>
                <a:cubicBezTo>
                  <a:pt x="2311" y="240"/>
                  <a:pt x="2331" y="275"/>
                  <a:pt x="2370" y="310"/>
                </a:cubicBezTo>
                <a:cubicBezTo>
                  <a:pt x="2410" y="344"/>
                  <a:pt x="2457" y="375"/>
                  <a:pt x="2513" y="402"/>
                </a:cubicBezTo>
                <a:cubicBezTo>
                  <a:pt x="2568" y="429"/>
                  <a:pt x="2639" y="452"/>
                  <a:pt x="2702" y="471"/>
                </a:cubicBezTo>
                <a:cubicBezTo>
                  <a:pt x="2765" y="490"/>
                  <a:pt x="2781" y="506"/>
                  <a:pt x="2892" y="517"/>
                </a:cubicBezTo>
                <a:cubicBezTo>
                  <a:pt x="3002" y="529"/>
                  <a:pt x="3208" y="536"/>
                  <a:pt x="3366" y="540"/>
                </a:cubicBezTo>
                <a:cubicBezTo>
                  <a:pt x="3524" y="544"/>
                  <a:pt x="3682" y="542"/>
                  <a:pt x="3840" y="540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7415" name="Text Box 8"/>
          <p:cNvSpPr txBox="1">
            <a:spLocks noChangeArrowheads="1"/>
          </p:cNvSpPr>
          <p:nvPr/>
        </p:nvSpPr>
        <p:spPr bwMode="auto">
          <a:xfrm>
            <a:off x="1371600" y="4267200"/>
            <a:ext cx="2008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)*P(w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7416" name="Line 11"/>
          <p:cNvSpPr>
            <a:spLocks noChangeShapeType="1"/>
          </p:cNvSpPr>
          <p:nvPr/>
        </p:nvSpPr>
        <p:spPr bwMode="auto">
          <a:xfrm>
            <a:off x="3886200" y="41910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7417" name="Line 12"/>
          <p:cNvSpPr>
            <a:spLocks noChangeShapeType="1"/>
          </p:cNvSpPr>
          <p:nvPr/>
        </p:nvSpPr>
        <p:spPr bwMode="auto">
          <a:xfrm>
            <a:off x="4343400" y="41910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7418" name="Line 14"/>
          <p:cNvSpPr>
            <a:spLocks noChangeShapeType="1"/>
          </p:cNvSpPr>
          <p:nvPr/>
        </p:nvSpPr>
        <p:spPr bwMode="auto">
          <a:xfrm>
            <a:off x="1371600" y="5562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7419" name="Line 15"/>
          <p:cNvSpPr>
            <a:spLocks noChangeShapeType="1"/>
          </p:cNvSpPr>
          <p:nvPr/>
        </p:nvSpPr>
        <p:spPr bwMode="auto">
          <a:xfrm flipH="1">
            <a:off x="4267200" y="55626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7420" name="Line 16"/>
          <p:cNvSpPr>
            <a:spLocks noChangeShapeType="1"/>
          </p:cNvSpPr>
          <p:nvPr/>
        </p:nvSpPr>
        <p:spPr bwMode="auto">
          <a:xfrm>
            <a:off x="3886200" y="5562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7421" name="Text Box 17"/>
          <p:cNvSpPr txBox="1">
            <a:spLocks noChangeArrowheads="1"/>
          </p:cNvSpPr>
          <p:nvPr/>
        </p:nvSpPr>
        <p:spPr bwMode="auto">
          <a:xfrm>
            <a:off x="1965325" y="5791200"/>
            <a:ext cx="1089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Clase 1</a:t>
            </a:r>
            <a:endParaRPr lang="es-ES" altLang="es-ES" sz="2400"/>
          </a:p>
        </p:txBody>
      </p:sp>
      <p:sp>
        <p:nvSpPr>
          <p:cNvPr id="17422" name="Text Box 18"/>
          <p:cNvSpPr txBox="1">
            <a:spLocks noChangeArrowheads="1"/>
          </p:cNvSpPr>
          <p:nvPr/>
        </p:nvSpPr>
        <p:spPr bwMode="auto">
          <a:xfrm>
            <a:off x="5105400" y="5791200"/>
            <a:ext cx="1089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Clase 1</a:t>
            </a:r>
            <a:endParaRPr lang="es-ES" altLang="es-ES" sz="2400"/>
          </a:p>
        </p:txBody>
      </p:sp>
      <p:sp>
        <p:nvSpPr>
          <p:cNvPr id="17423" name="Text Box 19"/>
          <p:cNvSpPr txBox="1">
            <a:spLocks noChangeArrowheads="1"/>
          </p:cNvSpPr>
          <p:nvPr/>
        </p:nvSpPr>
        <p:spPr bwMode="auto">
          <a:xfrm>
            <a:off x="3581400" y="5791200"/>
            <a:ext cx="1089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Clase 2</a:t>
            </a:r>
            <a:endParaRPr lang="es-ES" altLang="es-ES" sz="2400"/>
          </a:p>
        </p:txBody>
      </p:sp>
      <p:sp>
        <p:nvSpPr>
          <p:cNvPr id="17424" name="Text Box 20"/>
          <p:cNvSpPr txBox="1">
            <a:spLocks noChangeArrowheads="1"/>
          </p:cNvSpPr>
          <p:nvPr/>
        </p:nvSpPr>
        <p:spPr bwMode="auto">
          <a:xfrm>
            <a:off x="6910388" y="46132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X</a:t>
            </a:r>
            <a:endParaRPr lang="es-ES" altLang="es-ES" sz="2400"/>
          </a:p>
        </p:txBody>
      </p:sp>
      <p:sp>
        <p:nvSpPr>
          <p:cNvPr id="17425" name="Text Box 21"/>
          <p:cNvSpPr txBox="1">
            <a:spLocks noChangeArrowheads="1"/>
          </p:cNvSpPr>
          <p:nvPr/>
        </p:nvSpPr>
        <p:spPr bwMode="auto">
          <a:xfrm>
            <a:off x="822325" y="2373313"/>
            <a:ext cx="1670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>
                <a:sym typeface="Symbol" panose="05050102010706020507" pitchFamily="18" charset="2"/>
              </a:rPr>
              <a:t> </a:t>
            </a:r>
            <a:r>
              <a:rPr lang="es-ES_tradnl" altLang="es-ES" sz="2400"/>
              <a:t>P</a:t>
            </a:r>
            <a:r>
              <a:rPr lang="es-ES_tradnl" altLang="es-ES" sz="2400" baseline="-25000"/>
              <a:t>a posteriori</a:t>
            </a:r>
            <a:endParaRPr lang="es-ES" altLang="es-ES" sz="2400" baseline="-25000"/>
          </a:p>
        </p:txBody>
      </p:sp>
      <p:sp>
        <p:nvSpPr>
          <p:cNvPr id="17426" name="Text Box 22"/>
          <p:cNvSpPr txBox="1">
            <a:spLocks noChangeArrowheads="1"/>
          </p:cNvSpPr>
          <p:nvPr/>
        </p:nvSpPr>
        <p:spPr bwMode="auto">
          <a:xfrm>
            <a:off x="4267200" y="3048000"/>
            <a:ext cx="2008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)*P(w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smtClean="0"/>
              <a:t>La estimación de densidad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34350" cy="48768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s-ES" altLang="es-ES" smtClean="0"/>
              <a:t>Para realizar un clasificador bayesiano es, por tanto,  preciso estimar, con la máxima precisión, los valores de: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s-ES" altLang="es-ES" smtClean="0"/>
              <a:t>P(w</a:t>
            </a:r>
            <a:r>
              <a:rPr lang="es-ES" altLang="es-ES" baseline="-25000" smtClean="0"/>
              <a:t>i</a:t>
            </a:r>
            <a:r>
              <a:rPr lang="es-ES" altLang="es-ES" smtClean="0"/>
              <a:t>) : se suelen estimar simplemente contando la proporción de datos de cada clase en los datos de entrenamiento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s-ES" altLang="es-ES" smtClean="0"/>
              <a:t>P(X|w</a:t>
            </a:r>
            <a:r>
              <a:rPr lang="es-ES" altLang="es-ES" baseline="-25000" smtClean="0"/>
              <a:t>i</a:t>
            </a:r>
            <a:r>
              <a:rPr lang="es-ES" altLang="es-ES" smtClean="0"/>
              <a:t>) : es un área muy compleja dentro del reconocimiento de patrones, estadística y aprendizaje automático que trataremos de forma independiente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AutoNum type="arabicPeriod"/>
            </a:pPr>
            <a:endParaRPr lang="es-ES" alt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3" name="Freeform 21"/>
          <p:cNvSpPr>
            <a:spLocks/>
          </p:cNvSpPr>
          <p:nvPr/>
        </p:nvSpPr>
        <p:spPr bwMode="auto">
          <a:xfrm>
            <a:off x="3405188" y="4610100"/>
            <a:ext cx="1238250" cy="414338"/>
          </a:xfrm>
          <a:custGeom>
            <a:avLst/>
            <a:gdLst>
              <a:gd name="T0" fmla="*/ 0 w 780"/>
              <a:gd name="T1" fmla="*/ 255 h 261"/>
              <a:gd name="T2" fmla="*/ 219 w 780"/>
              <a:gd name="T3" fmla="*/ 237 h 261"/>
              <a:gd name="T4" fmla="*/ 441 w 780"/>
              <a:gd name="T5" fmla="*/ 177 h 261"/>
              <a:gd name="T6" fmla="*/ 624 w 780"/>
              <a:gd name="T7" fmla="*/ 102 h 261"/>
              <a:gd name="T8" fmla="*/ 780 w 780"/>
              <a:gd name="T9" fmla="*/ 0 h 261"/>
              <a:gd name="T10" fmla="*/ 780 w 780"/>
              <a:gd name="T11" fmla="*/ 141 h 261"/>
              <a:gd name="T12" fmla="*/ 780 w 780"/>
              <a:gd name="T13" fmla="*/ 261 h 261"/>
              <a:gd name="T14" fmla="*/ 0 w 780"/>
              <a:gd name="T15" fmla="*/ 255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80" h="261">
                <a:moveTo>
                  <a:pt x="0" y="255"/>
                </a:moveTo>
                <a:lnTo>
                  <a:pt x="219" y="237"/>
                </a:lnTo>
                <a:lnTo>
                  <a:pt x="441" y="177"/>
                </a:lnTo>
                <a:lnTo>
                  <a:pt x="624" y="102"/>
                </a:lnTo>
                <a:lnTo>
                  <a:pt x="780" y="0"/>
                </a:lnTo>
                <a:lnTo>
                  <a:pt x="780" y="141"/>
                </a:lnTo>
                <a:lnTo>
                  <a:pt x="780" y="261"/>
                </a:lnTo>
                <a:lnTo>
                  <a:pt x="0" y="255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s-ES"/>
          </a:p>
        </p:txBody>
      </p:sp>
      <p:sp>
        <p:nvSpPr>
          <p:cNvPr id="19459" name="Freeform 24"/>
          <p:cNvSpPr>
            <a:spLocks/>
          </p:cNvSpPr>
          <p:nvPr/>
        </p:nvSpPr>
        <p:spPr bwMode="auto">
          <a:xfrm>
            <a:off x="4643438" y="4619625"/>
            <a:ext cx="1165225" cy="414338"/>
          </a:xfrm>
          <a:custGeom>
            <a:avLst/>
            <a:gdLst>
              <a:gd name="T0" fmla="*/ 0 w 734"/>
              <a:gd name="T1" fmla="*/ 2147483646 h 261"/>
              <a:gd name="T2" fmla="*/ 2147483646 w 734"/>
              <a:gd name="T3" fmla="*/ 0 h 261"/>
              <a:gd name="T4" fmla="*/ 2147483646 w 734"/>
              <a:gd name="T5" fmla="*/ 2147483646 h 261"/>
              <a:gd name="T6" fmla="*/ 2147483646 w 734"/>
              <a:gd name="T7" fmla="*/ 2147483646 h 261"/>
              <a:gd name="T8" fmla="*/ 2147483646 w 734"/>
              <a:gd name="T9" fmla="*/ 2147483646 h 261"/>
              <a:gd name="T10" fmla="*/ 2147483646 w 734"/>
              <a:gd name="T11" fmla="*/ 2147483646 h 261"/>
              <a:gd name="T12" fmla="*/ 2147483646 w 734"/>
              <a:gd name="T13" fmla="*/ 2147483646 h 261"/>
              <a:gd name="T14" fmla="*/ 2147483646 w 734"/>
              <a:gd name="T15" fmla="*/ 2147483646 h 261"/>
              <a:gd name="T16" fmla="*/ 0 w 734"/>
              <a:gd name="T17" fmla="*/ 2147483646 h 26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734" h="261">
                <a:moveTo>
                  <a:pt x="0" y="258"/>
                </a:moveTo>
                <a:lnTo>
                  <a:pt x="5" y="0"/>
                </a:lnTo>
                <a:lnTo>
                  <a:pt x="200" y="129"/>
                </a:lnTo>
                <a:lnTo>
                  <a:pt x="281" y="165"/>
                </a:lnTo>
                <a:lnTo>
                  <a:pt x="434" y="222"/>
                </a:lnTo>
                <a:lnTo>
                  <a:pt x="608" y="237"/>
                </a:lnTo>
                <a:lnTo>
                  <a:pt x="734" y="249"/>
                </a:lnTo>
                <a:lnTo>
                  <a:pt x="701" y="261"/>
                </a:lnTo>
                <a:lnTo>
                  <a:pt x="0" y="258"/>
                </a:lnTo>
                <a:close/>
              </a:path>
            </a:pathLst>
          </a:custGeom>
          <a:gradFill rotWithShape="0">
            <a:gsLst>
              <a:gs pos="0">
                <a:srgbClr val="FF0000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" y="609600"/>
            <a:ext cx="8850313" cy="1143000"/>
          </a:xfrm>
        </p:spPr>
        <p:txBody>
          <a:bodyPr/>
          <a:lstStyle/>
          <a:p>
            <a:pPr eaLnBrk="1" hangingPunct="1"/>
            <a:r>
              <a:rPr lang="es-ES_tradnl" altLang="es-ES" sz="4000" smtClean="0"/>
              <a:t>Error en la selección de una hipótesis y determinación de la frontera de decisión</a:t>
            </a:r>
            <a:br>
              <a:rPr lang="es-ES_tradnl" altLang="es-ES" sz="4000" smtClean="0"/>
            </a:br>
            <a:r>
              <a:rPr lang="es-ES_tradnl" altLang="es-ES" sz="2800" smtClean="0"/>
              <a:t>(cualquier otra da un error mayor)</a:t>
            </a:r>
            <a:endParaRPr lang="es-ES" altLang="es-ES" sz="2800" smtClean="0"/>
          </a:p>
        </p:txBody>
      </p:sp>
      <p:sp>
        <p:nvSpPr>
          <p:cNvPr id="19461" name="Line 3"/>
          <p:cNvSpPr>
            <a:spLocks noChangeShapeType="1"/>
          </p:cNvSpPr>
          <p:nvPr/>
        </p:nvSpPr>
        <p:spPr bwMode="auto">
          <a:xfrm flipV="1">
            <a:off x="838200" y="27432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9462" name="Line 4"/>
          <p:cNvSpPr>
            <a:spLocks noChangeShapeType="1"/>
          </p:cNvSpPr>
          <p:nvPr/>
        </p:nvSpPr>
        <p:spPr bwMode="auto">
          <a:xfrm>
            <a:off x="304800" y="5029200"/>
            <a:ext cx="716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9463" name="Freeform 5"/>
          <p:cNvSpPr>
            <a:spLocks/>
          </p:cNvSpPr>
          <p:nvPr/>
        </p:nvSpPr>
        <p:spPr bwMode="auto">
          <a:xfrm>
            <a:off x="2743200" y="3217863"/>
            <a:ext cx="4953000" cy="1824037"/>
          </a:xfrm>
          <a:custGeom>
            <a:avLst/>
            <a:gdLst>
              <a:gd name="T0" fmla="*/ 0 w 2208"/>
              <a:gd name="T1" fmla="*/ 2147483646 h 1149"/>
              <a:gd name="T2" fmla="*/ 2147483646 w 2208"/>
              <a:gd name="T3" fmla="*/ 2147483646 h 1149"/>
              <a:gd name="T4" fmla="*/ 2147483646 w 2208"/>
              <a:gd name="T5" fmla="*/ 2147483646 h 1149"/>
              <a:gd name="T6" fmla="*/ 2147483646 w 2208"/>
              <a:gd name="T7" fmla="*/ 2147483646 h 1149"/>
              <a:gd name="T8" fmla="*/ 2147483646 w 2208"/>
              <a:gd name="T9" fmla="*/ 2147483646 h 1149"/>
              <a:gd name="T10" fmla="*/ 2147483646 w 2208"/>
              <a:gd name="T11" fmla="*/ 2147483646 h 1149"/>
              <a:gd name="T12" fmla="*/ 2147483646 w 2208"/>
              <a:gd name="T13" fmla="*/ 2147483646 h 1149"/>
              <a:gd name="T14" fmla="*/ 2147483646 w 2208"/>
              <a:gd name="T15" fmla="*/ 2147483646 h 1149"/>
              <a:gd name="T16" fmla="*/ 2147483646 w 2208"/>
              <a:gd name="T17" fmla="*/ 2147483646 h 1149"/>
              <a:gd name="T18" fmla="*/ 2147483646 w 2208"/>
              <a:gd name="T19" fmla="*/ 2147483646 h 1149"/>
              <a:gd name="T20" fmla="*/ 2147483646 w 2208"/>
              <a:gd name="T21" fmla="*/ 2147483646 h 1149"/>
              <a:gd name="T22" fmla="*/ 2147483646 w 2208"/>
              <a:gd name="T23" fmla="*/ 2147483646 h 1149"/>
              <a:gd name="T24" fmla="*/ 2147483646 w 2208"/>
              <a:gd name="T25" fmla="*/ 2147483646 h 11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208" h="1149">
                <a:moveTo>
                  <a:pt x="0" y="1141"/>
                </a:moveTo>
                <a:cubicBezTo>
                  <a:pt x="186" y="1141"/>
                  <a:pt x="373" y="1141"/>
                  <a:pt x="518" y="1093"/>
                </a:cubicBezTo>
                <a:cubicBezTo>
                  <a:pt x="663" y="1045"/>
                  <a:pt x="786" y="949"/>
                  <a:pt x="872" y="853"/>
                </a:cubicBezTo>
                <a:cubicBezTo>
                  <a:pt x="959" y="757"/>
                  <a:pt x="995" y="645"/>
                  <a:pt x="1036" y="517"/>
                </a:cubicBezTo>
                <a:cubicBezTo>
                  <a:pt x="1077" y="389"/>
                  <a:pt x="1078" y="160"/>
                  <a:pt x="1118" y="85"/>
                </a:cubicBezTo>
                <a:cubicBezTo>
                  <a:pt x="1158" y="10"/>
                  <a:pt x="1240" y="0"/>
                  <a:pt x="1279" y="68"/>
                </a:cubicBezTo>
                <a:cubicBezTo>
                  <a:pt x="1318" y="136"/>
                  <a:pt x="1330" y="388"/>
                  <a:pt x="1350" y="492"/>
                </a:cubicBezTo>
                <a:cubicBezTo>
                  <a:pt x="1370" y="596"/>
                  <a:pt x="1381" y="631"/>
                  <a:pt x="1397" y="691"/>
                </a:cubicBezTo>
                <a:cubicBezTo>
                  <a:pt x="1413" y="751"/>
                  <a:pt x="1419" y="802"/>
                  <a:pt x="1445" y="853"/>
                </a:cubicBezTo>
                <a:cubicBezTo>
                  <a:pt x="1471" y="904"/>
                  <a:pt x="1517" y="957"/>
                  <a:pt x="1554" y="997"/>
                </a:cubicBezTo>
                <a:cubicBezTo>
                  <a:pt x="1590" y="1037"/>
                  <a:pt x="1599" y="1069"/>
                  <a:pt x="1663" y="1093"/>
                </a:cubicBezTo>
                <a:cubicBezTo>
                  <a:pt x="1726" y="1117"/>
                  <a:pt x="1845" y="1133"/>
                  <a:pt x="1935" y="1141"/>
                </a:cubicBezTo>
                <a:cubicBezTo>
                  <a:pt x="2026" y="1149"/>
                  <a:pt x="2117" y="1145"/>
                  <a:pt x="2208" y="1141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9464" name="Freeform 6"/>
          <p:cNvSpPr>
            <a:spLocks/>
          </p:cNvSpPr>
          <p:nvPr/>
        </p:nvSpPr>
        <p:spPr bwMode="auto">
          <a:xfrm>
            <a:off x="762000" y="3733800"/>
            <a:ext cx="6096000" cy="1295400"/>
          </a:xfrm>
          <a:custGeom>
            <a:avLst/>
            <a:gdLst>
              <a:gd name="T0" fmla="*/ 0 w 3840"/>
              <a:gd name="T1" fmla="*/ 2147483646 h 544"/>
              <a:gd name="T2" fmla="*/ 2147483646 w 3840"/>
              <a:gd name="T3" fmla="*/ 2147483646 h 544"/>
              <a:gd name="T4" fmla="*/ 2147483646 w 3840"/>
              <a:gd name="T5" fmla="*/ 2147483646 h 544"/>
              <a:gd name="T6" fmla="*/ 2147483646 w 3840"/>
              <a:gd name="T7" fmla="*/ 2147483646 h 544"/>
              <a:gd name="T8" fmla="*/ 2147483646 w 3840"/>
              <a:gd name="T9" fmla="*/ 2147483646 h 544"/>
              <a:gd name="T10" fmla="*/ 2147483646 w 3840"/>
              <a:gd name="T11" fmla="*/ 2147483646 h 544"/>
              <a:gd name="T12" fmla="*/ 2147483646 w 3840"/>
              <a:gd name="T13" fmla="*/ 2147483646 h 544"/>
              <a:gd name="T14" fmla="*/ 2147483646 w 3840"/>
              <a:gd name="T15" fmla="*/ 2147483646 h 544"/>
              <a:gd name="T16" fmla="*/ 2147483646 w 3840"/>
              <a:gd name="T17" fmla="*/ 2147483646 h 544"/>
              <a:gd name="T18" fmla="*/ 2147483646 w 3840"/>
              <a:gd name="T19" fmla="*/ 2147483646 h 544"/>
              <a:gd name="T20" fmla="*/ 2147483646 w 3840"/>
              <a:gd name="T21" fmla="*/ 2147483646 h 544"/>
              <a:gd name="T22" fmla="*/ 2147483646 w 3840"/>
              <a:gd name="T23" fmla="*/ 2147483646 h 544"/>
              <a:gd name="T24" fmla="*/ 2147483646 w 3840"/>
              <a:gd name="T25" fmla="*/ 2147483646 h 54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40" h="544">
                <a:moveTo>
                  <a:pt x="0" y="540"/>
                </a:moveTo>
                <a:cubicBezTo>
                  <a:pt x="324" y="540"/>
                  <a:pt x="651" y="544"/>
                  <a:pt x="901" y="517"/>
                </a:cubicBezTo>
                <a:cubicBezTo>
                  <a:pt x="1151" y="490"/>
                  <a:pt x="1360" y="423"/>
                  <a:pt x="1503" y="376"/>
                </a:cubicBezTo>
                <a:cubicBezTo>
                  <a:pt x="1646" y="329"/>
                  <a:pt x="1688" y="292"/>
                  <a:pt x="1761" y="235"/>
                </a:cubicBezTo>
                <a:cubicBezTo>
                  <a:pt x="1834" y="178"/>
                  <a:pt x="1877" y="66"/>
                  <a:pt x="1944" y="33"/>
                </a:cubicBezTo>
                <a:cubicBezTo>
                  <a:pt x="2011" y="0"/>
                  <a:pt x="2106" y="9"/>
                  <a:pt x="2161" y="36"/>
                </a:cubicBezTo>
                <a:cubicBezTo>
                  <a:pt x="2216" y="63"/>
                  <a:pt x="2241" y="148"/>
                  <a:pt x="2276" y="194"/>
                </a:cubicBezTo>
                <a:cubicBezTo>
                  <a:pt x="2311" y="240"/>
                  <a:pt x="2331" y="275"/>
                  <a:pt x="2370" y="310"/>
                </a:cubicBezTo>
                <a:cubicBezTo>
                  <a:pt x="2410" y="344"/>
                  <a:pt x="2457" y="375"/>
                  <a:pt x="2513" y="402"/>
                </a:cubicBezTo>
                <a:cubicBezTo>
                  <a:pt x="2568" y="429"/>
                  <a:pt x="2639" y="452"/>
                  <a:pt x="2702" y="471"/>
                </a:cubicBezTo>
                <a:cubicBezTo>
                  <a:pt x="2765" y="490"/>
                  <a:pt x="2781" y="506"/>
                  <a:pt x="2892" y="517"/>
                </a:cubicBezTo>
                <a:cubicBezTo>
                  <a:pt x="3002" y="529"/>
                  <a:pt x="3208" y="536"/>
                  <a:pt x="3366" y="540"/>
                </a:cubicBezTo>
                <a:cubicBezTo>
                  <a:pt x="3524" y="544"/>
                  <a:pt x="3682" y="542"/>
                  <a:pt x="3840" y="540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9465" name="Text Box 17"/>
          <p:cNvSpPr txBox="1">
            <a:spLocks noChangeArrowheads="1"/>
          </p:cNvSpPr>
          <p:nvPr/>
        </p:nvSpPr>
        <p:spPr bwMode="auto">
          <a:xfrm>
            <a:off x="7100888" y="459422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X</a:t>
            </a:r>
            <a:endParaRPr lang="es-ES" altLang="es-ES" sz="2400"/>
          </a:p>
        </p:txBody>
      </p:sp>
      <p:sp>
        <p:nvSpPr>
          <p:cNvPr id="19466" name="Line 19"/>
          <p:cNvSpPr>
            <a:spLocks noChangeShapeType="1"/>
          </p:cNvSpPr>
          <p:nvPr/>
        </p:nvSpPr>
        <p:spPr bwMode="auto">
          <a:xfrm flipH="1">
            <a:off x="4648200" y="3203575"/>
            <a:ext cx="19050" cy="2130425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9467" name="Text Box 22"/>
          <p:cNvSpPr txBox="1">
            <a:spLocks noChangeArrowheads="1"/>
          </p:cNvSpPr>
          <p:nvPr/>
        </p:nvSpPr>
        <p:spPr bwMode="auto">
          <a:xfrm>
            <a:off x="504825" y="5651500"/>
            <a:ext cx="41084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i="1"/>
              <a:t>Prob. de seleccionar la clase 1,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i="1"/>
              <a:t>siendo la 2 correcta</a:t>
            </a:r>
            <a:endParaRPr lang="es-ES" altLang="es-ES" sz="2400" i="1"/>
          </a:p>
        </p:txBody>
      </p:sp>
      <p:sp>
        <p:nvSpPr>
          <p:cNvPr id="19468" name="Text Box 23"/>
          <p:cNvSpPr txBox="1">
            <a:spLocks noChangeArrowheads="1"/>
          </p:cNvSpPr>
          <p:nvPr/>
        </p:nvSpPr>
        <p:spPr bwMode="auto">
          <a:xfrm>
            <a:off x="4968875" y="5653088"/>
            <a:ext cx="41084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i="1"/>
              <a:t>Prob. de seleccionar la clase 2,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i="1"/>
              <a:t>siendo la 1 correcta</a:t>
            </a:r>
            <a:endParaRPr lang="es-ES" altLang="es-ES" sz="2400" i="1"/>
          </a:p>
        </p:txBody>
      </p:sp>
      <p:sp>
        <p:nvSpPr>
          <p:cNvPr id="19469" name="Line 26"/>
          <p:cNvSpPr>
            <a:spLocks noChangeShapeType="1"/>
          </p:cNvSpPr>
          <p:nvPr/>
        </p:nvSpPr>
        <p:spPr bwMode="auto">
          <a:xfrm flipV="1">
            <a:off x="3135313" y="4926013"/>
            <a:ext cx="1249362" cy="709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9470" name="Line 27"/>
          <p:cNvSpPr>
            <a:spLocks noChangeShapeType="1"/>
          </p:cNvSpPr>
          <p:nvPr/>
        </p:nvSpPr>
        <p:spPr bwMode="auto">
          <a:xfrm flipH="1" flipV="1">
            <a:off x="4851400" y="4889500"/>
            <a:ext cx="1027113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9471" name="Text Box 28"/>
          <p:cNvSpPr txBox="1">
            <a:spLocks noChangeArrowheads="1"/>
          </p:cNvSpPr>
          <p:nvPr/>
        </p:nvSpPr>
        <p:spPr bwMode="auto">
          <a:xfrm>
            <a:off x="1822450" y="3519488"/>
            <a:ext cx="2008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)*P(w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9472" name="Text Box 29"/>
          <p:cNvSpPr txBox="1">
            <a:spLocks noChangeArrowheads="1"/>
          </p:cNvSpPr>
          <p:nvPr/>
        </p:nvSpPr>
        <p:spPr bwMode="auto">
          <a:xfrm>
            <a:off x="5641975" y="3090863"/>
            <a:ext cx="2008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)*P(w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19473" name="Text Box 30"/>
          <p:cNvSpPr txBox="1">
            <a:spLocks noChangeArrowheads="1"/>
          </p:cNvSpPr>
          <p:nvPr/>
        </p:nvSpPr>
        <p:spPr bwMode="auto">
          <a:xfrm>
            <a:off x="822325" y="2373313"/>
            <a:ext cx="1670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>
                <a:sym typeface="Symbol" panose="05050102010706020507" pitchFamily="18" charset="2"/>
              </a:rPr>
              <a:t> </a:t>
            </a:r>
            <a:r>
              <a:rPr lang="es-ES_tradnl" altLang="es-ES" sz="2400"/>
              <a:t>P</a:t>
            </a:r>
            <a:r>
              <a:rPr lang="es-ES_tradnl" altLang="es-ES" sz="2400" baseline="-25000"/>
              <a:t>a posteriori</a:t>
            </a:r>
            <a:endParaRPr lang="es-ES" altLang="es-ES" sz="2400" baseline="-25000"/>
          </a:p>
        </p:txBody>
      </p:sp>
      <p:sp>
        <p:nvSpPr>
          <p:cNvPr id="19474" name="Text Box 31"/>
          <p:cNvSpPr txBox="1">
            <a:spLocks noChangeArrowheads="1"/>
          </p:cNvSpPr>
          <p:nvPr/>
        </p:nvSpPr>
        <p:spPr bwMode="auto">
          <a:xfrm>
            <a:off x="4292600" y="2197100"/>
            <a:ext cx="2738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 i="1"/>
              <a:t>Frontera de decisión</a:t>
            </a:r>
            <a:endParaRPr lang="es-ES" altLang="es-ES" sz="2400" i="1"/>
          </a:p>
        </p:txBody>
      </p:sp>
      <p:sp>
        <p:nvSpPr>
          <p:cNvPr id="19475" name="Line 32"/>
          <p:cNvSpPr>
            <a:spLocks noChangeShapeType="1"/>
          </p:cNvSpPr>
          <p:nvPr/>
        </p:nvSpPr>
        <p:spPr bwMode="auto">
          <a:xfrm flipH="1">
            <a:off x="4665663" y="2724150"/>
            <a:ext cx="373062" cy="877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66750" y="830263"/>
            <a:ext cx="7772400" cy="1143000"/>
          </a:xfrm>
        </p:spPr>
        <p:txBody>
          <a:bodyPr anchor="ctr"/>
          <a:lstStyle/>
          <a:p>
            <a:pPr eaLnBrk="1" hangingPunct="1"/>
            <a:r>
              <a:rPr lang="es-ES_tradnl" altLang="es-ES" sz="4400" smtClean="0"/>
              <a:t>La distribución normal (gaussiana, de Gauss)</a:t>
            </a:r>
          </a:p>
        </p:txBody>
      </p:sp>
      <p:graphicFrame>
        <p:nvGraphicFramePr>
          <p:cNvPr id="20483" name="Object 4"/>
          <p:cNvGraphicFramePr>
            <a:graphicFrameLocks noChangeAspect="1"/>
          </p:cNvGraphicFramePr>
          <p:nvPr/>
        </p:nvGraphicFramePr>
        <p:xfrm>
          <a:off x="-644525" y="2073275"/>
          <a:ext cx="10626725" cy="434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Fotografia di Photo Editor" r:id="rId3" imgW="5114286" imgH="2257740" progId="MSPhotoEd.3">
                  <p:embed/>
                </p:oleObj>
              </mc:Choice>
              <mc:Fallback>
                <p:oleObj name="Fotografia di Photo Editor" r:id="rId3" imgW="5114286" imgH="2257740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44525" y="2073275"/>
                        <a:ext cx="10626725" cy="434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s-ES" sz="4000" smtClean="0"/>
              <a:t>Parámetros importantes (Distribución normal)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3821113" cy="4114800"/>
          </a:xfrm>
        </p:spPr>
        <p:txBody>
          <a:bodyPr/>
          <a:lstStyle/>
          <a:p>
            <a:pPr eaLnBrk="1" hangingPunct="1"/>
            <a:endParaRPr lang="it-IT" altLang="es-ES" sz="2000" smtClean="0"/>
          </a:p>
          <a:p>
            <a:pPr eaLnBrk="1" hangingPunct="1"/>
            <a:r>
              <a:rPr lang="it-IT" altLang="es-ES" sz="2800" smtClean="0"/>
              <a:t>Función de densidad</a:t>
            </a:r>
          </a:p>
          <a:p>
            <a:pPr eaLnBrk="1" hangingPunct="1"/>
            <a:endParaRPr lang="it-IT" altLang="es-ES" sz="2800" smtClean="0"/>
          </a:p>
          <a:p>
            <a:pPr eaLnBrk="1" hangingPunct="1"/>
            <a:r>
              <a:rPr lang="it-IT" altLang="es-ES" sz="2800" smtClean="0"/>
              <a:t>Distribución de Probabilidad </a:t>
            </a:r>
          </a:p>
          <a:p>
            <a:pPr eaLnBrk="1" hangingPunct="1"/>
            <a:endParaRPr lang="it-IT" altLang="es-ES" sz="2800" smtClean="0"/>
          </a:p>
          <a:p>
            <a:pPr eaLnBrk="1" hangingPunct="1"/>
            <a:r>
              <a:rPr lang="it-IT" altLang="es-ES" sz="2800" smtClean="0"/>
              <a:t>Media</a:t>
            </a:r>
          </a:p>
          <a:p>
            <a:pPr eaLnBrk="1" hangingPunct="1"/>
            <a:endParaRPr lang="it-IT" altLang="es-ES" sz="2800" smtClean="0"/>
          </a:p>
          <a:p>
            <a:pPr eaLnBrk="1" hangingPunct="1"/>
            <a:r>
              <a:rPr lang="it-IT" altLang="es-ES" sz="2800" smtClean="0"/>
              <a:t>Varianza</a:t>
            </a: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4714875" y="2038350"/>
          <a:ext cx="3224213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Ecuación" r:id="rId3" imgW="1409088" imgH="495085" progId="Equation.3">
                  <p:embed/>
                </p:oleObj>
              </mc:Choice>
              <mc:Fallback>
                <p:oleObj name="Ecuación" r:id="rId3" imgW="1409088" imgH="4950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2038350"/>
                        <a:ext cx="3224213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4745038" y="4891088"/>
          <a:ext cx="145256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Equation" r:id="rId5" imgW="634725" imgH="203112" progId="Equation.3">
                  <p:embed/>
                </p:oleObj>
              </mc:Choice>
              <mc:Fallback>
                <p:oleObj name="Equation" r:id="rId5" imgW="634725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8" y="4891088"/>
                        <a:ext cx="145256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4762500" y="5886450"/>
          <a:ext cx="18319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6" name="Equation" r:id="rId7" imgW="800100" imgH="228600" progId="Equation.3">
                  <p:embed/>
                </p:oleObj>
              </mc:Choice>
              <mc:Fallback>
                <p:oleObj name="Equation" r:id="rId7" imgW="8001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0" y="5886450"/>
                        <a:ext cx="18319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699000" y="3440113"/>
          <a:ext cx="3521075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name="Equation" r:id="rId9" imgW="1524000" imgH="482600" progId="Equation.3">
                  <p:embed/>
                </p:oleObj>
              </mc:Choice>
              <mc:Fallback>
                <p:oleObj name="Equation" r:id="rId9" imgW="1524000" imgH="482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3440113"/>
                        <a:ext cx="3521075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Porcentajes encerrados bajo la curva normal</a:t>
            </a:r>
            <a:endParaRPr lang="es-ES" altLang="es-ES" smtClean="0"/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1582738" y="1831975"/>
          <a:ext cx="5900737" cy="298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4" name="Fotografia di Photo Editor" r:id="rId3" imgW="4238095" imgH="2142857" progId="MSPhotoEd.3">
                  <p:embed/>
                </p:oleObj>
              </mc:Choice>
              <mc:Fallback>
                <p:oleObj name="Fotografia di Photo Editor" r:id="rId3" imgW="4238095" imgH="2142857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1831975"/>
                        <a:ext cx="5900737" cy="298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Group 4"/>
          <p:cNvGraphicFramePr>
            <a:graphicFrameLocks noGrp="1"/>
          </p:cNvGraphicFramePr>
          <p:nvPr>
            <p:ph type="tbl" idx="1"/>
          </p:nvPr>
        </p:nvGraphicFramePr>
        <p:xfrm>
          <a:off x="1804988" y="4933950"/>
          <a:ext cx="5686425" cy="1382713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27040493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1981066352"/>
                    </a:ext>
                  </a:extLst>
                </a:gridCol>
                <a:gridCol w="1420812">
                  <a:extLst>
                    <a:ext uri="{9D8B030D-6E8A-4147-A177-3AD203B41FA5}">
                      <a16:colId xmlns:a16="http://schemas.microsoft.com/office/drawing/2014/main" val="2095351450"/>
                    </a:ext>
                  </a:extLst>
                </a:gridCol>
                <a:gridCol w="1423988">
                  <a:extLst>
                    <a:ext uri="{9D8B030D-6E8A-4147-A177-3AD203B41FA5}">
                      <a16:colId xmlns:a16="http://schemas.microsoft.com/office/drawing/2014/main" val="1788327802"/>
                    </a:ext>
                  </a:extLst>
                </a:gridCol>
              </a:tblGrid>
              <a:tr h="692150">
                <a:tc>
                  <a:txBody>
                    <a:bodyPr/>
                    <a:lstStyle>
                      <a:lvl1pPr defTabSz="865188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38150" defTabSz="8651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865188" defTabSz="8651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651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es-E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65188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38150" defTabSz="8651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865188" defTabSz="8651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651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es-E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68.27%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65188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38150" defTabSz="8651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865188" defTabSz="8651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651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es-E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95.45%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65188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38150" defTabSz="8651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865188" defTabSz="8651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651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es-E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99.73%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445462"/>
                  </a:ext>
                </a:extLst>
              </a:tr>
              <a:tr h="690563">
                <a:tc>
                  <a:txBody>
                    <a:bodyPr/>
                    <a:lstStyle>
                      <a:lvl1pPr defTabSz="865188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38150" defTabSz="8651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865188" defTabSz="8651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65188" rtl="0" eaLnBrk="1" fontAlgn="base" latinLnBrk="0" hangingPunct="1">
                        <a:lnSpc>
                          <a:spcPct val="150000"/>
                        </a:lnSpc>
                        <a:spcBef>
                          <a:spcPct val="5000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es-E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intervalo</a:t>
                      </a:r>
                      <a:endParaRPr kumimoji="0" lang="it-IT" altLang="es-ES" sz="20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65188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38150" defTabSz="8651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865188" defTabSz="8651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651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es-E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65188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38150" defTabSz="8651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865188" defTabSz="8651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651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es-E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65188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38150" defTabSz="8651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865188" defTabSz="8651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defTabSz="8651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defTabSz="8651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8651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es-E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392275"/>
                  </a:ext>
                </a:extLst>
              </a:tr>
            </a:tbl>
          </a:graphicData>
        </a:graphic>
      </p:graphicFrame>
      <p:graphicFrame>
        <p:nvGraphicFramePr>
          <p:cNvPr id="22549" name="Object 21"/>
          <p:cNvGraphicFramePr>
            <a:graphicFrameLocks noChangeAspect="1"/>
          </p:cNvGraphicFramePr>
          <p:nvPr/>
        </p:nvGraphicFramePr>
        <p:xfrm>
          <a:off x="3392488" y="5745163"/>
          <a:ext cx="9302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5" name="Ecuación" r:id="rId5" imgW="393529" imgH="190417" progId="Equation.3">
                  <p:embed/>
                </p:oleObj>
              </mc:Choice>
              <mc:Fallback>
                <p:oleObj name="Ecuación" r:id="rId5" imgW="393529" imgH="190417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5745163"/>
                        <a:ext cx="93027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0" name="Object 22"/>
          <p:cNvGraphicFramePr>
            <a:graphicFrameLocks noChangeAspect="1"/>
          </p:cNvGraphicFramePr>
          <p:nvPr/>
        </p:nvGraphicFramePr>
        <p:xfrm>
          <a:off x="4691063" y="5715000"/>
          <a:ext cx="129063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6" name="Ecuación" r:id="rId7" imgW="545626" imgH="203024" progId="Equation.3">
                  <p:embed/>
                </p:oleObj>
              </mc:Choice>
              <mc:Fallback>
                <p:oleObj name="Ecuación" r:id="rId7" imgW="545626" imgH="20302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1063" y="5715000"/>
                        <a:ext cx="129063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1" name="Object 23"/>
          <p:cNvGraphicFramePr>
            <a:graphicFrameLocks noChangeAspect="1"/>
          </p:cNvGraphicFramePr>
          <p:nvPr/>
        </p:nvGraphicFramePr>
        <p:xfrm>
          <a:off x="6126163" y="5718175"/>
          <a:ext cx="12604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7" name="Ecuación" r:id="rId9" imgW="533169" imgH="203112" progId="Equation.3">
                  <p:embed/>
                </p:oleObj>
              </mc:Choice>
              <mc:Fallback>
                <p:oleObj name="Ecuación" r:id="rId9" imgW="533169" imgH="203112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163" y="5718175"/>
                        <a:ext cx="12604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smtClean="0"/>
              <a:t>Frontera óptima de decisión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0225" cy="41148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s-ES" altLang="es-ES" smtClean="0"/>
              <a:t>Definir la ecuación de la f.d.p. de la clase 1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s-ES" altLang="es-ES" smtClean="0"/>
              <a:t>Definir la ecuación de la f.d.p. de la clase 2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s-ES" altLang="es-ES" smtClean="0"/>
              <a:t>Igualar ambas ecuaciones y resolver la ec. en la variable 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95275" y="609600"/>
            <a:ext cx="8162925" cy="1143000"/>
          </a:xfrm>
        </p:spPr>
        <p:txBody>
          <a:bodyPr/>
          <a:lstStyle/>
          <a:p>
            <a:pPr eaLnBrk="1" hangingPunct="1"/>
            <a:r>
              <a:rPr lang="es-ES_tradnl" altLang="es-ES" sz="4000" smtClean="0"/>
              <a:t>Caso A) Dos clases equiprobables, distrib.normal 1D, </a:t>
            </a:r>
            <a:r>
              <a:rPr lang="es-ES_tradnl" altLang="es-ES" sz="4000" smtClean="0">
                <a:sym typeface="Symbol" panose="05050102010706020507" pitchFamily="18" charset="2"/>
              </a:rPr>
              <a:t></a:t>
            </a:r>
            <a:r>
              <a:rPr lang="es-ES_tradnl" altLang="es-ES" sz="4000" baseline="-25000" smtClean="0">
                <a:sym typeface="Symbol" panose="05050102010706020507" pitchFamily="18" charset="2"/>
              </a:rPr>
              <a:t>1</a:t>
            </a:r>
            <a:r>
              <a:rPr lang="es-ES_tradnl" altLang="es-ES" sz="4000" smtClean="0">
                <a:sym typeface="Symbol" panose="05050102010706020507" pitchFamily="18" charset="2"/>
              </a:rPr>
              <a:t>=</a:t>
            </a:r>
            <a:r>
              <a:rPr lang="es-ES_tradnl" altLang="es-ES" sz="4000" baseline="-25000" smtClean="0">
                <a:sym typeface="Symbol" panose="05050102010706020507" pitchFamily="18" charset="2"/>
              </a:rPr>
              <a:t>2</a:t>
            </a:r>
            <a:r>
              <a:rPr lang="es-ES_tradnl" altLang="es-ES" sz="4000" smtClean="0">
                <a:sym typeface="Symbol" panose="05050102010706020507" pitchFamily="18" charset="2"/>
              </a:rPr>
              <a:t>=</a:t>
            </a:r>
            <a:endParaRPr lang="es-ES" altLang="es-ES" sz="4000" smtClean="0">
              <a:sym typeface="Symbol" panose="05050102010706020507" pitchFamily="18" charset="2"/>
            </a:endParaRP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458200" cy="4114800"/>
          </a:xfrm>
        </p:spPr>
        <p:txBody>
          <a:bodyPr/>
          <a:lstStyle/>
          <a:p>
            <a:pPr marL="533400" indent="-533400" eaLnBrk="1" hangingPunct="1"/>
            <a:r>
              <a:rPr lang="es-ES_tradnl" altLang="es-ES" sz="2800" smtClean="0"/>
              <a:t>Suponemos que : </a:t>
            </a:r>
          </a:p>
          <a:p>
            <a:pPr marL="914400" lvl="1" indent="-457200" eaLnBrk="1" hangingPunct="1">
              <a:buFontTx/>
              <a:buAutoNum type="alphaLcParenR"/>
            </a:pPr>
            <a:r>
              <a:rPr lang="es-ES_tradnl" altLang="es-ES" sz="2400" smtClean="0"/>
              <a:t>P(X|w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1</a:t>
            </a:r>
            <a:r>
              <a:rPr lang="es-ES_tradnl" altLang="es-ES" sz="2400" smtClean="0"/>
              <a:t>)=</a:t>
            </a:r>
            <a:r>
              <a:rPr lang="es-ES_tradnl" altLang="es-ES" sz="2400" i="1" smtClean="0"/>
              <a:t>N</a:t>
            </a:r>
            <a:r>
              <a:rPr lang="es-ES_tradnl" altLang="es-ES" sz="2400" smtClean="0"/>
              <a:t>(</a:t>
            </a:r>
            <a:r>
              <a:rPr lang="es-ES_tradnl" altLang="es-ES" sz="2400" smtClean="0">
                <a:latin typeface="Symbol" panose="05050102010706020507" pitchFamily="18" charset="2"/>
              </a:rPr>
              <a:t>m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1</a:t>
            </a:r>
            <a:r>
              <a:rPr lang="es-ES_tradnl" altLang="es-ES" sz="2400" smtClean="0"/>
              <a:t>,</a:t>
            </a:r>
            <a:r>
              <a:rPr lang="es-ES_tradnl" altLang="es-ES" sz="2000" smtClean="0">
                <a:sym typeface="Symbol" panose="05050102010706020507" pitchFamily="18" charset="2"/>
              </a:rPr>
              <a:t></a:t>
            </a:r>
            <a:r>
              <a:rPr lang="es-ES_tradnl" altLang="es-ES" sz="2000" baseline="30000" smtClean="0">
                <a:sym typeface="Symbol" panose="05050102010706020507" pitchFamily="18" charset="2"/>
              </a:rPr>
              <a:t>2</a:t>
            </a:r>
            <a:r>
              <a:rPr lang="es-ES_tradnl" altLang="es-ES" sz="2400" smtClean="0"/>
              <a:t>)    ;       P(X|w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2</a:t>
            </a:r>
            <a:r>
              <a:rPr lang="es-ES_tradnl" altLang="es-ES" sz="2400" smtClean="0"/>
              <a:t>)=</a:t>
            </a:r>
            <a:r>
              <a:rPr lang="es-ES_tradnl" altLang="es-ES" sz="2400" i="1" smtClean="0"/>
              <a:t>N</a:t>
            </a:r>
            <a:r>
              <a:rPr lang="es-ES_tradnl" altLang="es-ES" sz="2400" smtClean="0"/>
              <a:t>(</a:t>
            </a:r>
            <a:r>
              <a:rPr lang="es-ES_tradnl" altLang="es-ES" sz="2400" smtClean="0">
                <a:latin typeface="Symbol" panose="05050102010706020507" pitchFamily="18" charset="2"/>
              </a:rPr>
              <a:t>m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2</a:t>
            </a:r>
            <a:r>
              <a:rPr lang="es-ES_tradnl" altLang="es-ES" sz="2400" smtClean="0"/>
              <a:t>,</a:t>
            </a:r>
            <a:r>
              <a:rPr lang="es-ES_tradnl" altLang="es-ES" sz="2000" smtClean="0">
                <a:sym typeface="Symbol" panose="05050102010706020507" pitchFamily="18" charset="2"/>
              </a:rPr>
              <a:t></a:t>
            </a:r>
            <a:r>
              <a:rPr lang="es-ES_tradnl" altLang="es-ES" sz="2000" baseline="30000" smtClean="0">
                <a:sym typeface="Symbol" panose="05050102010706020507" pitchFamily="18" charset="2"/>
              </a:rPr>
              <a:t>2</a:t>
            </a:r>
            <a:r>
              <a:rPr lang="es-ES_tradnl" altLang="es-ES" sz="2400" smtClean="0"/>
              <a:t>)</a:t>
            </a:r>
          </a:p>
          <a:p>
            <a:pPr marL="914400" lvl="1" indent="-457200" eaLnBrk="1" hangingPunct="1">
              <a:buFontTx/>
              <a:buAutoNum type="alphaLcParenR"/>
            </a:pPr>
            <a:r>
              <a:rPr lang="es-ES_tradnl" altLang="es-ES" sz="2400" smtClean="0"/>
              <a:t>P(w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1</a:t>
            </a:r>
            <a:r>
              <a:rPr lang="es-ES_tradnl" altLang="es-ES" sz="2400" smtClean="0"/>
              <a:t>) = P(w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2</a:t>
            </a:r>
            <a:r>
              <a:rPr lang="es-ES_tradnl" altLang="es-ES" sz="2400" smtClean="0"/>
              <a:t>) = 0.5</a:t>
            </a:r>
          </a:p>
          <a:p>
            <a:pPr marL="533400" indent="-533400" eaLnBrk="1" hangingPunct="1"/>
            <a:r>
              <a:rPr lang="es-ES_tradnl" altLang="es-ES" sz="2800" smtClean="0"/>
              <a:t>La frontera de decisión ha de cumplir que:</a:t>
            </a:r>
          </a:p>
          <a:p>
            <a:pPr marL="533400" indent="-533400" algn="ctr" eaLnBrk="1" hangingPunct="1">
              <a:buFontTx/>
              <a:buNone/>
            </a:pPr>
            <a:r>
              <a:rPr lang="es-ES_tradnl" altLang="es-ES" sz="2800" smtClean="0"/>
              <a:t>P(X|w1)*P(w1)=P(X|w2)*P(w2)</a:t>
            </a:r>
          </a:p>
          <a:p>
            <a:pPr marL="533400" indent="-533400" eaLnBrk="1" hangingPunct="1"/>
            <a:r>
              <a:rPr lang="es-ES_tradnl" altLang="es-ES" sz="2800" smtClean="0"/>
              <a:t>Por tanto, sacando logaritmos: </a:t>
            </a:r>
          </a:p>
          <a:p>
            <a:pPr marL="533400" indent="-533400" eaLnBrk="1" hangingPunct="1"/>
            <a:endParaRPr lang="es-ES_tradnl" altLang="es-ES" sz="2800" smtClean="0"/>
          </a:p>
          <a:p>
            <a:pPr marL="533400" indent="-533400" eaLnBrk="1" hangingPunct="1"/>
            <a:r>
              <a:rPr lang="es-ES_tradnl" altLang="es-ES" sz="2800" smtClean="0"/>
              <a:t>Y, desarrollando, se llega a que:</a:t>
            </a:r>
            <a:endParaRPr lang="es-ES" altLang="es-ES" sz="2800" smtClean="0"/>
          </a:p>
        </p:txBody>
      </p:sp>
      <p:graphicFrame>
        <p:nvGraphicFramePr>
          <p:cNvPr id="24580" name="Object 7"/>
          <p:cNvGraphicFramePr>
            <a:graphicFrameLocks noChangeAspect="1"/>
          </p:cNvGraphicFramePr>
          <p:nvPr/>
        </p:nvGraphicFramePr>
        <p:xfrm>
          <a:off x="190500" y="4806950"/>
          <a:ext cx="87344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3" name="Ecuación" r:id="rId3" imgW="4648200" imgH="419100" progId="Equation.3">
                  <p:embed/>
                </p:oleObj>
              </mc:Choice>
              <mc:Fallback>
                <p:oleObj name="Ecuación" r:id="rId3" imgW="46482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4806950"/>
                        <a:ext cx="87344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14"/>
          <p:cNvGraphicFramePr>
            <a:graphicFrameLocks noChangeAspect="1"/>
          </p:cNvGraphicFramePr>
          <p:nvPr/>
        </p:nvGraphicFramePr>
        <p:xfrm>
          <a:off x="3338513" y="6135688"/>
          <a:ext cx="23622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Ecuación" r:id="rId5" imgW="1257300" imgH="228600" progId="Equation.3">
                  <p:embed/>
                </p:oleObj>
              </mc:Choice>
              <mc:Fallback>
                <p:oleObj name="Ecuación" r:id="rId5" imgW="12573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3" y="6135688"/>
                        <a:ext cx="2362200" cy="4286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lecha derecha 1"/>
          <p:cNvSpPr/>
          <p:nvPr/>
        </p:nvSpPr>
        <p:spPr>
          <a:xfrm>
            <a:off x="6134100" y="6207125"/>
            <a:ext cx="703263" cy="279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graphicFrame>
        <p:nvGraphicFramePr>
          <p:cNvPr id="24583" name="Object 14"/>
          <p:cNvGraphicFramePr>
            <a:graphicFrameLocks noChangeAspect="1"/>
          </p:cNvGraphicFramePr>
          <p:nvPr/>
        </p:nvGraphicFramePr>
        <p:xfrm>
          <a:off x="7270750" y="5943600"/>
          <a:ext cx="138430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name="Ecuación" r:id="rId7" imgW="736280" imgH="393529" progId="Equation.3">
                  <p:embed/>
                </p:oleObj>
              </mc:Choice>
              <mc:Fallback>
                <p:oleObj name="Ecuación" r:id="rId7" imgW="736280" imgH="39352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5943600"/>
                        <a:ext cx="1384300" cy="7381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0038" y="609600"/>
            <a:ext cx="8470900" cy="1143000"/>
          </a:xfrm>
        </p:spPr>
        <p:txBody>
          <a:bodyPr/>
          <a:lstStyle/>
          <a:p>
            <a:pPr eaLnBrk="1" hangingPunct="1"/>
            <a:r>
              <a:rPr lang="es-ES_tradnl" altLang="es-ES" sz="4000" smtClean="0"/>
              <a:t>Caso B) Dos clases, distrib.normal 1D</a:t>
            </a:r>
            <a:endParaRPr lang="es-ES" altLang="es-ES" sz="4000" smtClean="0">
              <a:sym typeface="Symbol" panose="05050102010706020507" pitchFamily="18" charset="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8125" y="2005013"/>
            <a:ext cx="9144000" cy="4114800"/>
          </a:xfrm>
        </p:spPr>
        <p:txBody>
          <a:bodyPr/>
          <a:lstStyle/>
          <a:p>
            <a:pPr eaLnBrk="1" hangingPunct="1"/>
            <a:r>
              <a:rPr lang="es-ES_tradnl" altLang="es-ES" sz="2800" smtClean="0"/>
              <a:t>La frontera de decisión ha de cumplir que:</a:t>
            </a:r>
          </a:p>
          <a:p>
            <a:pPr algn="ctr" eaLnBrk="1" hangingPunct="1">
              <a:buFontTx/>
              <a:buNone/>
            </a:pPr>
            <a:r>
              <a:rPr lang="es-ES_tradnl" altLang="es-ES" sz="2800" smtClean="0"/>
              <a:t>P(X|w1)*P(w1)=P(X|w2)*P(w2)</a:t>
            </a:r>
          </a:p>
          <a:p>
            <a:pPr eaLnBrk="1" hangingPunct="1"/>
            <a:r>
              <a:rPr lang="es-ES" altLang="es-ES" sz="2800" smtClean="0"/>
              <a:t>Sacando logaritmos, y eliminando términos iguales:</a:t>
            </a:r>
          </a:p>
          <a:p>
            <a:pPr eaLnBrk="1" hangingPunct="1"/>
            <a:endParaRPr lang="es-ES" altLang="es-ES" sz="2800" smtClean="0"/>
          </a:p>
          <a:p>
            <a:pPr eaLnBrk="1" hangingPunct="1"/>
            <a:endParaRPr lang="es-ES" altLang="es-ES" sz="2800" smtClean="0"/>
          </a:p>
          <a:p>
            <a:pPr eaLnBrk="1" hangingPunct="1"/>
            <a:r>
              <a:rPr lang="es-ES" altLang="es-ES" sz="2800" smtClean="0"/>
              <a:t>Desarrollando, la solución es la ec. Ax</a:t>
            </a:r>
            <a:r>
              <a:rPr lang="es-ES" altLang="es-ES" sz="2800" baseline="30000" smtClean="0"/>
              <a:t>2</a:t>
            </a:r>
            <a:r>
              <a:rPr lang="es-ES" altLang="es-ES" sz="2800" smtClean="0"/>
              <a:t>+Bx+C=0, donde:</a:t>
            </a:r>
          </a:p>
          <a:p>
            <a:pPr eaLnBrk="1" hangingPunct="1">
              <a:buFontTx/>
              <a:buNone/>
            </a:pPr>
            <a:r>
              <a:rPr lang="es-ES" altLang="es-ES" sz="2800" smtClean="0"/>
              <a:t>	</a:t>
            </a:r>
          </a:p>
          <a:p>
            <a:pPr eaLnBrk="1" hangingPunct="1"/>
            <a:endParaRPr lang="es-ES" altLang="es-ES" sz="2800" smtClean="0"/>
          </a:p>
        </p:txBody>
      </p:sp>
      <p:graphicFrame>
        <p:nvGraphicFramePr>
          <p:cNvPr id="2560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27100" y="3567113"/>
          <a:ext cx="752633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cuación" r:id="rId3" imgW="3759200" imgH="469900" progId="Equation.3">
                  <p:embed/>
                </p:oleObj>
              </mc:Choice>
              <mc:Fallback>
                <p:oleObj name="Ecuación" r:id="rId3" imgW="37592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3567113"/>
                        <a:ext cx="752633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1775" y="5219700"/>
          <a:ext cx="8874125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cuación" r:id="rId5" imgW="4711700" imgH="774700" progId="Equation.3">
                  <p:embed/>
                </p:oleObj>
              </mc:Choice>
              <mc:Fallback>
                <p:oleObj name="Ecuación" r:id="rId5" imgW="4711700" imgH="774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5219700"/>
                        <a:ext cx="8874125" cy="14589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1143000"/>
          </a:xfrm>
        </p:spPr>
        <p:txBody>
          <a:bodyPr/>
          <a:lstStyle/>
          <a:p>
            <a:pPr eaLnBrk="1" hangingPunct="1"/>
            <a:r>
              <a:rPr lang="es-ES" altLang="es-ES" smtClean="0"/>
              <a:t>Ejemplo en MATLAB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775" y="1689100"/>
            <a:ext cx="9310688" cy="58404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m1 = 3; s1= 2;  m2 = 5; s2=3;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x=[m1+s1*randn(1,30) m2+s2*randn(1,20)];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y=[ones(1,30) 2*ones(1,20)];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s-ES" altLang="es-ES" sz="140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indices1=find(y==1);  indices2=find(y==2);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m1=mean(x(indices1)); m2=mean(x(indices2));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s1=std(x(indices1));  s2=std(x(indices2));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Pw1=length(indices1)/length(y);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Pw2=length(indices2)/length(y);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s-ES" altLang="es-ES" sz="140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A=s1*s1-s2*s2;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B=2*(m1*s2*s2-m2*s1*s1);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C=2*s1*s1*s2*s2*(log(Pw1)-log(Pw2)-log(s1)+log(s2))+s1*s1*m2*m2-s2*s2*m1*m1;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x1=(-B+sqrt(B*B-4*A*C))/2/A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x2=(-B-sqrt(B*B-4*A*C))/2/A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s-ES" altLang="es-ES" sz="140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I=-9:0.01:9;plot(I,Pw1*normpdf(I,m1,s1));hold on;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400" smtClean="0">
                <a:latin typeface="Courier New" panose="02070309020205020404" pitchFamily="49" charset="0"/>
              </a:rPr>
              <a:t>plot(I,Pw2*normpdf(I,m2,s2),'r');hold off;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Caso multiclase</a:t>
            </a:r>
          </a:p>
        </p:txBody>
      </p:sp>
      <p:sp>
        <p:nvSpPr>
          <p:cNvPr id="27651" name="Marcador de contenido 2"/>
          <p:cNvSpPr>
            <a:spLocks noGrp="1"/>
          </p:cNvSpPr>
          <p:nvPr>
            <p:ph idx="1"/>
          </p:nvPr>
        </p:nvSpPr>
        <p:spPr>
          <a:xfrm>
            <a:off x="685800" y="1981200"/>
            <a:ext cx="8129588" cy="4114800"/>
          </a:xfrm>
        </p:spPr>
        <p:txBody>
          <a:bodyPr/>
          <a:lstStyle/>
          <a:p>
            <a:r>
              <a:rPr lang="es-ES" altLang="es-ES" smtClean="0"/>
              <a:t>La determinación de fronteras no es práctica</a:t>
            </a:r>
          </a:p>
          <a:p>
            <a:r>
              <a:rPr lang="es-ES" altLang="es-ES" smtClean="0"/>
              <a:t>Con más de dos clases se hace casi imposible</a:t>
            </a:r>
          </a:p>
          <a:p>
            <a:r>
              <a:rPr lang="es-ES" altLang="es-ES" smtClean="0"/>
              <a:t>Por ello, el proceso de clasificación bayesiano se realiza calculando el valor de la densidad de cada clase en el punto de clase desconocida</a:t>
            </a:r>
          </a:p>
          <a:p>
            <a:r>
              <a:rPr lang="es-ES" altLang="es-ES" smtClean="0"/>
              <a:t>La clase con mayor densidad en dicho punto es la clase que se asigna al punto desconocido</a:t>
            </a:r>
          </a:p>
          <a:p>
            <a:endParaRPr lang="es-ES" alt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/>
          <p:cNvSpPr>
            <a:spLocks noGrp="1"/>
          </p:cNvSpPr>
          <p:nvPr>
            <p:ph type="title"/>
          </p:nvPr>
        </p:nvSpPr>
        <p:spPr>
          <a:xfrm>
            <a:off x="685800" y="3175"/>
            <a:ext cx="7772400" cy="1143000"/>
          </a:xfrm>
        </p:spPr>
        <p:txBody>
          <a:bodyPr/>
          <a:lstStyle/>
          <a:p>
            <a:r>
              <a:rPr lang="es-ES" altLang="es-ES" smtClean="0"/>
              <a:t>Caso multiclase 1D</a:t>
            </a:r>
          </a:p>
        </p:txBody>
      </p:sp>
      <p:sp>
        <p:nvSpPr>
          <p:cNvPr id="28675" name="Rectángulo 4"/>
          <p:cNvSpPr>
            <a:spLocks noChangeArrowheads="1"/>
          </p:cNvSpPr>
          <p:nvPr/>
        </p:nvSpPr>
        <p:spPr bwMode="auto">
          <a:xfrm>
            <a:off x="1262063" y="1085850"/>
            <a:ext cx="7583487" cy="575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% Generamos unos datos artificiales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m1=3; s1=2;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m2=5; s2=3;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m3=4; s3=1;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x=[m1+s1*randn(1,30) m2+s2*randn(1,50) m3+s3*randn(1,20)];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y=[ones(1,30) 2*ones(1,50) 3*ones(1,20)];</a:t>
            </a:r>
          </a:p>
          <a:p>
            <a:pPr>
              <a:spcBef>
                <a:spcPct val="0"/>
              </a:spcBef>
              <a:buFontTx/>
              <a:buNone/>
            </a:pPr>
            <a:endParaRPr lang="es-ES" altLang="es-ES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% Estimamos los parámetros de cada clase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for i=1:3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  ind = find(y==i);                % Datos de la clase i-esima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  Pw(i) = length(ind)/length(y);   % Prob. a priori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  m{i}=mean(x(ind));               % Media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  s{i}=std(x(ind));                % Desv. standard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/>
            </a:r>
            <a:br>
              <a:rPr lang="es-ES" altLang="es-ES" sz="1600">
                <a:latin typeface="Consolas" panose="020B0609020204030204" pitchFamily="49" charset="0"/>
              </a:rPr>
            </a:br>
            <a:r>
              <a:rPr lang="es-ES" altLang="es-ES" sz="1600">
                <a:latin typeface="Consolas" panose="020B0609020204030204" pitchFamily="49" charset="0"/>
              </a:rPr>
              <a:t>% Dato a clasificar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x = 5.0; % Punto a clasificar</a:t>
            </a:r>
          </a:p>
          <a:p>
            <a:pPr>
              <a:spcBef>
                <a:spcPct val="0"/>
              </a:spcBef>
              <a:buFontTx/>
              <a:buNone/>
            </a:pPr>
            <a:endParaRPr lang="es-ES" altLang="es-ES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% Proceso de clasificación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for i=1:3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  d(i) = Pw(i)*normpdf(x,m{i},s{i});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[~,clase] = max(d)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/>
          <p:cNvSpPr>
            <a:spLocks noGrp="1"/>
          </p:cNvSpPr>
          <p:nvPr>
            <p:ph type="title"/>
          </p:nvPr>
        </p:nvSpPr>
        <p:spPr>
          <a:xfrm>
            <a:off x="685800" y="92075"/>
            <a:ext cx="7772400" cy="1143000"/>
          </a:xfrm>
        </p:spPr>
        <p:txBody>
          <a:bodyPr/>
          <a:lstStyle/>
          <a:p>
            <a:r>
              <a:rPr lang="es-ES" altLang="es-ES" smtClean="0"/>
              <a:t>Interpretación gráfica</a:t>
            </a:r>
            <a:br>
              <a:rPr lang="es-ES" altLang="es-ES" smtClean="0"/>
            </a:br>
            <a:r>
              <a:rPr lang="es-ES" altLang="es-ES" smtClean="0"/>
              <a:t>Caso multiclase 1D</a:t>
            </a:r>
          </a:p>
        </p:txBody>
      </p:sp>
      <p:sp>
        <p:nvSpPr>
          <p:cNvPr id="29699" name="Rectángulo 4"/>
          <p:cNvSpPr>
            <a:spLocks noChangeArrowheads="1"/>
          </p:cNvSpPr>
          <p:nvPr/>
        </p:nvSpPr>
        <p:spPr bwMode="auto">
          <a:xfrm>
            <a:off x="574675" y="1509713"/>
            <a:ext cx="7583488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% Sean tres prob. a posteriori (f.d.p. gaussianas) con los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% siguientes parámetros: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m1=3; s1=2; Pw1=0.3;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m2=5; s2=3; Pw2=0.5;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m3=4; s3=1; Pw3=0.2;</a:t>
            </a:r>
          </a:p>
          <a:p>
            <a:pPr>
              <a:spcBef>
                <a:spcPct val="0"/>
              </a:spcBef>
              <a:buFontTx/>
              <a:buNone/>
            </a:pPr>
            <a:endParaRPr lang="es-ES" altLang="es-ES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% Dibujamos las tres f.d.p.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I = 0:0.1:20;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plot(I,Pw1*normpdf(I,m1,s1),'r');hold on;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plot(I,Pw2*normpdf(I,m2,s2),'g');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plot(I,Pw3*normpdf(I,m3,s3),'b');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legend('clase1','clase 2','clase 3');</a:t>
            </a:r>
          </a:p>
          <a:p>
            <a:pPr>
              <a:spcBef>
                <a:spcPct val="0"/>
              </a:spcBef>
              <a:buFontTx/>
              <a:buNone/>
            </a:pPr>
            <a:endParaRPr lang="es-ES" altLang="es-ES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% Para clasificar el punto x=5.0 basta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% evaluar las prob. a post. en 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x = 5.0;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plot(x,0,'*k');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plot(x,Pw1*normpdf(x,m1,s1), '*r');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plot(x,Pw2*normpdf(x,m2,s2), '*g');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plot(x,Pw3*normpdf(x,m3,s3), '*b');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1600">
                <a:latin typeface="Consolas" panose="020B0609020204030204" pitchFamily="49" charset="0"/>
              </a:rPr>
              <a:t>hold off;</a:t>
            </a:r>
          </a:p>
        </p:txBody>
      </p:sp>
      <p:sp>
        <p:nvSpPr>
          <p:cNvPr id="29700" name="Rectángulo 2"/>
          <p:cNvSpPr>
            <a:spLocks noChangeArrowheads="1"/>
          </p:cNvSpPr>
          <p:nvPr/>
        </p:nvSpPr>
        <p:spPr bwMode="auto">
          <a:xfrm>
            <a:off x="4810125" y="2082800"/>
            <a:ext cx="4103688" cy="1016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altLang="es-ES" sz="2000">
                <a:latin typeface="Consolas" panose="020B0609020204030204" pitchFamily="49" charset="0"/>
              </a:rPr>
              <a:t>Para clasificar un punto x,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2000">
                <a:latin typeface="Consolas" panose="020B0609020204030204" pitchFamily="49" charset="0"/>
              </a:rPr>
              <a:t>basta con evaluar las prob. a posteriori en dicho punto </a:t>
            </a:r>
          </a:p>
        </p:txBody>
      </p:sp>
      <p:pic>
        <p:nvPicPr>
          <p:cNvPr id="29701" name="Imagen 4"/>
          <p:cNvPicPr>
            <a:picLocks noChangeAspect="1"/>
          </p:cNvPicPr>
          <p:nvPr/>
        </p:nvPicPr>
        <p:blipFill>
          <a:blip r:embed="rId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675" y="3763963"/>
            <a:ext cx="4092575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847850"/>
            <a:ext cx="7772400" cy="4114800"/>
          </a:xfrm>
          <a:noFill/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it-IT" altLang="es-ES" sz="2800" smtClean="0"/>
              <a:t>Función de densidad</a:t>
            </a:r>
          </a:p>
          <a:p>
            <a:pPr eaLnBrk="1" hangingPunct="1">
              <a:spcBef>
                <a:spcPct val="50000"/>
              </a:spcBef>
            </a:pPr>
            <a:endParaRPr lang="it-IT" altLang="es-ES" sz="2800" smtClean="0"/>
          </a:p>
          <a:p>
            <a:pPr eaLnBrk="1" hangingPunct="1">
              <a:spcBef>
                <a:spcPct val="50000"/>
              </a:spcBef>
            </a:pPr>
            <a:endParaRPr lang="it-IT" altLang="es-ES" sz="2800" smtClean="0"/>
          </a:p>
          <a:p>
            <a:pPr eaLnBrk="1" hangingPunct="1">
              <a:spcBef>
                <a:spcPct val="50000"/>
              </a:spcBef>
            </a:pPr>
            <a:r>
              <a:rPr lang="it-IT" altLang="es-ES" smtClean="0">
                <a:sym typeface="Symbol" panose="05050102010706020507" pitchFamily="18" charset="2"/>
              </a:rPr>
              <a:t></a:t>
            </a:r>
            <a:r>
              <a:rPr lang="it-IT" altLang="es-ES" sz="2800" baseline="-25000" smtClean="0"/>
              <a:t>nxn</a:t>
            </a:r>
            <a:r>
              <a:rPr lang="it-IT" altLang="es-ES" sz="2800" smtClean="0"/>
              <a:t> = Matriz de covarianza, definida como:</a:t>
            </a:r>
          </a:p>
          <a:p>
            <a:pPr eaLnBrk="1" hangingPunct="1">
              <a:spcBef>
                <a:spcPct val="50000"/>
              </a:spcBef>
            </a:pPr>
            <a:endParaRPr lang="it-IT" altLang="es-ES" sz="2800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Distribución normal multivariada</a:t>
            </a:r>
            <a:endParaRPr lang="es-ES" altLang="es-ES" smtClean="0"/>
          </a:p>
        </p:txBody>
      </p:sp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2330450" y="2428875"/>
          <a:ext cx="52197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1" name="Ecuación" r:id="rId3" imgW="2336800" imgH="457200" progId="Equation.3">
                  <p:embed/>
                </p:oleObj>
              </mc:Choice>
              <mc:Fallback>
                <p:oleObj name="Ecuación" r:id="rId3" imgW="23368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2428875"/>
                        <a:ext cx="5219700" cy="1035050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1893888" y="4402138"/>
          <a:ext cx="5260975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2" name="Ecuación" r:id="rId5" imgW="2717800" imgH="939800" progId="Equation.3">
                  <p:embed/>
                </p:oleObj>
              </mc:Choice>
              <mc:Fallback>
                <p:oleObj name="Ecuación" r:id="rId5" imgW="2717800" imgH="93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4402138"/>
                        <a:ext cx="5260975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/>
        </p:nvGraphicFramePr>
        <p:xfrm>
          <a:off x="1889125" y="5603875"/>
          <a:ext cx="19907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3" name="数式" r:id="rId7" imgW="1028254" imgH="253890" progId="Equation.3">
                  <p:embed/>
                </p:oleObj>
              </mc:Choice>
              <mc:Fallback>
                <p:oleObj name="数式" r:id="rId7" imgW="1028254" imgH="25389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5" y="5603875"/>
                        <a:ext cx="19907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/>
        </p:nvGraphicFramePr>
        <p:xfrm>
          <a:off x="1946275" y="6251575"/>
          <a:ext cx="30210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4" name="Ecuación" r:id="rId9" imgW="1562100" imgH="241300" progId="Equation.3">
                  <p:embed/>
                </p:oleObj>
              </mc:Choice>
              <mc:Fallback>
                <p:oleObj name="Ecuación" r:id="rId9" imgW="15621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75" y="6251575"/>
                        <a:ext cx="30210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3254375" y="3392488"/>
            <a:ext cx="3465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2400"/>
              <a:t>donde n es la longitud de 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Distribución normal multivariada</a:t>
            </a:r>
            <a:endParaRPr lang="es-ES" altLang="es-ES" smtClean="0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1908175"/>
            <a:ext cx="7580312" cy="478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smtClean="0"/>
              <a:t>Ejempos de matriz de covarianza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s-ES" altLang="es-ES" smtClean="0"/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703388"/>
            <a:ext cx="7883525" cy="515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2773" name="Grupo 4"/>
          <p:cNvGrpSpPr>
            <a:grpSpLocks/>
          </p:cNvGrpSpPr>
          <p:nvPr/>
        </p:nvGrpSpPr>
        <p:grpSpPr bwMode="auto">
          <a:xfrm>
            <a:off x="800100" y="1981200"/>
            <a:ext cx="865188" cy="1058863"/>
            <a:chOff x="4487586" y="79802"/>
            <a:chExt cx="864339" cy="1059595"/>
          </a:xfrm>
        </p:grpSpPr>
        <p:sp>
          <p:nvSpPr>
            <p:cNvPr id="32789" name="CuadroTexto 1"/>
            <p:cNvSpPr txBox="1">
              <a:spLocks noChangeArrowheads="1"/>
            </p:cNvSpPr>
            <p:nvPr/>
          </p:nvSpPr>
          <p:spPr bwMode="auto">
            <a:xfrm>
              <a:off x="4487586" y="194101"/>
              <a:ext cx="864339" cy="8309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altLang="es-ES" sz="2400">
                  <a:latin typeface="Consolas" panose="020B0609020204030204" pitchFamily="49" charset="0"/>
                </a:rPr>
                <a:t>1  0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s-ES" altLang="es-ES" sz="2400">
                  <a:latin typeface="Consolas" panose="020B0609020204030204" pitchFamily="49" charset="0"/>
                </a:rPr>
                <a:t>0  1</a:t>
              </a:r>
            </a:p>
          </p:txBody>
        </p:sp>
        <p:grpSp>
          <p:nvGrpSpPr>
            <p:cNvPr id="32790" name="Grupo 3"/>
            <p:cNvGrpSpPr>
              <a:grpSpLocks/>
            </p:cNvGrpSpPr>
            <p:nvPr/>
          </p:nvGrpSpPr>
          <p:grpSpPr bwMode="auto">
            <a:xfrm>
              <a:off x="4562062" y="79802"/>
              <a:ext cx="685800" cy="1059595"/>
              <a:chOff x="4562062" y="79802"/>
              <a:chExt cx="685800" cy="1059595"/>
            </a:xfrm>
          </p:grpSpPr>
          <p:sp>
            <p:nvSpPr>
              <p:cNvPr id="3" name="Rectángulo 2"/>
              <p:cNvSpPr/>
              <p:nvPr/>
            </p:nvSpPr>
            <p:spPr>
              <a:xfrm>
                <a:off x="4562126" y="79802"/>
                <a:ext cx="685127" cy="1985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ES"/>
              </a:p>
            </p:txBody>
          </p:sp>
          <p:sp>
            <p:nvSpPr>
              <p:cNvPr id="7" name="Rectángulo 6"/>
              <p:cNvSpPr/>
              <p:nvPr/>
            </p:nvSpPr>
            <p:spPr>
              <a:xfrm>
                <a:off x="4562126" y="940822"/>
                <a:ext cx="685127" cy="1985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ES"/>
              </a:p>
            </p:txBody>
          </p:sp>
        </p:grpSp>
      </p:grpSp>
      <p:grpSp>
        <p:nvGrpSpPr>
          <p:cNvPr id="32774" name="Grupo 9"/>
          <p:cNvGrpSpPr>
            <a:grpSpLocks/>
          </p:cNvGrpSpPr>
          <p:nvPr/>
        </p:nvGrpSpPr>
        <p:grpSpPr bwMode="auto">
          <a:xfrm>
            <a:off x="7893050" y="2078038"/>
            <a:ext cx="1204913" cy="960437"/>
            <a:chOff x="4487586" y="178902"/>
            <a:chExt cx="1204176" cy="960495"/>
          </a:xfrm>
        </p:grpSpPr>
        <p:sp>
          <p:nvSpPr>
            <p:cNvPr id="32785" name="CuadroTexto 10"/>
            <p:cNvSpPr txBox="1">
              <a:spLocks noChangeArrowheads="1"/>
            </p:cNvSpPr>
            <p:nvPr/>
          </p:nvSpPr>
          <p:spPr bwMode="auto">
            <a:xfrm>
              <a:off x="4487586" y="194101"/>
              <a:ext cx="1204176" cy="8309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altLang="es-ES" sz="2400">
                  <a:latin typeface="Consolas" panose="020B0609020204030204" pitchFamily="49" charset="0"/>
                </a:rPr>
                <a:t>1  0.8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s-ES" altLang="es-ES" sz="2400">
                  <a:latin typeface="Consolas" panose="020B0609020204030204" pitchFamily="49" charset="0"/>
                </a:rPr>
                <a:t>0.8  1</a:t>
              </a:r>
            </a:p>
          </p:txBody>
        </p:sp>
        <p:grpSp>
          <p:nvGrpSpPr>
            <p:cNvPr id="32786" name="Grupo 11"/>
            <p:cNvGrpSpPr>
              <a:grpSpLocks/>
            </p:cNvGrpSpPr>
            <p:nvPr/>
          </p:nvGrpSpPr>
          <p:grpSpPr bwMode="auto">
            <a:xfrm>
              <a:off x="4562062" y="178902"/>
              <a:ext cx="1026606" cy="960495"/>
              <a:chOff x="4562062" y="178902"/>
              <a:chExt cx="1026606" cy="960495"/>
            </a:xfrm>
          </p:grpSpPr>
          <p:sp>
            <p:nvSpPr>
              <p:cNvPr id="13" name="Rectángulo 12"/>
              <p:cNvSpPr/>
              <p:nvPr/>
            </p:nvSpPr>
            <p:spPr>
              <a:xfrm>
                <a:off x="4562153" y="178902"/>
                <a:ext cx="1026484" cy="100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ES"/>
              </a:p>
            </p:txBody>
          </p:sp>
          <p:sp>
            <p:nvSpPr>
              <p:cNvPr id="14" name="Rectángulo 13"/>
              <p:cNvSpPr/>
              <p:nvPr/>
            </p:nvSpPr>
            <p:spPr>
              <a:xfrm>
                <a:off x="4562153" y="942535"/>
                <a:ext cx="1026484" cy="1968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ES"/>
              </a:p>
            </p:txBody>
          </p:sp>
        </p:grpSp>
      </p:grpSp>
      <p:grpSp>
        <p:nvGrpSpPr>
          <p:cNvPr id="32775" name="Grupo 14"/>
          <p:cNvGrpSpPr>
            <a:grpSpLocks/>
          </p:cNvGrpSpPr>
          <p:nvPr/>
        </p:nvGrpSpPr>
        <p:grpSpPr bwMode="auto">
          <a:xfrm>
            <a:off x="7875588" y="4884738"/>
            <a:ext cx="1454150" cy="881062"/>
            <a:chOff x="4487586" y="178902"/>
            <a:chExt cx="1454915" cy="880983"/>
          </a:xfrm>
        </p:grpSpPr>
        <p:sp>
          <p:nvSpPr>
            <p:cNvPr id="32781" name="CuadroTexto 15"/>
            <p:cNvSpPr txBox="1">
              <a:spLocks noChangeArrowheads="1"/>
            </p:cNvSpPr>
            <p:nvPr/>
          </p:nvSpPr>
          <p:spPr bwMode="auto">
            <a:xfrm>
              <a:off x="4487586" y="194101"/>
              <a:ext cx="1454915" cy="7078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altLang="es-ES" sz="2000">
                  <a:latin typeface="Consolas" panose="020B0609020204030204" pitchFamily="49" charset="0"/>
                </a:rPr>
                <a:t>0.5  -0.3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s-ES" altLang="es-ES" sz="2000">
                  <a:latin typeface="Consolas" panose="020B0609020204030204" pitchFamily="49" charset="0"/>
                </a:rPr>
                <a:t>-0.3  0.5</a:t>
              </a:r>
            </a:p>
          </p:txBody>
        </p:sp>
        <p:grpSp>
          <p:nvGrpSpPr>
            <p:cNvPr id="32782" name="Grupo 16"/>
            <p:cNvGrpSpPr>
              <a:grpSpLocks/>
            </p:cNvGrpSpPr>
            <p:nvPr/>
          </p:nvGrpSpPr>
          <p:grpSpPr bwMode="auto">
            <a:xfrm>
              <a:off x="4562062" y="178902"/>
              <a:ext cx="1026606" cy="880983"/>
              <a:chOff x="4562062" y="178902"/>
              <a:chExt cx="1026606" cy="880983"/>
            </a:xfrm>
          </p:grpSpPr>
          <p:sp>
            <p:nvSpPr>
              <p:cNvPr id="18" name="Rectángulo 17"/>
              <p:cNvSpPr/>
              <p:nvPr/>
            </p:nvSpPr>
            <p:spPr>
              <a:xfrm>
                <a:off x="4562237" y="178902"/>
                <a:ext cx="1026065" cy="1000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ES"/>
              </a:p>
            </p:txBody>
          </p:sp>
          <p:sp>
            <p:nvSpPr>
              <p:cNvPr id="19" name="Rectángulo 18"/>
              <p:cNvSpPr/>
              <p:nvPr/>
            </p:nvSpPr>
            <p:spPr>
              <a:xfrm>
                <a:off x="4562237" y="863053"/>
                <a:ext cx="1026065" cy="1968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ES"/>
              </a:p>
            </p:txBody>
          </p:sp>
        </p:grpSp>
      </p:grpSp>
      <p:grpSp>
        <p:nvGrpSpPr>
          <p:cNvPr id="32776" name="Grupo 19"/>
          <p:cNvGrpSpPr>
            <a:grpSpLocks/>
          </p:cNvGrpSpPr>
          <p:nvPr/>
        </p:nvGrpSpPr>
        <p:grpSpPr bwMode="auto">
          <a:xfrm>
            <a:off x="388938" y="4903788"/>
            <a:ext cx="1171575" cy="881062"/>
            <a:chOff x="4487586" y="178902"/>
            <a:chExt cx="1172116" cy="880983"/>
          </a:xfrm>
        </p:grpSpPr>
        <p:sp>
          <p:nvSpPr>
            <p:cNvPr id="32777" name="CuadroTexto 20"/>
            <p:cNvSpPr txBox="1">
              <a:spLocks noChangeArrowheads="1"/>
            </p:cNvSpPr>
            <p:nvPr/>
          </p:nvSpPr>
          <p:spPr bwMode="auto">
            <a:xfrm>
              <a:off x="4487586" y="194101"/>
              <a:ext cx="1172116" cy="70788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altLang="es-ES" sz="2000">
                  <a:latin typeface="Consolas" panose="020B0609020204030204" pitchFamily="49" charset="0"/>
                </a:rPr>
                <a:t>1  -0.6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s-ES" altLang="es-ES" sz="2000">
                  <a:latin typeface="Consolas" panose="020B0609020204030204" pitchFamily="49" charset="0"/>
                </a:rPr>
                <a:t>-0.6  1</a:t>
              </a:r>
            </a:p>
          </p:txBody>
        </p:sp>
        <p:grpSp>
          <p:nvGrpSpPr>
            <p:cNvPr id="32778" name="Grupo 21"/>
            <p:cNvGrpSpPr>
              <a:grpSpLocks/>
            </p:cNvGrpSpPr>
            <p:nvPr/>
          </p:nvGrpSpPr>
          <p:grpSpPr bwMode="auto">
            <a:xfrm>
              <a:off x="4562062" y="178902"/>
              <a:ext cx="1026606" cy="880983"/>
              <a:chOff x="4562062" y="178902"/>
              <a:chExt cx="1026606" cy="880983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4562232" y="178902"/>
                <a:ext cx="1025999" cy="1000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ES"/>
              </a:p>
            </p:txBody>
          </p:sp>
          <p:sp>
            <p:nvSpPr>
              <p:cNvPr id="24" name="Rectángulo 23"/>
              <p:cNvSpPr/>
              <p:nvPr/>
            </p:nvSpPr>
            <p:spPr>
              <a:xfrm>
                <a:off x="4562232" y="863053"/>
                <a:ext cx="1025999" cy="1968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E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" y="1949450"/>
            <a:ext cx="7391400" cy="536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Distribución normal multivariada</a:t>
            </a:r>
            <a:br>
              <a:rPr lang="es-ES_tradnl" altLang="es-ES" smtClean="0"/>
            </a:br>
            <a:r>
              <a:rPr lang="es-ES_tradnl" altLang="es-ES" smtClean="0"/>
              <a:t>(en este caso, bivariada)</a:t>
            </a:r>
            <a:endParaRPr lang="es-ES" altLang="es-ES" smtClean="0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2035175" y="6156325"/>
            <a:ext cx="4198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En rojo, se representa P(X|Y=-1)</a:t>
            </a:r>
            <a:endParaRPr lang="es-ES" altLang="es-E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609600"/>
            <a:ext cx="8280400" cy="1143000"/>
          </a:xfrm>
        </p:spPr>
        <p:txBody>
          <a:bodyPr/>
          <a:lstStyle/>
          <a:p>
            <a:pPr eaLnBrk="1" hangingPunct="1"/>
            <a:r>
              <a:rPr lang="es-ES" altLang="es-ES" sz="4000" smtClean="0"/>
              <a:t>¿Cómo generar datos y visualizar pdf gaussiana 2D ?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163" y="2081213"/>
            <a:ext cx="87630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smtClean="0">
                <a:latin typeface="Courier New" panose="02070309020205020404" pitchFamily="49" charset="0"/>
              </a:rPr>
              <a:t>[x,y]=meshgrid(-3:0.1:3);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smtClean="0">
                <a:latin typeface="Courier New" panose="02070309020205020404" pitchFamily="49" charset="0"/>
              </a:rPr>
              <a:t>m1 = [0;0];	C1 = [1 -0.9;-0.9 1];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smtClean="0">
                <a:latin typeface="Courier New" panose="02070309020205020404" pitchFamily="49" charset="0"/>
              </a:rPr>
              <a:t>m2 = [0.5;0.9]; C2 = [0.7 0.3;0.3 0.7];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s-ES" altLang="es-ES" sz="180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smtClean="0">
                <a:latin typeface="Courier New" panose="02070309020205020404" pitchFamily="49" charset="0"/>
              </a:rPr>
              <a:t>D1 = mvnpdf([x(:) y(:)],m1</a:t>
            </a:r>
            <a:r>
              <a:rPr lang="es-ES" altLang="es-ES" sz="2800" smtClean="0"/>
              <a:t>'</a:t>
            </a:r>
            <a:r>
              <a:rPr lang="es-ES" altLang="es-ES" sz="1800" smtClean="0">
                <a:latin typeface="Courier New" panose="02070309020205020404" pitchFamily="49" charset="0"/>
              </a:rPr>
              <a:t>,C1);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smtClean="0">
                <a:latin typeface="Courier New" panose="02070309020205020404" pitchFamily="49" charset="0"/>
              </a:rPr>
              <a:t>D1=reshape(D1,size(x));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smtClean="0">
                <a:latin typeface="Courier New" panose="02070309020205020404" pitchFamily="49" charset="0"/>
              </a:rPr>
              <a:t>D2 = mvnpdf([x(:) y(:)],m2</a:t>
            </a:r>
            <a:r>
              <a:rPr lang="es-ES" altLang="es-ES" sz="2800" smtClean="0"/>
              <a:t>'</a:t>
            </a:r>
            <a:r>
              <a:rPr lang="es-ES" altLang="es-ES" sz="1800" smtClean="0">
                <a:latin typeface="Courier New" panose="02070309020205020404" pitchFamily="49" charset="0"/>
              </a:rPr>
              <a:t>,C2);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smtClean="0">
                <a:latin typeface="Courier New" panose="02070309020205020404" pitchFamily="49" charset="0"/>
              </a:rPr>
              <a:t>D2=reshape(D2,size(x));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s-ES" altLang="es-ES" sz="180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smtClean="0">
                <a:latin typeface="Courier New" panose="02070309020205020404" pitchFamily="49" charset="0"/>
              </a:rPr>
              <a:t>close all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smtClean="0">
                <a:latin typeface="Courier New" panose="02070309020205020404" pitchFamily="49" charset="0"/>
              </a:rPr>
              <a:t>mesh(-3:0.1:3, -3:0.1:3, D1);hold on;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smtClean="0">
                <a:latin typeface="Courier New" panose="02070309020205020404" pitchFamily="49" charset="0"/>
              </a:rPr>
              <a:t>mesh(-3:0.1:3, -3:0.1:3, D2);hold off;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smtClean="0">
                <a:latin typeface="Courier New" panose="02070309020205020404" pitchFamily="49" charset="0"/>
              </a:rPr>
              <a:t>figure, mesh(double(D1&gt;D2))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s-ES" altLang="es-ES" sz="180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s-ES" altLang="es-ES" sz="1800" smtClean="0">
              <a:latin typeface="Courier New" panose="02070309020205020404" pitchFamily="49" charset="0"/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6351588" y="3478213"/>
            <a:ext cx="2792412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2400"/>
              <a:t>Usar cualquiera de estas dos funciones: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2400"/>
              <a:t>    - mvnpdf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2400"/>
              <a:t>    - randnorm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sz="4000" smtClean="0"/>
              <a:t>Gaussianas 2D – la matriz de covarianza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ES" sz="2400" smtClean="0"/>
              <a:t>Es la generalización a dimensiones superiores del concepto de varianza</a:t>
            </a:r>
          </a:p>
          <a:p>
            <a:pPr eaLnBrk="1" hangingPunct="1"/>
            <a:r>
              <a:rPr lang="es-ES" altLang="es-ES" sz="2400" smtClean="0"/>
              <a:t>La </a:t>
            </a:r>
            <a:r>
              <a:rPr lang="es-ES" altLang="es-ES" sz="2400" b="1" smtClean="0"/>
              <a:t>matriz de covarianza</a:t>
            </a:r>
            <a:r>
              <a:rPr lang="es-ES" altLang="es-ES" sz="2400" smtClean="0"/>
              <a:t> es una matriz que contiene la covarianza entre los elementos de un vector. </a:t>
            </a:r>
          </a:p>
        </p:txBody>
      </p:sp>
      <p:pic>
        <p:nvPicPr>
          <p:cNvPr id="35844" name="Picture 5" descr="&#10;\Sigma&#10;= \begin{bmatrix}&#10; \mathrm{E}[(X_1 - \mu_1)(X_1 - \mu_1)] &amp; \mathrm{E}[(X_1 - \mu_1)(X_2 - \mu_2)] &amp; \cdots &amp; \mathrm{E}[(X_1 - \mu_1)(X_n - \mu_n)] \\ \\&#10; \mathrm{E}[(X_2 - \mu_2)(X_1 - \mu_1)] &amp; \mathrm{E}[(X_2 - \mu_2)(X_2 - \mu_2)] &amp; \cdots &amp; \mathrm{E}[(X_2 - \mu_2)(X_n - \mu_n)] \\ \\&#10; \vdots &amp; \vdots &amp; \ddots &amp; \vdots \\ \\&#10; \mathrm{E}[(X_n - \mu_n)(X_1 - \mu_1)] &amp; \mathrm{E}[(X_n - \mu_n)(X_2 - \mu_2)] &amp; \cdots &amp; \mathrm{E}[(X_n - \mu_n)(X_n - \mu_n)]&#10;\end{bmatrix}.&#10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4005263"/>
            <a:ext cx="8440738" cy="208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53650" cy="692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95275" y="609600"/>
            <a:ext cx="8670925" cy="1143000"/>
          </a:xfrm>
        </p:spPr>
        <p:txBody>
          <a:bodyPr/>
          <a:lstStyle/>
          <a:p>
            <a:pPr eaLnBrk="1" hangingPunct="1"/>
            <a:r>
              <a:rPr lang="es-ES_tradnl" altLang="es-ES" sz="4000" smtClean="0"/>
              <a:t>Frontera óptima 2 clases equiprobables, distrib.normal N-dimensional, </a:t>
            </a:r>
            <a:r>
              <a:rPr lang="es-ES_tradnl" altLang="es-ES" sz="4000" smtClean="0">
                <a:sym typeface="Symbol" panose="05050102010706020507" pitchFamily="18" charset="2"/>
              </a:rPr>
              <a:t>C</a:t>
            </a:r>
            <a:r>
              <a:rPr lang="es-ES_tradnl" altLang="es-ES" sz="4000" baseline="-25000" smtClean="0">
                <a:sym typeface="Symbol" panose="05050102010706020507" pitchFamily="18" charset="2"/>
              </a:rPr>
              <a:t>1</a:t>
            </a:r>
            <a:r>
              <a:rPr lang="es-ES_tradnl" altLang="es-ES" sz="4000" smtClean="0">
                <a:sym typeface="Symbol" panose="05050102010706020507" pitchFamily="18" charset="2"/>
              </a:rPr>
              <a:t>=C</a:t>
            </a:r>
            <a:r>
              <a:rPr lang="es-ES_tradnl" altLang="es-ES" sz="4000" baseline="-25000" smtClean="0">
                <a:sym typeface="Symbol" panose="05050102010706020507" pitchFamily="18" charset="2"/>
              </a:rPr>
              <a:t>2</a:t>
            </a:r>
            <a:r>
              <a:rPr lang="es-ES_tradnl" altLang="es-ES" sz="4000" smtClean="0">
                <a:sym typeface="Symbol" panose="05050102010706020507" pitchFamily="18" charset="2"/>
              </a:rPr>
              <a:t>=C</a:t>
            </a:r>
            <a:endParaRPr lang="es-ES" altLang="es-ES" sz="4000" smtClean="0">
              <a:sym typeface="Symbol" panose="05050102010706020507" pitchFamily="18" charset="2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458200" cy="4114800"/>
          </a:xfrm>
        </p:spPr>
        <p:txBody>
          <a:bodyPr/>
          <a:lstStyle/>
          <a:p>
            <a:pPr marL="533400" indent="-533400" eaLnBrk="1" hangingPunct="1"/>
            <a:r>
              <a:rPr lang="es-ES_tradnl" altLang="es-ES" sz="2800" smtClean="0"/>
              <a:t>Suponemos que : </a:t>
            </a:r>
          </a:p>
          <a:p>
            <a:pPr marL="914400" lvl="1" indent="-457200" eaLnBrk="1" hangingPunct="1">
              <a:buFontTx/>
              <a:buAutoNum type="alphaLcParenR"/>
            </a:pPr>
            <a:r>
              <a:rPr lang="es-ES_tradnl" altLang="es-ES" sz="2400" smtClean="0"/>
              <a:t>P(X|w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1</a:t>
            </a:r>
            <a:r>
              <a:rPr lang="es-ES_tradnl" altLang="es-ES" sz="2400" smtClean="0"/>
              <a:t>)=</a:t>
            </a:r>
            <a:r>
              <a:rPr lang="es-ES_tradnl" altLang="es-ES" sz="2400" i="1" smtClean="0"/>
              <a:t>N</a:t>
            </a:r>
            <a:r>
              <a:rPr lang="es-ES_tradnl" altLang="es-ES" sz="2400" smtClean="0"/>
              <a:t>(</a:t>
            </a:r>
            <a:r>
              <a:rPr lang="es-ES_tradnl" altLang="es-ES" sz="2400" smtClean="0">
                <a:latin typeface="Symbol" panose="05050102010706020507" pitchFamily="18" charset="2"/>
              </a:rPr>
              <a:t>m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1</a:t>
            </a:r>
            <a:r>
              <a:rPr lang="es-ES_tradnl" altLang="es-ES" sz="2400" smtClean="0"/>
              <a:t>,C)    ;       P(X|w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2</a:t>
            </a:r>
            <a:r>
              <a:rPr lang="es-ES_tradnl" altLang="es-ES" sz="2400" smtClean="0"/>
              <a:t>)=</a:t>
            </a:r>
            <a:r>
              <a:rPr lang="es-ES_tradnl" altLang="es-ES" sz="2400" i="1" smtClean="0"/>
              <a:t>N</a:t>
            </a:r>
            <a:r>
              <a:rPr lang="es-ES_tradnl" altLang="es-ES" sz="2400" smtClean="0"/>
              <a:t>(</a:t>
            </a:r>
            <a:r>
              <a:rPr lang="es-ES_tradnl" altLang="es-ES" sz="2400" smtClean="0">
                <a:latin typeface="Symbol" panose="05050102010706020507" pitchFamily="18" charset="2"/>
              </a:rPr>
              <a:t>m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2</a:t>
            </a:r>
            <a:r>
              <a:rPr lang="es-ES_tradnl" altLang="es-ES" sz="2400" smtClean="0"/>
              <a:t>,C)</a:t>
            </a:r>
          </a:p>
          <a:p>
            <a:pPr marL="914400" lvl="1" indent="-457200" eaLnBrk="1" hangingPunct="1">
              <a:buFontTx/>
              <a:buAutoNum type="alphaLcParenR"/>
            </a:pPr>
            <a:r>
              <a:rPr lang="es-ES_tradnl" altLang="es-ES" sz="2400" smtClean="0"/>
              <a:t>P(w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1</a:t>
            </a:r>
            <a:r>
              <a:rPr lang="es-ES_tradnl" altLang="es-ES" sz="2400" smtClean="0"/>
              <a:t>) = P(w</a:t>
            </a:r>
            <a:r>
              <a:rPr lang="es-ES_tradnl" altLang="es-ES" sz="2000" baseline="-25000" smtClean="0">
                <a:sym typeface="Symbol" panose="05050102010706020507" pitchFamily="18" charset="2"/>
              </a:rPr>
              <a:t>2</a:t>
            </a:r>
            <a:r>
              <a:rPr lang="es-ES_tradnl" altLang="es-ES" sz="2400" smtClean="0"/>
              <a:t>) = 0.5</a:t>
            </a:r>
          </a:p>
          <a:p>
            <a:pPr marL="533400" indent="-533400" eaLnBrk="1" hangingPunct="1"/>
            <a:r>
              <a:rPr lang="es-ES_tradnl" altLang="es-ES" sz="2800" smtClean="0"/>
              <a:t>La frontera de decisión ha de cumplir que:</a:t>
            </a:r>
          </a:p>
          <a:p>
            <a:pPr marL="533400" indent="-533400" algn="ctr" eaLnBrk="1" hangingPunct="1">
              <a:buFontTx/>
              <a:buNone/>
            </a:pPr>
            <a:r>
              <a:rPr lang="es-ES_tradnl" altLang="es-ES" sz="2800" smtClean="0"/>
              <a:t>P(X|w1)*P(w1)=P(X|w2)*P(w2)</a:t>
            </a:r>
          </a:p>
          <a:p>
            <a:pPr marL="533400" indent="-533400" eaLnBrk="1" hangingPunct="1"/>
            <a:r>
              <a:rPr lang="es-ES_tradnl" altLang="es-ES" sz="2800" smtClean="0"/>
              <a:t>Por tanto, sacando logaritmos: </a:t>
            </a:r>
          </a:p>
          <a:p>
            <a:pPr marL="533400" indent="-533400" eaLnBrk="1" hangingPunct="1"/>
            <a:endParaRPr lang="es-ES_tradnl" altLang="es-ES" sz="2800" smtClean="0"/>
          </a:p>
          <a:p>
            <a:pPr marL="533400" indent="-533400" eaLnBrk="1" hangingPunct="1"/>
            <a:r>
              <a:rPr lang="es-ES_tradnl" altLang="es-ES" sz="2800" smtClean="0"/>
              <a:t>Y, desarrollando, se llega a que:</a:t>
            </a:r>
            <a:endParaRPr lang="es-ES" altLang="es-ES" sz="2800" smtClean="0"/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217488" y="4948238"/>
          <a:ext cx="88312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0" name="Ecuación" r:id="rId3" imgW="6477000" imgH="419100" progId="Equation.3">
                  <p:embed/>
                </p:oleObj>
              </mc:Choice>
              <mc:Fallback>
                <p:oleObj name="Ecuación" r:id="rId3" imgW="64770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4948238"/>
                        <a:ext cx="88312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6"/>
          <p:cNvGraphicFramePr>
            <a:graphicFrameLocks noChangeAspect="1"/>
          </p:cNvGraphicFramePr>
          <p:nvPr/>
        </p:nvGraphicFramePr>
        <p:xfrm>
          <a:off x="1543050" y="6043613"/>
          <a:ext cx="68199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1" name="Ecuación" r:id="rId5" imgW="2870200" imgH="228600" progId="Equation.3">
                  <p:embed/>
                </p:oleObj>
              </mc:Choice>
              <mc:Fallback>
                <p:oleObj name="Ecuación" r:id="rId5" imgW="28702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6043613"/>
                        <a:ext cx="6819900" cy="5429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Ejemplo 1: medias diferentes e igual covarianza</a:t>
            </a:r>
            <a:endParaRPr lang="es-ES" altLang="es-ES" smtClean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m1=[2;2]; m2=[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-2</a:t>
            </a:r>
            <a:r>
              <a:rPr lang="es-ES" altLang="es-ES" sz="1800" b="1" smtClean="0">
                <a:latin typeface="Courier New" panose="02070309020205020404" pitchFamily="49" charset="0"/>
              </a:rPr>
              <a:t>;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]; C1=[1 0;0 1]; C2=[1 0;0 1];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x=[randnorm(m1,C1,1000) randnorm(m2,C2,1000)];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y=[zeros(1,1000) ones(1,1000)];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plotpat(x,y);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hold on;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plotbon(m1,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C1</a:t>
            </a:r>
            <a:r>
              <a:rPr lang="es-ES" altLang="es-ES" sz="1800" b="1" smtClean="0">
                <a:latin typeface="Courier New" panose="02070309020205020404" pitchFamily="49" charset="0"/>
              </a:rPr>
              <a:t>,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m2,</a:t>
            </a:r>
            <a:r>
              <a:rPr lang="es-ES" altLang="es-ES" sz="1800" b="1" smtClean="0">
                <a:latin typeface="Courier New" panose="02070309020205020404" pitchFamily="49" charset="0"/>
              </a:rPr>
              <a:t>C2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,'b'</a:t>
            </a:r>
            <a:r>
              <a:rPr lang="es-ES" altLang="es-ES" sz="1800" b="1" smtClean="0">
                <a:latin typeface="Courier New" panose="02070309020205020404" pitchFamily="49" charset="0"/>
              </a:rPr>
              <a:t>);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_tradnl" altLang="es-ES" sz="1800" b="1" smtClean="0">
                <a:latin typeface="Courier New" panose="02070309020205020404" pitchFamily="49" charset="0"/>
              </a:rPr>
              <a:t>axis([-4 6 -4 6])</a:t>
            </a:r>
            <a:endParaRPr lang="es-ES" altLang="es-ES" sz="1800" b="1" smtClean="0">
              <a:latin typeface="Courier New" panose="02070309020205020404" pitchFamily="49" charset="0"/>
            </a:endParaRPr>
          </a:p>
        </p:txBody>
      </p:sp>
      <p:pic>
        <p:nvPicPr>
          <p:cNvPr id="389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857500"/>
            <a:ext cx="53340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00050" y="609600"/>
            <a:ext cx="8458200" cy="1143000"/>
          </a:xfrm>
        </p:spPr>
        <p:txBody>
          <a:bodyPr/>
          <a:lstStyle/>
          <a:p>
            <a:pPr eaLnBrk="1" hangingPunct="1"/>
            <a:r>
              <a:rPr lang="es-ES_tradnl" altLang="es-ES" smtClean="0"/>
              <a:t>Ejemplo 2: Matrices de covarianza proporcionales e igual media</a:t>
            </a:r>
            <a:endParaRPr lang="es-ES" altLang="es-ES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m1=[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;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]; m2=[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;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]; C1=[1 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0</a:t>
            </a:r>
            <a:r>
              <a:rPr lang="es-ES" altLang="es-ES" sz="1800" b="1" smtClean="0">
                <a:latin typeface="Courier New" panose="02070309020205020404" pitchFamily="49" charset="0"/>
              </a:rPr>
              <a:t>;0 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]; C2=[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0.5</a:t>
            </a:r>
            <a:r>
              <a:rPr lang="es-ES" altLang="es-ES" sz="1800" b="1" smtClean="0">
                <a:latin typeface="Courier New" panose="02070309020205020404" pitchFamily="49" charset="0"/>
              </a:rPr>
              <a:t> 0;0 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0.5</a:t>
            </a:r>
            <a:r>
              <a:rPr lang="es-ES" altLang="es-ES" sz="1800" b="1" smtClean="0">
                <a:latin typeface="Courier New" panose="02070309020205020404" pitchFamily="49" charset="0"/>
              </a:rPr>
              <a:t>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x=[randnorm(m1,C1,1000) randnorm(m2,C2,1000)];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y=[zeros(1,1000) ones(1,1000)];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plotpat(x,y);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hold on;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plotbon(m1,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C1</a:t>
            </a:r>
            <a:r>
              <a:rPr lang="es-ES" altLang="es-ES" sz="1800" b="1" smtClean="0">
                <a:latin typeface="Courier New" panose="02070309020205020404" pitchFamily="49" charset="0"/>
              </a:rPr>
              <a:t>,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m2,</a:t>
            </a:r>
            <a:r>
              <a:rPr lang="es-ES" altLang="es-ES" sz="1800" b="1" smtClean="0">
                <a:latin typeface="Courier New" panose="02070309020205020404" pitchFamily="49" charset="0"/>
              </a:rPr>
              <a:t>C2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,'b'</a:t>
            </a:r>
            <a:r>
              <a:rPr lang="es-ES" altLang="es-ES" sz="1800" b="1" smtClean="0">
                <a:latin typeface="Courier New" panose="02070309020205020404" pitchFamily="49" charset="0"/>
              </a:rPr>
              <a:t>);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_tradnl" altLang="es-ES" sz="1800" b="1" smtClean="0">
                <a:latin typeface="Courier New" panose="02070309020205020404" pitchFamily="49" charset="0"/>
              </a:rPr>
              <a:t>axis([-4 6 -4 6])</a:t>
            </a:r>
            <a:endParaRPr lang="es-ES" altLang="es-ES" sz="1800" b="1" smtClean="0">
              <a:latin typeface="Courier New" panose="02070309020205020404" pitchFamily="49" charset="0"/>
            </a:endParaRPr>
          </a:p>
        </p:txBody>
      </p:sp>
      <p:pic>
        <p:nvPicPr>
          <p:cNvPr id="3994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163" y="2736850"/>
            <a:ext cx="4683125" cy="428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00050" y="609600"/>
            <a:ext cx="8458200" cy="1143000"/>
          </a:xfrm>
        </p:spPr>
        <p:txBody>
          <a:bodyPr/>
          <a:lstStyle/>
          <a:p>
            <a:pPr eaLnBrk="1" hangingPunct="1"/>
            <a:r>
              <a:rPr lang="es-ES_tradnl" altLang="es-ES" smtClean="0"/>
              <a:t>Ejemplo 2: Matrices de covarianza diferentes e igual media</a:t>
            </a:r>
            <a:endParaRPr lang="es-ES" altLang="es-ES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m1=[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;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]; m2=[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;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]; C1=[1 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0</a:t>
            </a:r>
            <a:r>
              <a:rPr lang="es-ES" altLang="es-ES" sz="1800" b="1" smtClean="0">
                <a:latin typeface="Courier New" panose="02070309020205020404" pitchFamily="49" charset="0"/>
              </a:rPr>
              <a:t>;0 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]; C2=[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0.5</a:t>
            </a:r>
            <a:r>
              <a:rPr lang="es-ES" altLang="es-ES" sz="1800" b="1" smtClean="0">
                <a:latin typeface="Courier New" panose="02070309020205020404" pitchFamily="49" charset="0"/>
              </a:rPr>
              <a:t> 0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.2</a:t>
            </a:r>
            <a:r>
              <a:rPr lang="es-ES" altLang="es-ES" sz="1800" b="1" smtClean="0">
                <a:latin typeface="Courier New" panose="02070309020205020404" pitchFamily="49" charset="0"/>
              </a:rPr>
              <a:t>;0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.2</a:t>
            </a:r>
            <a:r>
              <a:rPr lang="es-ES" altLang="es-ES" sz="1800" b="1" smtClean="0">
                <a:latin typeface="Courier New" panose="02070309020205020404" pitchFamily="49" charset="0"/>
              </a:rPr>
              <a:t> 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0.3</a:t>
            </a:r>
            <a:r>
              <a:rPr lang="es-ES" altLang="es-ES" sz="1800" b="1" smtClean="0">
                <a:latin typeface="Courier New" panose="02070309020205020404" pitchFamily="49" charset="0"/>
              </a:rPr>
              <a:t>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x=[randnorm(m1,C1,1000) randnorm(m2,C2,1000)];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y=[zeros(1,1000) ones(1,1000)];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plotpat(x,y);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hold on;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plotbon(m1,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C1</a:t>
            </a:r>
            <a:r>
              <a:rPr lang="es-ES" altLang="es-ES" sz="1800" b="1" smtClean="0">
                <a:latin typeface="Courier New" panose="02070309020205020404" pitchFamily="49" charset="0"/>
              </a:rPr>
              <a:t>,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m2,</a:t>
            </a:r>
            <a:r>
              <a:rPr lang="es-ES" altLang="es-ES" sz="1800" b="1" smtClean="0">
                <a:latin typeface="Courier New" panose="02070309020205020404" pitchFamily="49" charset="0"/>
              </a:rPr>
              <a:t>C2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,'b'</a:t>
            </a:r>
            <a:r>
              <a:rPr lang="es-ES" altLang="es-ES" sz="1800" b="1" smtClean="0">
                <a:latin typeface="Courier New" panose="02070309020205020404" pitchFamily="49" charset="0"/>
              </a:rPr>
              <a:t>);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_tradnl" altLang="es-ES" sz="1800" b="1" smtClean="0">
                <a:latin typeface="Courier New" panose="02070309020205020404" pitchFamily="49" charset="0"/>
              </a:rPr>
              <a:t>axis([-4 6 -4 6])</a:t>
            </a:r>
            <a:endParaRPr lang="es-ES" altLang="es-ES" sz="1800" b="1" smtClean="0">
              <a:latin typeface="Courier New" panose="02070309020205020404" pitchFamily="49" charset="0"/>
            </a:endParaRPr>
          </a:p>
        </p:txBody>
      </p:sp>
      <p:pic>
        <p:nvPicPr>
          <p:cNvPr id="4096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857500"/>
            <a:ext cx="53340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Ejemplo 4: Medias y matrices de covarianza diferentes</a:t>
            </a:r>
            <a:endParaRPr lang="es-ES" altLang="es-ES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m1=[2;2]; m2=[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-2</a:t>
            </a:r>
            <a:r>
              <a:rPr lang="es-ES" altLang="es-ES" sz="1800" b="1" smtClean="0">
                <a:latin typeface="Courier New" panose="02070309020205020404" pitchFamily="49" charset="0"/>
              </a:rPr>
              <a:t>;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]; C1=[1 0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.8</a:t>
            </a:r>
            <a:r>
              <a:rPr lang="es-ES" altLang="es-ES" sz="1800" b="1" smtClean="0">
                <a:latin typeface="Courier New" panose="02070309020205020404" pitchFamily="49" charset="0"/>
              </a:rPr>
              <a:t>;0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.8</a:t>
            </a:r>
            <a:r>
              <a:rPr lang="es-ES" altLang="es-ES" sz="1800" b="1" smtClean="0">
                <a:latin typeface="Courier New" panose="02070309020205020404" pitchFamily="49" charset="0"/>
              </a:rPr>
              <a:t> 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1</a:t>
            </a:r>
            <a:r>
              <a:rPr lang="es-ES" altLang="es-ES" sz="1800" b="1" smtClean="0">
                <a:latin typeface="Courier New" panose="02070309020205020404" pitchFamily="49" charset="0"/>
              </a:rPr>
              <a:t>]; C2=[1 0;0 1];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x=[randnorm(m1,C1,1000) randnorm(m2,C2,1000)];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y=[zeros(1,1000) ones(1,1000)];</a:t>
            </a: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plotpat(x,y);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hold on;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" altLang="es-ES" sz="1800" b="1" smtClean="0">
                <a:latin typeface="Courier New" panose="02070309020205020404" pitchFamily="49" charset="0"/>
              </a:rPr>
              <a:t>plotbon(m1,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C1</a:t>
            </a:r>
            <a:r>
              <a:rPr lang="es-ES" altLang="es-ES" sz="1800" b="1" smtClean="0">
                <a:latin typeface="Courier New" panose="02070309020205020404" pitchFamily="49" charset="0"/>
              </a:rPr>
              <a:t>,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m2,</a:t>
            </a:r>
            <a:r>
              <a:rPr lang="es-ES" altLang="es-ES" sz="1800" b="1" smtClean="0">
                <a:latin typeface="Courier New" panose="02070309020205020404" pitchFamily="49" charset="0"/>
              </a:rPr>
              <a:t>C2</a:t>
            </a:r>
            <a:r>
              <a:rPr lang="es-ES_tradnl" altLang="es-ES" sz="1800" b="1" smtClean="0">
                <a:latin typeface="Courier New" panose="02070309020205020404" pitchFamily="49" charset="0"/>
              </a:rPr>
              <a:t>,'b'</a:t>
            </a:r>
            <a:r>
              <a:rPr lang="es-ES" altLang="es-ES" sz="1800" b="1" smtClean="0">
                <a:latin typeface="Courier New" panose="02070309020205020404" pitchFamily="49" charset="0"/>
              </a:rPr>
              <a:t>);</a:t>
            </a:r>
            <a:endParaRPr lang="es-ES_tradnl" altLang="es-ES" sz="18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s-ES_tradnl" altLang="es-ES" sz="1800" b="1" smtClean="0">
                <a:latin typeface="Courier New" panose="02070309020205020404" pitchFamily="49" charset="0"/>
              </a:rPr>
              <a:t>axis([-4 6 -4 6])</a:t>
            </a:r>
            <a:endParaRPr lang="es-ES" altLang="es-ES" sz="1800" b="1" smtClean="0">
              <a:latin typeface="Courier New" panose="02070309020205020404" pitchFamily="49" charset="0"/>
            </a:endParaRPr>
          </a:p>
        </p:txBody>
      </p:sp>
      <p:pic>
        <p:nvPicPr>
          <p:cNvPr id="4198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857500"/>
            <a:ext cx="53340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Conclusiones</a:t>
            </a:r>
            <a:endParaRPr lang="es-ES" altLang="es-ES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81975" cy="4114800"/>
          </a:xfrm>
        </p:spPr>
        <p:txBody>
          <a:bodyPr/>
          <a:lstStyle/>
          <a:p>
            <a:pPr eaLnBrk="1" hangingPunct="1"/>
            <a:r>
              <a:rPr lang="es-ES_tradnl" altLang="es-ES" sz="2400" smtClean="0"/>
              <a:t>Caso 1.-  El </a:t>
            </a:r>
            <a:r>
              <a:rPr lang="es-ES_tradnl" altLang="es-ES" sz="2400" i="1" smtClean="0"/>
              <a:t>clasificador bayesiano óptimo</a:t>
            </a:r>
            <a:r>
              <a:rPr lang="es-ES_tradnl" altLang="es-ES" sz="2400" smtClean="0"/>
              <a:t> al  considerar clases distribuidas normalmente, equiprobables, e igual matriz de covarianza es el clasificados de mínima distancia considerando la distancia </a:t>
            </a:r>
            <a:r>
              <a:rPr lang="es-ES_tradnl" altLang="es-ES" sz="2400" i="1" smtClean="0"/>
              <a:t>euclídea</a:t>
            </a:r>
            <a:r>
              <a:rPr lang="es-ES_tradnl" altLang="es-ES" sz="2400" smtClean="0"/>
              <a:t>. En este caso, la frontera es un hiperplano de dimensión N-1 (una recta en el caso 2D)</a:t>
            </a:r>
          </a:p>
          <a:p>
            <a:pPr eaLnBrk="1" hangingPunct="1"/>
            <a:endParaRPr lang="es-ES_tradnl" altLang="es-ES" sz="2400" smtClean="0"/>
          </a:p>
          <a:p>
            <a:pPr eaLnBrk="1" hangingPunct="1"/>
            <a:r>
              <a:rPr lang="es-ES_tradnl" altLang="es-ES" sz="2400" smtClean="0"/>
              <a:t>Caso 2.- Cuando la matriz de covarianza varía entre las clases, se obtiene el clasificador de mínima distancia considerando la distancia de </a:t>
            </a:r>
            <a:r>
              <a:rPr lang="es-ES_tradnl" altLang="es-ES" sz="2400" i="1" smtClean="0"/>
              <a:t>Mahalanobis</a:t>
            </a:r>
            <a:r>
              <a:rPr lang="es-ES_tradnl" altLang="es-ES" sz="2400" smtClean="0"/>
              <a:t>. En este caso, la frontera es una hipercuádrica (una cónica en el caso 2D)</a:t>
            </a:r>
            <a:endParaRPr lang="es-ES" altLang="es-E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s-ES" altLang="es-ES" sz="4400" smtClean="0"/>
              <a:t>Estimación de densidad</a:t>
            </a:r>
          </a:p>
        </p:txBody>
      </p:sp>
      <p:sp>
        <p:nvSpPr>
          <p:cNvPr id="5120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es-ES" altLang="es-ES" sz="3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52413"/>
            <a:ext cx="7772400" cy="1143000"/>
          </a:xfrm>
        </p:spPr>
        <p:txBody>
          <a:bodyPr/>
          <a:lstStyle/>
          <a:p>
            <a:pPr eaLnBrk="1" hangingPunct="1"/>
            <a:r>
              <a:rPr lang="es-ES" altLang="es-ES" smtClean="0"/>
              <a:t>Métodos básicos de </a:t>
            </a:r>
            <a:br>
              <a:rPr lang="es-ES" altLang="es-ES" smtClean="0"/>
            </a:br>
            <a:r>
              <a:rPr lang="es-ES" altLang="es-ES" smtClean="0"/>
              <a:t>estimación de densidad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24025"/>
            <a:ext cx="8291513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s-ES" altLang="es-ES" sz="2800" smtClean="0"/>
              <a:t>Histograma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s-ES" sz="2400" smtClean="0"/>
              <a:t>La curva de densidad obtenida no es continua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s-ES" sz="2400" smtClean="0"/>
              <a:t>Hemos de fijar el ancho de los intervalos</a:t>
            </a:r>
          </a:p>
          <a:p>
            <a:pPr eaLnBrk="1" hangingPunct="1">
              <a:lnSpc>
                <a:spcPct val="80000"/>
              </a:lnSpc>
            </a:pPr>
            <a:r>
              <a:rPr lang="es-ES" altLang="es-ES" sz="2800" smtClean="0"/>
              <a:t>Función predefinida (por ejemplo, una gaussiana)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s-ES" sz="2400" smtClean="0"/>
              <a:t>La función suele ser continua, pero no tiene por qué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s-ES" sz="2400" smtClean="0"/>
              <a:t>Hay que estimar los parámetros de la función(ej: media y matriz de covarianza si es una gaussiana) a partir de los datos</a:t>
            </a:r>
          </a:p>
          <a:p>
            <a:pPr eaLnBrk="1" hangingPunct="1">
              <a:lnSpc>
                <a:spcPct val="80000"/>
              </a:lnSpc>
            </a:pPr>
            <a:r>
              <a:rPr lang="es-ES" altLang="es-ES" sz="2800" smtClean="0"/>
              <a:t>Ventanas de Parzen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s-ES" sz="2400" smtClean="0"/>
              <a:t>La curva resultante es continua si lo son las funciones base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s-ES" sz="2400" smtClean="0"/>
              <a:t>La curva de densidad se obtiene como suma de numerosas funciones predefinidas(gaussianas), cada una de ellas centrada en cada uno de los datos disponibles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92075"/>
            <a:ext cx="7772400" cy="1143000"/>
          </a:xfrm>
        </p:spPr>
        <p:txBody>
          <a:bodyPr/>
          <a:lstStyle/>
          <a:p>
            <a:pPr eaLnBrk="1" hangingPunct="1"/>
            <a:r>
              <a:rPr lang="es-ES" altLang="es-ES" smtClean="0"/>
              <a:t>Método de Parzen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3875" y="1354138"/>
            <a:ext cx="8458200" cy="4114800"/>
          </a:xfrm>
        </p:spPr>
        <p:txBody>
          <a:bodyPr/>
          <a:lstStyle/>
          <a:p>
            <a:pPr eaLnBrk="1" hangingPunct="1"/>
            <a:r>
              <a:rPr lang="es-ES" altLang="es-ES" sz="2800" smtClean="0"/>
              <a:t>Se define una función (gaussiana) centrada en cada uno de los datos (media=dato i-esimo)</a:t>
            </a:r>
          </a:p>
          <a:p>
            <a:pPr eaLnBrk="1" hangingPunct="1"/>
            <a:r>
              <a:rPr lang="es-ES" altLang="es-ES" sz="2800" smtClean="0"/>
              <a:t>Se suman entre sí y se divide el total por el número de gaussianas sumadas</a:t>
            </a:r>
          </a:p>
          <a:p>
            <a:pPr eaLnBrk="1" hangingPunct="1"/>
            <a:endParaRPr lang="es-ES" altLang="es-ES" sz="2800" smtClean="0"/>
          </a:p>
          <a:p>
            <a:pPr eaLnBrk="1" hangingPunct="1"/>
            <a:endParaRPr lang="es-ES" altLang="es-ES" sz="2800" smtClean="0"/>
          </a:p>
          <a:p>
            <a:pPr eaLnBrk="1" hangingPunct="1"/>
            <a:endParaRPr lang="es-ES" altLang="es-ES" sz="2800" smtClean="0"/>
          </a:p>
          <a:p>
            <a:pPr eaLnBrk="1" hangingPunct="1"/>
            <a:r>
              <a:rPr lang="es-ES" altLang="es-ES" sz="2800" smtClean="0"/>
              <a:t>Determinar la anchura óptima es un problema de difícil solución. </a:t>
            </a:r>
          </a:p>
          <a:p>
            <a:pPr eaLnBrk="1" hangingPunct="1"/>
            <a:r>
              <a:rPr lang="es-ES" altLang="es-ES" sz="2800" smtClean="0"/>
              <a:t>Si sigma muy grande, densidad demasiado suave</a:t>
            </a:r>
          </a:p>
          <a:p>
            <a:pPr eaLnBrk="1" hangingPunct="1"/>
            <a:r>
              <a:rPr lang="es-ES" altLang="es-ES" sz="2800" smtClean="0"/>
              <a:t>Si sigma muy pequeña, densidad con irregularidades</a:t>
            </a:r>
          </a:p>
        </p:txBody>
      </p:sp>
      <p:grpSp>
        <p:nvGrpSpPr>
          <p:cNvPr id="53252" name="Grupo 1"/>
          <p:cNvGrpSpPr>
            <a:grpSpLocks/>
          </p:cNvGrpSpPr>
          <p:nvPr/>
        </p:nvGrpSpPr>
        <p:grpSpPr bwMode="auto">
          <a:xfrm>
            <a:off x="893763" y="2825750"/>
            <a:ext cx="7581900" cy="1889125"/>
            <a:chOff x="869950" y="4525963"/>
            <a:chExt cx="7605713" cy="1889125"/>
          </a:xfrm>
        </p:grpSpPr>
        <p:sp>
          <p:nvSpPr>
            <p:cNvPr id="53255" name="Line 4"/>
            <p:cNvSpPr>
              <a:spLocks noChangeShapeType="1"/>
            </p:cNvSpPr>
            <p:nvPr/>
          </p:nvSpPr>
          <p:spPr bwMode="auto">
            <a:xfrm flipV="1">
              <a:off x="869950" y="6196013"/>
              <a:ext cx="7605713" cy="23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pic>
          <p:nvPicPr>
            <p:cNvPr id="53256" name="Picture 5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4529138"/>
              <a:ext cx="3373438" cy="1885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3257" name="Picture 6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638" y="4525963"/>
              <a:ext cx="3373437" cy="1885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3258" name="Line 7"/>
            <p:cNvSpPr>
              <a:spLocks noChangeShapeType="1"/>
            </p:cNvSpPr>
            <p:nvPr/>
          </p:nvSpPr>
          <p:spPr bwMode="auto">
            <a:xfrm>
              <a:off x="3702050" y="6057900"/>
              <a:ext cx="0" cy="347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3259" name="Line 8"/>
            <p:cNvSpPr>
              <a:spLocks noChangeShapeType="1"/>
            </p:cNvSpPr>
            <p:nvPr/>
          </p:nvSpPr>
          <p:spPr bwMode="auto">
            <a:xfrm>
              <a:off x="5845175" y="6019800"/>
              <a:ext cx="0" cy="347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0" name="Elipse 9"/>
          <p:cNvSpPr/>
          <p:nvPr/>
        </p:nvSpPr>
        <p:spPr>
          <a:xfrm>
            <a:off x="3644900" y="4468813"/>
            <a:ext cx="109538" cy="1000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1" name="Elipse 10"/>
          <p:cNvSpPr/>
          <p:nvPr/>
        </p:nvSpPr>
        <p:spPr>
          <a:xfrm>
            <a:off x="5784850" y="4483100"/>
            <a:ext cx="109538" cy="984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3338"/>
            <a:ext cx="7772400" cy="1143000"/>
          </a:xfrm>
        </p:spPr>
        <p:txBody>
          <a:bodyPr/>
          <a:lstStyle/>
          <a:p>
            <a:pPr eaLnBrk="1" hangingPunct="1"/>
            <a:r>
              <a:rPr lang="es-ES" altLang="es-ES" sz="4000" smtClean="0"/>
              <a:t>Cómo calcula la densidad </a:t>
            </a:r>
            <a:br>
              <a:rPr lang="es-ES" altLang="es-ES" sz="4000" smtClean="0"/>
            </a:br>
            <a:r>
              <a:rPr lang="es-ES" altLang="es-ES" sz="4000" smtClean="0"/>
              <a:t>el método de Parzen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12863"/>
            <a:ext cx="8774112" cy="48529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%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Densidad</a:t>
            </a:r>
            <a:r>
              <a:rPr lang="en-US" altLang="es-ES" sz="1600" dirty="0" smtClean="0">
                <a:latin typeface="Courier New" panose="02070309020205020404" pitchFamily="49" charset="0"/>
              </a:rPr>
              <a:t> exacta a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estimar</a:t>
            </a:r>
            <a:r>
              <a:rPr lang="en-US" altLang="es-ES" sz="1600" dirty="0" smtClean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x=5:0.1:45;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h = (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normpdf</a:t>
            </a:r>
            <a:r>
              <a:rPr lang="en-US" altLang="es-ES" sz="1600" dirty="0" smtClean="0">
                <a:latin typeface="Courier New" panose="02070309020205020404" pitchFamily="49" charset="0"/>
              </a:rPr>
              <a:t>(x,30,5) +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normpdf</a:t>
            </a:r>
            <a:r>
              <a:rPr lang="en-US" altLang="es-ES" sz="1600" dirty="0" smtClean="0">
                <a:latin typeface="Courier New" panose="02070309020205020404" pitchFamily="49" charset="0"/>
              </a:rPr>
              <a:t>(x,17,3))/2;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plot(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x,h,'r</a:t>
            </a:r>
            <a:r>
              <a:rPr lang="en-US" altLang="es-ES" sz="1600" dirty="0" smtClean="0">
                <a:latin typeface="Courier New" panose="02070309020205020404" pitchFamily="49" charset="0"/>
              </a:rPr>
              <a:t>');hold on;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s-ES" sz="1600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% 1000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datos</a:t>
            </a:r>
            <a:r>
              <a:rPr lang="en-US" altLang="es-ES" sz="1600" dirty="0" smtClean="0">
                <a:latin typeface="Courier New" panose="02070309020205020404" pitchFamily="49" charset="0"/>
              </a:rPr>
              <a:t> con la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distribución</a:t>
            </a:r>
            <a:r>
              <a:rPr lang="en-US" altLang="es-ES" sz="1600" dirty="0" smtClean="0">
                <a:latin typeface="Courier New" panose="02070309020205020404" pitchFamily="49" charset="0"/>
              </a:rPr>
              <a:t> anterior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err="1" smtClean="0">
                <a:latin typeface="Courier New" panose="02070309020205020404" pitchFamily="49" charset="0"/>
              </a:rPr>
              <a:t>datos</a:t>
            </a:r>
            <a:r>
              <a:rPr lang="en-US" altLang="es-ES" sz="1600" dirty="0" smtClean="0">
                <a:latin typeface="Courier New" panose="02070309020205020404" pitchFamily="49" charset="0"/>
              </a:rPr>
              <a:t>=shuffle([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randn</a:t>
            </a:r>
            <a:r>
              <a:rPr lang="en-US" altLang="es-ES" sz="1600" dirty="0" smtClean="0">
                <a:latin typeface="Courier New" panose="02070309020205020404" pitchFamily="49" charset="0"/>
              </a:rPr>
              <a:t>(1,500)*5+30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randn</a:t>
            </a:r>
            <a:r>
              <a:rPr lang="en-US" altLang="es-ES" sz="1600" dirty="0" smtClean="0">
                <a:latin typeface="Courier New" panose="02070309020205020404" pitchFamily="49" charset="0"/>
              </a:rPr>
              <a:t>(1,500)*3+17]);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s-ES" sz="1600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%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Densidad</a:t>
            </a:r>
            <a:r>
              <a:rPr lang="en-US" altLang="es-ES" sz="1600" dirty="0" smtClean="0">
                <a:latin typeface="Courier New" panose="02070309020205020404" pitchFamily="49" charset="0"/>
              </a:rPr>
              <a:t>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estimada</a:t>
            </a:r>
            <a:r>
              <a:rPr lang="en-US" altLang="es-ES" sz="1600" dirty="0" smtClean="0">
                <a:latin typeface="Courier New" panose="02070309020205020404" pitchFamily="49" charset="0"/>
              </a:rPr>
              <a:t> con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i</a:t>
            </a:r>
            <a:r>
              <a:rPr lang="en-US" altLang="es-ES" sz="1600" dirty="0" smtClean="0">
                <a:latin typeface="Courier New" panose="02070309020205020404" pitchFamily="49" charset="0"/>
              </a:rPr>
              <a:t>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puntos</a:t>
            </a:r>
            <a:endParaRPr lang="en-US" altLang="es-ES" sz="1600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sigma=1;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h=zeros(1,length(x));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for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i</a:t>
            </a:r>
            <a:r>
              <a:rPr lang="en-US" altLang="es-ES" sz="1600" dirty="0" smtClean="0">
                <a:latin typeface="Courier New" panose="02070309020205020404" pitchFamily="49" charset="0"/>
              </a:rPr>
              <a:t>=1:length(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datos</a:t>
            </a:r>
            <a:r>
              <a:rPr lang="en-US" altLang="es-ES" sz="1600" dirty="0" smtClean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  h = h +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normpdf</a:t>
            </a:r>
            <a:r>
              <a:rPr lang="en-US" altLang="es-ES" sz="1600" dirty="0" smtClean="0">
                <a:latin typeface="Courier New" panose="02070309020205020404" pitchFamily="49" charset="0"/>
              </a:rPr>
              <a:t>(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x,datos</a:t>
            </a:r>
            <a:r>
              <a:rPr lang="en-US" altLang="es-ES" sz="1600" dirty="0" smtClean="0">
                <a:latin typeface="Courier New" panose="02070309020205020404" pitchFamily="49" charset="0"/>
              </a:rPr>
              <a:t>(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i</a:t>
            </a:r>
            <a:r>
              <a:rPr lang="en-US" altLang="es-ES" sz="1600" dirty="0" smtClean="0">
                <a:latin typeface="Courier New" panose="02070309020205020404" pitchFamily="49" charset="0"/>
              </a:rPr>
              <a:t>), sigma);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  if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i</a:t>
            </a:r>
            <a:r>
              <a:rPr lang="en-US" altLang="es-ES" sz="1600" dirty="0" smtClean="0">
                <a:latin typeface="Courier New" panose="02070309020205020404" pitchFamily="49" charset="0"/>
              </a:rPr>
              <a:t>&gt;1,delete(handles);end;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  handles(1)=plot(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x,h</a:t>
            </a:r>
            <a:r>
              <a:rPr lang="en-US" altLang="es-ES" sz="1600" dirty="0" smtClean="0">
                <a:latin typeface="Courier New" panose="02070309020205020404" pitchFamily="49" charset="0"/>
              </a:rPr>
              <a:t>/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i</a:t>
            </a:r>
            <a:r>
              <a:rPr lang="en-US" altLang="es-ES" sz="1600" dirty="0" smtClean="0">
                <a:latin typeface="Courier New" panose="02070309020205020404" pitchFamily="49" charset="0"/>
              </a:rPr>
              <a:t>,'b');  % La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densidad</a:t>
            </a:r>
            <a:r>
              <a:rPr lang="en-US" altLang="es-ES" sz="1600" dirty="0" smtClean="0">
                <a:latin typeface="Courier New" panose="02070309020205020404" pitchFamily="49" charset="0"/>
              </a:rPr>
              <a:t>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es</a:t>
            </a:r>
            <a:r>
              <a:rPr lang="en-US" altLang="es-ES" sz="1600" dirty="0" smtClean="0">
                <a:latin typeface="Courier New" panose="02070309020205020404" pitchFamily="49" charset="0"/>
              </a:rPr>
              <a:t> h/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i</a:t>
            </a:r>
            <a:endParaRPr lang="en-US" altLang="es-ES" sz="1600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  handles(2)=plot(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datos</a:t>
            </a:r>
            <a:r>
              <a:rPr lang="en-US" altLang="es-ES" sz="1600" dirty="0" smtClean="0">
                <a:latin typeface="Courier New" panose="02070309020205020404" pitchFamily="49" charset="0"/>
              </a:rPr>
              <a:t>(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i</a:t>
            </a:r>
            <a:r>
              <a:rPr lang="en-US" altLang="es-ES" sz="1600" dirty="0" smtClean="0">
                <a:latin typeface="Courier New" panose="02070309020205020404" pitchFamily="49" charset="0"/>
              </a:rPr>
              <a:t>),0,'*b');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  title(num2str(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i</a:t>
            </a:r>
            <a:r>
              <a:rPr lang="en-US" altLang="es-ES" sz="1600" dirty="0" smtClean="0">
                <a:latin typeface="Courier New" panose="02070309020205020404" pitchFamily="49" charset="0"/>
              </a:rPr>
              <a:t>),'FontSize',14);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  legend('exacta','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estimada</a:t>
            </a:r>
            <a:r>
              <a:rPr lang="en-US" altLang="es-ES" sz="1600" dirty="0" smtClean="0">
                <a:latin typeface="Courier New" panose="02070309020205020404" pitchFamily="49" charset="0"/>
              </a:rPr>
              <a:t>')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  axis([5 45 0 0.2])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  </a:t>
            </a:r>
            <a:r>
              <a:rPr lang="en-US" altLang="es-ES" sz="1600" dirty="0" err="1" smtClean="0">
                <a:latin typeface="Courier New" panose="02070309020205020404" pitchFamily="49" charset="0"/>
              </a:rPr>
              <a:t>drawnow</a:t>
            </a:r>
            <a:r>
              <a:rPr lang="en-US" altLang="es-ES" sz="1600" dirty="0" smtClean="0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  </a:t>
            </a:r>
            <a:r>
              <a:rPr lang="en-US" altLang="es-ES" sz="1600" dirty="0" smtClean="0">
                <a:latin typeface="Courier New" panose="02070309020205020404" pitchFamily="49" charset="0"/>
              </a:rPr>
              <a:t>% pause  </a:t>
            </a:r>
            <a:endParaRPr lang="en-US" altLang="es-ES" sz="1600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s-ES" sz="1600" dirty="0" smtClean="0">
                <a:latin typeface="Courier New" panose="02070309020205020404" pitchFamily="49" charset="0"/>
              </a:rPr>
              <a:t>end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ítulo 1"/>
          <p:cNvSpPr>
            <a:spLocks noGrp="1"/>
          </p:cNvSpPr>
          <p:nvPr>
            <p:ph type="title"/>
          </p:nvPr>
        </p:nvSpPr>
        <p:spPr>
          <a:xfrm>
            <a:off x="1670050" y="0"/>
            <a:ext cx="7772400" cy="1143000"/>
          </a:xfrm>
        </p:spPr>
        <p:txBody>
          <a:bodyPr/>
          <a:lstStyle/>
          <a:p>
            <a:r>
              <a:rPr lang="es-ES" altLang="es-ES" smtClean="0"/>
              <a:t>Ej:Clasif. Parzen en B.D. iris</a:t>
            </a:r>
          </a:p>
        </p:txBody>
      </p:sp>
      <p:sp>
        <p:nvSpPr>
          <p:cNvPr id="55299" name="Marcador de contenido 2"/>
          <p:cNvSpPr>
            <a:spLocks noGrp="1"/>
          </p:cNvSpPr>
          <p:nvPr>
            <p:ph idx="1"/>
          </p:nvPr>
        </p:nvSpPr>
        <p:spPr>
          <a:xfrm>
            <a:off x="596900" y="571500"/>
            <a:ext cx="8199438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load iris 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y=y+1;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x0 = [4.6;3;1.2;0.5]'; % Punto a clasificar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s = 0.5; % El valor óptimo de s es difícil de determinar</a:t>
            </a:r>
          </a:p>
          <a:p>
            <a:pPr marL="0" indent="0">
              <a:buFontTx/>
              <a:buNone/>
            </a:pPr>
            <a:endParaRPr lang="es-ES" altLang="es-ES" sz="1400" dirty="0" smtClean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400" dirty="0" err="1" smtClean="0">
                <a:latin typeface="Consolas" panose="020B0609020204030204" pitchFamily="49" charset="0"/>
              </a:rPr>
              <a:t>for</a:t>
            </a:r>
            <a:r>
              <a:rPr lang="es-ES" altLang="es-ES" sz="1400" dirty="0" smtClean="0">
                <a:latin typeface="Consolas" panose="020B0609020204030204" pitchFamily="49" charset="0"/>
              </a:rPr>
              <a:t> i=1:3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aux</a:t>
            </a:r>
            <a:r>
              <a:rPr lang="es-ES" altLang="es-ES" sz="1400" dirty="0" smtClean="0">
                <a:latin typeface="Consolas" panose="020B0609020204030204" pitchFamily="49" charset="0"/>
              </a:rPr>
              <a:t> = x(:,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find</a:t>
            </a:r>
            <a:r>
              <a:rPr lang="es-ES" altLang="es-ES" sz="1400" dirty="0" smtClean="0">
                <a:latin typeface="Consolas" panose="020B0609020204030204" pitchFamily="49" charset="0"/>
              </a:rPr>
              <a:t>(y==i)); % Datos de la clase i-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esima</a:t>
            </a:r>
            <a:endParaRPr lang="es-ES" altLang="es-ES" sz="1400" dirty="0" smtClean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s-ES" altLang="es-ES" sz="1400" dirty="0" smtClean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% Calculamos la densidad de cada clase en el punto x0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d(i)=0; % Densidad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for</a:t>
            </a:r>
            <a:r>
              <a:rPr lang="es-ES" altLang="es-ES" sz="1400" dirty="0" smtClean="0">
                <a:latin typeface="Consolas" panose="020B0609020204030204" pitchFamily="49" charset="0"/>
              </a:rPr>
              <a:t> j=1:size(aux,2)   % Acumularemos el valor de una gaussiana 4D de anchura s 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  mu   = 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aux</a:t>
            </a:r>
            <a:r>
              <a:rPr lang="es-ES" altLang="es-ES" sz="1400" dirty="0" smtClean="0">
                <a:latin typeface="Consolas" panose="020B0609020204030204" pitchFamily="49" charset="0"/>
              </a:rPr>
              <a:t>(:,j)';   % en cada dimensión y centrada en el punto j-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esimo</a:t>
            </a:r>
            <a:endParaRPr lang="es-ES" altLang="es-ES" sz="1400" dirty="0" smtClean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  C    = s*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eye</a:t>
            </a:r>
            <a:r>
              <a:rPr lang="es-ES" altLang="es-ES" sz="1400" dirty="0" smtClean="0">
                <a:latin typeface="Consolas" panose="020B0609020204030204" pitchFamily="49" charset="0"/>
              </a:rPr>
              <a:t>(4);    % Matriz de covarianza de anchura s en todas dimensiones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  d(i) = d(i) + 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mvnpdf</a:t>
            </a:r>
            <a:r>
              <a:rPr lang="es-ES" altLang="es-ES" sz="1400" dirty="0" smtClean="0">
                <a:latin typeface="Consolas" panose="020B0609020204030204" pitchFamily="49" charset="0"/>
              </a:rPr>
              <a:t>(x0,mu,C);     % Acumulamos la densidad en el punto x0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end</a:t>
            </a:r>
            <a:endParaRPr lang="es-ES" altLang="es-ES" sz="1400" dirty="0" smtClean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d(i)=d(i)/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size</a:t>
            </a:r>
            <a:r>
              <a:rPr lang="es-ES" altLang="es-ES" sz="1400" dirty="0" smtClean="0">
                <a:latin typeface="Consolas" panose="020B0609020204030204" pitchFamily="49" charset="0"/>
              </a:rPr>
              <a:t>(aux,2); % Dividimos para obtener la densidad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% Obtenemos 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Prob</a:t>
            </a:r>
            <a:r>
              <a:rPr lang="es-ES" altLang="es-ES" sz="1400" dirty="0" smtClean="0">
                <a:latin typeface="Consolas" panose="020B0609020204030204" pitchFamily="49" charset="0"/>
              </a:rPr>
              <a:t>. a priori y a posteriori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Pw</a:t>
            </a:r>
            <a:r>
              <a:rPr lang="es-ES" altLang="es-ES" sz="1400" dirty="0" smtClean="0">
                <a:latin typeface="Consolas" panose="020B0609020204030204" pitchFamily="49" charset="0"/>
              </a:rPr>
              <a:t>(i) = 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size</a:t>
            </a:r>
            <a:r>
              <a:rPr lang="es-ES" altLang="es-ES" sz="1400" dirty="0" smtClean="0">
                <a:latin typeface="Consolas" panose="020B0609020204030204" pitchFamily="49" charset="0"/>
              </a:rPr>
              <a:t>(aux,2)/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length</a:t>
            </a:r>
            <a:r>
              <a:rPr lang="es-ES" altLang="es-ES" sz="1400" dirty="0" smtClean="0">
                <a:latin typeface="Consolas" panose="020B0609020204030204" pitchFamily="49" charset="0"/>
              </a:rPr>
              <a:t>(y);  </a:t>
            </a:r>
            <a:r>
              <a:rPr lang="es-ES" altLang="es-ES" sz="1400" dirty="0" smtClean="0">
                <a:latin typeface="Consolas" panose="020B0609020204030204" pitchFamily="49" charset="0"/>
              </a:rPr>
              <a:t>  </a:t>
            </a:r>
            <a:r>
              <a:rPr lang="es-ES" altLang="es-ES" sz="1400" dirty="0" smtClean="0">
                <a:latin typeface="Consolas" panose="020B0609020204030204" pitchFamily="49" charset="0"/>
              </a:rPr>
              <a:t>% 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Prob</a:t>
            </a:r>
            <a:r>
              <a:rPr lang="es-ES" altLang="es-ES" sz="1400" dirty="0" smtClean="0">
                <a:latin typeface="Consolas" panose="020B0609020204030204" pitchFamily="49" charset="0"/>
              </a:rPr>
              <a:t>. a priori </a:t>
            </a: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  P(i)  = 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Pw</a:t>
            </a:r>
            <a:r>
              <a:rPr lang="es-ES" altLang="es-ES" sz="1400" dirty="0" smtClean="0">
                <a:latin typeface="Consolas" panose="020B0609020204030204" pitchFamily="49" charset="0"/>
              </a:rPr>
              <a:t>(i)*d(i);               % 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Prob</a:t>
            </a:r>
            <a:r>
              <a:rPr lang="es-ES" altLang="es-ES" sz="1400" dirty="0" smtClean="0">
                <a:latin typeface="Consolas" panose="020B0609020204030204" pitchFamily="49" charset="0"/>
              </a:rPr>
              <a:t>. a posteriori </a:t>
            </a:r>
          </a:p>
          <a:p>
            <a:pPr marL="0" indent="0">
              <a:buFontTx/>
              <a:buNone/>
            </a:pPr>
            <a:r>
              <a:rPr lang="es-ES" altLang="es-ES" sz="1400" dirty="0" err="1" smtClean="0">
                <a:latin typeface="Consolas" panose="020B0609020204030204" pitchFamily="49" charset="0"/>
              </a:rPr>
              <a:t>end</a:t>
            </a:r>
            <a:endParaRPr lang="es-ES" altLang="es-ES" sz="1400" dirty="0" smtClean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s-ES" altLang="es-ES" sz="1400" dirty="0" smtClean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s-ES" altLang="es-ES" sz="1400" dirty="0" smtClean="0">
                <a:latin typeface="Consolas" panose="020B0609020204030204" pitchFamily="49" charset="0"/>
              </a:rPr>
              <a:t>[~,clase]=</a:t>
            </a:r>
            <a:r>
              <a:rPr lang="es-ES" altLang="es-ES" sz="1400" dirty="0" err="1" smtClean="0">
                <a:latin typeface="Consolas" panose="020B0609020204030204" pitchFamily="49" charset="0"/>
              </a:rPr>
              <a:t>max</a:t>
            </a:r>
            <a:r>
              <a:rPr lang="es-ES" altLang="es-ES" sz="1400" dirty="0" smtClean="0">
                <a:latin typeface="Consolas" panose="020B0609020204030204" pitchFamily="49" charset="0"/>
              </a:rPr>
              <a:t>(P)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s-ES" altLang="es-ES" sz="4400" smtClean="0"/>
              <a:t>Clasificador de mínimo riesgo de predicción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es-ES" altLang="es-ES" sz="3200" smtClean="0"/>
          </a:p>
        </p:txBody>
      </p:sp>
    </p:spTree>
    <p:extLst>
      <p:ext uri="{BB962C8B-B14F-4D97-AF65-F5344CB8AC3E}">
        <p14:creationId xmlns:p14="http://schemas.microsoft.com/office/powerpoint/2010/main" val="342388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Coste de una decisión</a:t>
            </a:r>
          </a:p>
        </p:txBody>
      </p:sp>
      <p:sp>
        <p:nvSpPr>
          <p:cNvPr id="45059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altLang="es-ES" sz="2800" smtClean="0"/>
              <a:t>El coste al tomar una decisión en un problema de clasificación puede ser muy diferente según el sentido en que se cometa. </a:t>
            </a:r>
          </a:p>
          <a:p>
            <a:r>
              <a:rPr lang="es-ES" altLang="es-ES" sz="2800" smtClean="0"/>
              <a:t>Sea un sistema automático de detección de cáncer</a:t>
            </a:r>
          </a:p>
          <a:p>
            <a:pPr lvl="1"/>
            <a:r>
              <a:rPr lang="es-ES" altLang="es-ES" sz="2400" smtClean="0"/>
              <a:t>COSTE CERO: Si el sistema acierta, no hay problema</a:t>
            </a:r>
          </a:p>
          <a:p>
            <a:pPr lvl="1"/>
            <a:r>
              <a:rPr lang="es-ES" altLang="es-ES" sz="2400" smtClean="0"/>
              <a:t>COSTE MEDIO: Si el paciente no tiene cáncer y el sistema indica que sí, el coste de equivocarnos es someter al paciente a un tratamiento innecesario</a:t>
            </a:r>
          </a:p>
          <a:p>
            <a:pPr lvl="1"/>
            <a:r>
              <a:rPr lang="es-ES" altLang="es-ES" sz="2400" smtClean="0"/>
              <a:t>COSTE MUY ALTO: Si el paciente tiene cáncer y el sistema se equivoca y dice que no, el paciente puede morir y el coste es muy alto (demandas?)</a:t>
            </a:r>
          </a:p>
        </p:txBody>
      </p:sp>
    </p:spTree>
    <p:extLst>
      <p:ext uri="{BB962C8B-B14F-4D97-AF65-F5344CB8AC3E}">
        <p14:creationId xmlns:p14="http://schemas.microsoft.com/office/powerpoint/2010/main" val="71650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La función de pérdida</a:t>
            </a:r>
            <a:endParaRPr lang="es-ES" altLang="es-ES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234363" cy="4114800"/>
          </a:xfrm>
        </p:spPr>
        <p:txBody>
          <a:bodyPr/>
          <a:lstStyle/>
          <a:p>
            <a:pPr eaLnBrk="1" hangingPunct="1"/>
            <a:r>
              <a:rPr lang="es-ES_tradnl" altLang="es-ES" sz="2400" smtClean="0"/>
              <a:t>Se define la función de pérdida como una matriz cuadrada no simétrica, en que el elemento L</a:t>
            </a:r>
            <a:r>
              <a:rPr lang="es-ES_tradnl" altLang="es-ES" sz="2400" baseline="-25000" smtClean="0"/>
              <a:t>ij</a:t>
            </a:r>
            <a:r>
              <a:rPr lang="es-ES_tradnl" altLang="es-ES" sz="2400" smtClean="0"/>
              <a:t> expresa el coste de elegir la clase j, cuando la clase real es la i</a:t>
            </a:r>
          </a:p>
          <a:p>
            <a:pPr algn="ctr" eaLnBrk="1" hangingPunct="1">
              <a:buFontTx/>
              <a:buNone/>
            </a:pPr>
            <a:r>
              <a:rPr lang="es-ES_tradnl" altLang="es-ES" sz="2400" smtClean="0"/>
              <a:t>L</a:t>
            </a:r>
            <a:r>
              <a:rPr lang="es-ES_tradnl" altLang="es-ES" sz="2400" baseline="-25000" smtClean="0"/>
              <a:t>ij</a:t>
            </a:r>
            <a:r>
              <a:rPr lang="es-ES_tradnl" altLang="es-ES" sz="2400" smtClean="0"/>
              <a:t>=L(w</a:t>
            </a:r>
            <a:r>
              <a:rPr lang="es-ES_tradnl" altLang="es-ES" sz="2400" baseline="-25000" smtClean="0"/>
              <a:t>i</a:t>
            </a:r>
            <a:r>
              <a:rPr lang="es-ES_tradnl" altLang="es-ES" sz="2400" smtClean="0"/>
              <a:t>,w</a:t>
            </a:r>
            <a:r>
              <a:rPr lang="es-ES_tradnl" altLang="es-ES" sz="2400" baseline="-25000" smtClean="0"/>
              <a:t>j</a:t>
            </a:r>
            <a:r>
              <a:rPr lang="es-ES_tradnl" altLang="es-ES" sz="2400" smtClean="0"/>
              <a:t>)</a:t>
            </a:r>
          </a:p>
          <a:p>
            <a:pPr eaLnBrk="1" hangingPunct="1"/>
            <a:r>
              <a:rPr lang="es-ES_tradnl" altLang="es-ES" sz="2400" smtClean="0"/>
              <a:t>El nº de filas y columnas es el nº de clases</a:t>
            </a:r>
          </a:p>
          <a:p>
            <a:pPr eaLnBrk="1" hangingPunct="1"/>
            <a:r>
              <a:rPr lang="es-ES_tradnl" altLang="es-ES" sz="2400" smtClean="0"/>
              <a:t>La función de pérdida más usual es la denominada "zero-loss", en que L</a:t>
            </a:r>
            <a:r>
              <a:rPr lang="es-ES_tradnl" altLang="es-ES" sz="2400" baseline="-25000" smtClean="0"/>
              <a:t>ij</a:t>
            </a:r>
            <a:r>
              <a:rPr lang="es-ES_tradnl" altLang="es-ES" sz="2400" smtClean="0"/>
              <a:t>=0 si i=j, y 1 en caso contrario</a:t>
            </a:r>
          </a:p>
          <a:p>
            <a:pPr eaLnBrk="1" hangingPunct="1"/>
            <a:r>
              <a:rPr lang="es-ES_tradnl" altLang="es-ES" sz="2400" smtClean="0"/>
              <a:t>En el caso del ejemplo del cáncer (1:sano; 2:cáncer), la matriz podría ser:</a:t>
            </a:r>
          </a:p>
          <a:p>
            <a:pPr eaLnBrk="1" hangingPunct="1"/>
            <a:endParaRPr lang="es-ES" altLang="es-ES" sz="2400" smtClean="0"/>
          </a:p>
        </p:txBody>
      </p:sp>
      <p:sp>
        <p:nvSpPr>
          <p:cNvPr id="46084" name="CuadroTexto 2"/>
          <p:cNvSpPr txBox="1">
            <a:spLocks noChangeArrowheads="1"/>
          </p:cNvSpPr>
          <p:nvPr/>
        </p:nvSpPr>
        <p:spPr bwMode="auto">
          <a:xfrm>
            <a:off x="2185988" y="5713413"/>
            <a:ext cx="546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altLang="es-ES" sz="2400"/>
              <a:t>L=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911475" y="5437188"/>
            <a:ext cx="2416175" cy="1012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5" name="Rectángulo 4"/>
          <p:cNvSpPr/>
          <p:nvPr/>
        </p:nvSpPr>
        <p:spPr>
          <a:xfrm>
            <a:off x="3001963" y="5272088"/>
            <a:ext cx="2265362" cy="1343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46087" name="CuadroTexto 1"/>
          <p:cNvSpPr txBox="1">
            <a:spLocks noChangeArrowheads="1"/>
          </p:cNvSpPr>
          <p:nvPr/>
        </p:nvSpPr>
        <p:spPr bwMode="auto">
          <a:xfrm>
            <a:off x="2981325" y="5527675"/>
            <a:ext cx="218598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altLang="es-ES" sz="2400"/>
              <a:t>      0            100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ES" sz="2400"/>
              <a:t>1000000        0</a:t>
            </a:r>
          </a:p>
        </p:txBody>
      </p:sp>
    </p:spTree>
    <p:extLst>
      <p:ext uri="{BB962C8B-B14F-4D97-AF65-F5344CB8AC3E}">
        <p14:creationId xmlns:p14="http://schemas.microsoft.com/office/powerpoint/2010/main" val="207305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El riesgo de predicción</a:t>
            </a:r>
            <a:endParaRPr lang="es-ES" altLang="es-ES" smtClean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2036763"/>
            <a:ext cx="8532812" cy="4114800"/>
          </a:xfrm>
        </p:spPr>
        <p:txBody>
          <a:bodyPr/>
          <a:lstStyle/>
          <a:p>
            <a:pPr eaLnBrk="1" hangingPunct="1"/>
            <a:r>
              <a:rPr lang="es-ES_tradnl" altLang="es-ES" sz="2800" smtClean="0"/>
              <a:t>Dado que un patrón dado x puede pertenecer a cualquiera de las M clases posibles, se define la pérdida esperada o riesgo medio de asignar x a la clase j como:</a:t>
            </a:r>
          </a:p>
          <a:p>
            <a:pPr eaLnBrk="1" hangingPunct="1"/>
            <a:endParaRPr lang="es-ES_tradnl" altLang="es-ES" sz="2800" smtClean="0"/>
          </a:p>
          <a:p>
            <a:pPr eaLnBrk="1" hangingPunct="1"/>
            <a:endParaRPr lang="es-ES_tradnl" altLang="es-ES" sz="2800" smtClean="0"/>
          </a:p>
          <a:p>
            <a:pPr eaLnBrk="1" hangingPunct="1"/>
            <a:r>
              <a:rPr lang="es-ES_tradnl" altLang="es-ES" sz="2800" smtClean="0"/>
              <a:t>Por el teorema de Bayes, y desechando el término P(x): </a:t>
            </a:r>
          </a:p>
          <a:p>
            <a:pPr algn="ctr" eaLnBrk="1" hangingPunct="1">
              <a:buFontTx/>
              <a:buNone/>
            </a:pPr>
            <a:endParaRPr lang="es-ES_tradnl" altLang="es-ES" sz="2800" smtClean="0"/>
          </a:p>
          <a:p>
            <a:pPr eaLnBrk="1" hangingPunct="1"/>
            <a:endParaRPr lang="es-ES_tradnl" altLang="es-ES" sz="2800" smtClean="0"/>
          </a:p>
          <a:p>
            <a:pPr eaLnBrk="1" hangingPunct="1"/>
            <a:endParaRPr lang="es-ES" altLang="es-ES" sz="2800" smtClean="0"/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2908300" y="3249613"/>
          <a:ext cx="3457575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4" name="Ecuación" r:id="rId3" imgW="1422400" imgH="431800" progId="Equation.3">
                  <p:embed/>
                </p:oleObj>
              </mc:Choice>
              <mc:Fallback>
                <p:oleObj name="Ecuación" r:id="rId3" imgW="1422400" imgH="431800" progId="Equation.3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3249613"/>
                        <a:ext cx="3457575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2308225" y="5122863"/>
          <a:ext cx="4476750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5" name="Ecuación" r:id="rId5" imgW="1841500" imgH="431800" progId="Equation.3">
                  <p:embed/>
                </p:oleObj>
              </mc:Choice>
              <mc:Fallback>
                <p:oleObj name="Ecuación" r:id="rId5" imgW="1841500" imgH="431800" progId="Equation.3">
                  <p:embed/>
                  <p:pic>
                    <p:nvPicPr>
                      <p:cNvPr id="47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225" y="5122863"/>
                        <a:ext cx="4476750" cy="1049337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525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>
          <a:xfrm>
            <a:off x="685800" y="331788"/>
            <a:ext cx="7772400" cy="1143000"/>
          </a:xfrm>
        </p:spPr>
        <p:txBody>
          <a:bodyPr/>
          <a:lstStyle/>
          <a:p>
            <a:r>
              <a:rPr lang="es-ES" altLang="es-ES" smtClean="0"/>
              <a:t>Riesgo de elegir la clase j </a:t>
            </a:r>
            <a:br>
              <a:rPr lang="es-ES" altLang="es-ES" smtClean="0"/>
            </a:br>
            <a:r>
              <a:rPr lang="es-ES" altLang="es-ES" smtClean="0"/>
              <a:t>(caso biclase)</a:t>
            </a:r>
          </a:p>
        </p:txBody>
      </p:sp>
      <p:graphicFrame>
        <p:nvGraphicFramePr>
          <p:cNvPr id="48131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514475" y="1938338"/>
          <a:ext cx="5364163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6" name="Ecuación" r:id="rId3" imgW="1752600" imgH="685800" progId="Equation.3">
                  <p:embed/>
                </p:oleObj>
              </mc:Choice>
              <mc:Fallback>
                <p:oleObj name="Ecuación" r:id="rId3" imgW="1752600" imgH="685800" progId="Equation.3">
                  <p:embed/>
                  <p:pic>
                    <p:nvPicPr>
                      <p:cNvPr id="48131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1938338"/>
                        <a:ext cx="5364163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CuadroTexto 4"/>
          <p:cNvSpPr txBox="1">
            <a:spLocks noChangeArrowheads="1"/>
          </p:cNvSpPr>
          <p:nvPr/>
        </p:nvSpPr>
        <p:spPr bwMode="auto">
          <a:xfrm>
            <a:off x="139700" y="4483100"/>
            <a:ext cx="3460750" cy="8302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Coste de elegir la clase j,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cuando la clase real es la 1</a:t>
            </a:r>
          </a:p>
        </p:txBody>
      </p:sp>
      <p:sp>
        <p:nvSpPr>
          <p:cNvPr id="48133" name="CuadroTexto 5"/>
          <p:cNvSpPr txBox="1">
            <a:spLocks noChangeArrowheads="1"/>
          </p:cNvSpPr>
          <p:nvPr/>
        </p:nvSpPr>
        <p:spPr bwMode="auto">
          <a:xfrm>
            <a:off x="4195763" y="4483100"/>
            <a:ext cx="3462337" cy="8302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Coste de elegir la clase j,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cuando la clase real es la 2</a:t>
            </a:r>
          </a:p>
        </p:txBody>
      </p:sp>
      <p:sp>
        <p:nvSpPr>
          <p:cNvPr id="48134" name="CuadroTexto 6"/>
          <p:cNvSpPr txBox="1">
            <a:spLocks noChangeArrowheads="1"/>
          </p:cNvSpPr>
          <p:nvPr/>
        </p:nvSpPr>
        <p:spPr bwMode="auto">
          <a:xfrm>
            <a:off x="2955925" y="5530850"/>
            <a:ext cx="1831975" cy="12001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Probabilidad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a posteriori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de la clase 1 </a:t>
            </a:r>
          </a:p>
        </p:txBody>
      </p:sp>
      <p:sp>
        <p:nvSpPr>
          <p:cNvPr id="48135" name="CuadroTexto 7"/>
          <p:cNvSpPr txBox="1">
            <a:spLocks noChangeArrowheads="1"/>
          </p:cNvSpPr>
          <p:nvPr/>
        </p:nvSpPr>
        <p:spPr bwMode="auto">
          <a:xfrm>
            <a:off x="7099300" y="1685925"/>
            <a:ext cx="1831975" cy="12001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Probabilidad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a posteriori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de la clase 2 </a:t>
            </a:r>
          </a:p>
        </p:txBody>
      </p:sp>
      <p:cxnSp>
        <p:nvCxnSpPr>
          <p:cNvPr id="10" name="Conector recto de flecha 9"/>
          <p:cNvCxnSpPr>
            <a:stCxn id="48132" idx="0"/>
          </p:cNvCxnSpPr>
          <p:nvPr/>
        </p:nvCxnSpPr>
        <p:spPr>
          <a:xfrm flipH="1" flipV="1">
            <a:off x="1789113" y="4002088"/>
            <a:ext cx="80962" cy="481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 flipH="1" flipV="1">
            <a:off x="4799013" y="4002088"/>
            <a:ext cx="336550" cy="409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>
            <a:stCxn id="48134" idx="0"/>
          </p:cNvCxnSpPr>
          <p:nvPr/>
        </p:nvCxnSpPr>
        <p:spPr>
          <a:xfrm flipH="1" flipV="1">
            <a:off x="3519488" y="3951288"/>
            <a:ext cx="352425" cy="1579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>
            <a:stCxn id="48135" idx="2"/>
          </p:cNvCxnSpPr>
          <p:nvPr/>
        </p:nvCxnSpPr>
        <p:spPr>
          <a:xfrm flipH="1">
            <a:off x="6878638" y="2886075"/>
            <a:ext cx="1136650" cy="55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40" name="CuadroTexto 30"/>
          <p:cNvSpPr txBox="1">
            <a:spLocks noChangeArrowheads="1"/>
          </p:cNvSpPr>
          <p:nvPr/>
        </p:nvSpPr>
        <p:spPr bwMode="auto">
          <a:xfrm>
            <a:off x="155575" y="1089025"/>
            <a:ext cx="2189163" cy="8302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Riesgo al elegir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la clase j</a:t>
            </a:r>
          </a:p>
        </p:txBody>
      </p:sp>
      <p:cxnSp>
        <p:nvCxnSpPr>
          <p:cNvPr id="32" name="Conector recto de flecha 31"/>
          <p:cNvCxnSpPr>
            <a:stCxn id="48140" idx="2"/>
          </p:cNvCxnSpPr>
          <p:nvPr/>
        </p:nvCxnSpPr>
        <p:spPr>
          <a:xfrm>
            <a:off x="1249363" y="1919288"/>
            <a:ext cx="579437" cy="446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9930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z="3200" smtClean="0"/>
              <a:t>Clasificador bayesiano basado en el mínimo riesgo de predicción</a:t>
            </a:r>
            <a:endParaRPr lang="es-ES" altLang="es-ES" sz="3200" smtClean="0"/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1120775" y="2690813"/>
            <a:ext cx="1624013" cy="522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431925" y="2687638"/>
            <a:ext cx="109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49157" name="Line 5"/>
          <p:cNvSpPr>
            <a:spLocks noChangeShapeType="1"/>
          </p:cNvSpPr>
          <p:nvPr/>
        </p:nvSpPr>
        <p:spPr bwMode="auto">
          <a:xfrm>
            <a:off x="207963" y="3009900"/>
            <a:ext cx="896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58" name="Oval 6"/>
          <p:cNvSpPr>
            <a:spLocks noChangeArrowheads="1"/>
          </p:cNvSpPr>
          <p:nvPr/>
        </p:nvSpPr>
        <p:spPr bwMode="auto">
          <a:xfrm>
            <a:off x="3421063" y="2654300"/>
            <a:ext cx="541337" cy="541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2789238" y="1833563"/>
            <a:ext cx="889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3363913" y="2319338"/>
            <a:ext cx="261937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61" name="Line 9"/>
          <p:cNvSpPr>
            <a:spLocks noChangeShapeType="1"/>
          </p:cNvSpPr>
          <p:nvPr/>
        </p:nvSpPr>
        <p:spPr bwMode="auto">
          <a:xfrm flipV="1">
            <a:off x="2768600" y="29527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62" name="Line 10"/>
          <p:cNvSpPr>
            <a:spLocks noChangeShapeType="1"/>
          </p:cNvSpPr>
          <p:nvPr/>
        </p:nvSpPr>
        <p:spPr bwMode="auto">
          <a:xfrm>
            <a:off x="4038600" y="2938463"/>
            <a:ext cx="192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63" name="Text Box 11"/>
          <p:cNvSpPr txBox="1">
            <a:spLocks noChangeArrowheads="1"/>
          </p:cNvSpPr>
          <p:nvPr/>
        </p:nvSpPr>
        <p:spPr bwMode="auto">
          <a:xfrm>
            <a:off x="4019550" y="2409825"/>
            <a:ext cx="186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r>
              <a:rPr lang="es-ES_tradnl" altLang="es-ES" sz="2400">
                <a:cs typeface="Times New Roman" panose="02020603050405020304" pitchFamily="18" charset="0"/>
              </a:rPr>
              <a:t>·P(w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49164" name="Rectangle 12"/>
          <p:cNvSpPr>
            <a:spLocks noChangeArrowheads="1"/>
          </p:cNvSpPr>
          <p:nvPr/>
        </p:nvSpPr>
        <p:spPr bwMode="auto">
          <a:xfrm>
            <a:off x="1120775" y="4100513"/>
            <a:ext cx="1624013" cy="522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9165" name="Text Box 13"/>
          <p:cNvSpPr txBox="1">
            <a:spLocks noChangeArrowheads="1"/>
          </p:cNvSpPr>
          <p:nvPr/>
        </p:nvSpPr>
        <p:spPr bwMode="auto">
          <a:xfrm>
            <a:off x="1431925" y="4097338"/>
            <a:ext cx="109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49166" name="Line 14"/>
          <p:cNvSpPr>
            <a:spLocks noChangeShapeType="1"/>
          </p:cNvSpPr>
          <p:nvPr/>
        </p:nvSpPr>
        <p:spPr bwMode="auto">
          <a:xfrm>
            <a:off x="207963" y="4419600"/>
            <a:ext cx="896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67" name="Oval 15"/>
          <p:cNvSpPr>
            <a:spLocks noChangeArrowheads="1"/>
          </p:cNvSpPr>
          <p:nvPr/>
        </p:nvSpPr>
        <p:spPr bwMode="auto">
          <a:xfrm>
            <a:off x="3440113" y="4064000"/>
            <a:ext cx="541337" cy="541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9168" name="Text Box 16"/>
          <p:cNvSpPr txBox="1">
            <a:spLocks noChangeArrowheads="1"/>
          </p:cNvSpPr>
          <p:nvPr/>
        </p:nvSpPr>
        <p:spPr bwMode="auto">
          <a:xfrm>
            <a:off x="2789238" y="3243263"/>
            <a:ext cx="889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49169" name="Line 17"/>
          <p:cNvSpPr>
            <a:spLocks noChangeShapeType="1"/>
          </p:cNvSpPr>
          <p:nvPr/>
        </p:nvSpPr>
        <p:spPr bwMode="auto">
          <a:xfrm>
            <a:off x="3363913" y="3729038"/>
            <a:ext cx="261937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70" name="Line 18"/>
          <p:cNvSpPr>
            <a:spLocks noChangeShapeType="1"/>
          </p:cNvSpPr>
          <p:nvPr/>
        </p:nvSpPr>
        <p:spPr bwMode="auto">
          <a:xfrm flipV="1">
            <a:off x="2768600" y="43624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71" name="Line 19"/>
          <p:cNvSpPr>
            <a:spLocks noChangeShapeType="1"/>
          </p:cNvSpPr>
          <p:nvPr/>
        </p:nvSpPr>
        <p:spPr bwMode="auto">
          <a:xfrm>
            <a:off x="4038600" y="4348163"/>
            <a:ext cx="192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72" name="Text Box 20"/>
          <p:cNvSpPr txBox="1">
            <a:spLocks noChangeArrowheads="1"/>
          </p:cNvSpPr>
          <p:nvPr/>
        </p:nvSpPr>
        <p:spPr bwMode="auto">
          <a:xfrm>
            <a:off x="4019550" y="3819525"/>
            <a:ext cx="186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r>
              <a:rPr lang="es-ES_tradnl" altLang="es-ES" sz="2400">
                <a:cs typeface="Times New Roman" panose="02020603050405020304" pitchFamily="18" charset="0"/>
              </a:rPr>
              <a:t>·P(w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49173" name="Rectangle 21"/>
          <p:cNvSpPr>
            <a:spLocks noChangeArrowheads="1"/>
          </p:cNvSpPr>
          <p:nvPr/>
        </p:nvSpPr>
        <p:spPr bwMode="auto">
          <a:xfrm>
            <a:off x="1120775" y="5662613"/>
            <a:ext cx="1624013" cy="522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9174" name="Text Box 22"/>
          <p:cNvSpPr txBox="1">
            <a:spLocks noChangeArrowheads="1"/>
          </p:cNvSpPr>
          <p:nvPr/>
        </p:nvSpPr>
        <p:spPr bwMode="auto">
          <a:xfrm>
            <a:off x="1431925" y="5659438"/>
            <a:ext cx="109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n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49175" name="Line 23"/>
          <p:cNvSpPr>
            <a:spLocks noChangeShapeType="1"/>
          </p:cNvSpPr>
          <p:nvPr/>
        </p:nvSpPr>
        <p:spPr bwMode="auto">
          <a:xfrm>
            <a:off x="207963" y="5981700"/>
            <a:ext cx="896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76" name="Oval 24"/>
          <p:cNvSpPr>
            <a:spLocks noChangeArrowheads="1"/>
          </p:cNvSpPr>
          <p:nvPr/>
        </p:nvSpPr>
        <p:spPr bwMode="auto">
          <a:xfrm>
            <a:off x="3440113" y="5626100"/>
            <a:ext cx="541337" cy="541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9177" name="Text Box 25"/>
          <p:cNvSpPr txBox="1">
            <a:spLocks noChangeArrowheads="1"/>
          </p:cNvSpPr>
          <p:nvPr/>
        </p:nvSpPr>
        <p:spPr bwMode="auto">
          <a:xfrm>
            <a:off x="2789238" y="4805363"/>
            <a:ext cx="889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P(w</a:t>
            </a:r>
            <a:r>
              <a:rPr lang="es-ES_tradnl" altLang="es-ES" sz="2400" baseline="-25000"/>
              <a:t>n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49178" name="Line 26"/>
          <p:cNvSpPr>
            <a:spLocks noChangeShapeType="1"/>
          </p:cNvSpPr>
          <p:nvPr/>
        </p:nvSpPr>
        <p:spPr bwMode="auto">
          <a:xfrm>
            <a:off x="3363913" y="5291138"/>
            <a:ext cx="261937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79" name="Line 27"/>
          <p:cNvSpPr>
            <a:spLocks noChangeShapeType="1"/>
          </p:cNvSpPr>
          <p:nvPr/>
        </p:nvSpPr>
        <p:spPr bwMode="auto">
          <a:xfrm flipV="1">
            <a:off x="2768600" y="59245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80" name="Line 28"/>
          <p:cNvSpPr>
            <a:spLocks noChangeShapeType="1"/>
          </p:cNvSpPr>
          <p:nvPr/>
        </p:nvSpPr>
        <p:spPr bwMode="auto">
          <a:xfrm>
            <a:off x="4038600" y="5910263"/>
            <a:ext cx="192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4019550" y="5381625"/>
            <a:ext cx="186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n</a:t>
            </a:r>
            <a:r>
              <a:rPr lang="es-ES_tradnl" altLang="es-ES" sz="2400"/>
              <a:t>)</a:t>
            </a:r>
            <a:r>
              <a:rPr lang="es-ES_tradnl" altLang="es-ES" sz="2400">
                <a:cs typeface="Times New Roman" panose="02020603050405020304" pitchFamily="18" charset="0"/>
              </a:rPr>
              <a:t>·P(w</a:t>
            </a:r>
            <a:r>
              <a:rPr lang="es-ES_tradnl" altLang="es-ES" sz="2400" baseline="-25000"/>
              <a:t>n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49182" name="Rectangle 30"/>
          <p:cNvSpPr>
            <a:spLocks noChangeArrowheads="1"/>
          </p:cNvSpPr>
          <p:nvPr/>
        </p:nvSpPr>
        <p:spPr bwMode="auto">
          <a:xfrm>
            <a:off x="7491413" y="2336800"/>
            <a:ext cx="692150" cy="3956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M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I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N</a:t>
            </a:r>
            <a:endParaRPr lang="es-ES" altLang="es-ES" sz="2400"/>
          </a:p>
        </p:txBody>
      </p:sp>
      <p:sp>
        <p:nvSpPr>
          <p:cNvPr id="49183" name="Line 31"/>
          <p:cNvSpPr>
            <a:spLocks noChangeShapeType="1"/>
          </p:cNvSpPr>
          <p:nvPr/>
        </p:nvSpPr>
        <p:spPr bwMode="auto">
          <a:xfrm>
            <a:off x="8201025" y="4371975"/>
            <a:ext cx="63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84" name="Text Box 32"/>
          <p:cNvSpPr txBox="1">
            <a:spLocks noChangeArrowheads="1"/>
          </p:cNvSpPr>
          <p:nvPr/>
        </p:nvSpPr>
        <p:spPr bwMode="auto">
          <a:xfrm>
            <a:off x="8293100" y="3900488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clase</a:t>
            </a:r>
            <a:endParaRPr lang="es-ES" altLang="es-ES" sz="2400"/>
          </a:p>
        </p:txBody>
      </p:sp>
      <p:sp>
        <p:nvSpPr>
          <p:cNvPr id="49185" name="Text Box 33"/>
          <p:cNvSpPr txBox="1">
            <a:spLocks noChangeArrowheads="1"/>
          </p:cNvSpPr>
          <p:nvPr/>
        </p:nvSpPr>
        <p:spPr bwMode="auto">
          <a:xfrm>
            <a:off x="1419225" y="4662488"/>
            <a:ext cx="8826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4400"/>
              <a:t>. . .</a:t>
            </a:r>
            <a:endParaRPr lang="es-ES" altLang="es-ES" sz="4400"/>
          </a:p>
        </p:txBody>
      </p:sp>
      <p:sp>
        <p:nvSpPr>
          <p:cNvPr id="49186" name="Text Box 34"/>
          <p:cNvSpPr txBox="1">
            <a:spLocks noChangeArrowheads="1"/>
          </p:cNvSpPr>
          <p:nvPr/>
        </p:nvSpPr>
        <p:spPr bwMode="auto">
          <a:xfrm>
            <a:off x="4543425" y="4667250"/>
            <a:ext cx="8826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4400"/>
              <a:t>. . .</a:t>
            </a:r>
            <a:endParaRPr lang="es-ES" altLang="es-ES" sz="4400"/>
          </a:p>
        </p:txBody>
      </p:sp>
      <p:sp>
        <p:nvSpPr>
          <p:cNvPr id="49187" name="Oval 35"/>
          <p:cNvSpPr>
            <a:spLocks noChangeArrowheads="1"/>
          </p:cNvSpPr>
          <p:nvPr/>
        </p:nvSpPr>
        <p:spPr bwMode="auto">
          <a:xfrm>
            <a:off x="5999163" y="2657475"/>
            <a:ext cx="541337" cy="541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9188" name="Line 36"/>
          <p:cNvSpPr>
            <a:spLocks noChangeShapeType="1"/>
          </p:cNvSpPr>
          <p:nvPr/>
        </p:nvSpPr>
        <p:spPr bwMode="auto">
          <a:xfrm flipV="1">
            <a:off x="4030663" y="3097213"/>
            <a:ext cx="1941512" cy="1212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89" name="Line 37"/>
          <p:cNvSpPr>
            <a:spLocks noChangeShapeType="1"/>
          </p:cNvSpPr>
          <p:nvPr/>
        </p:nvSpPr>
        <p:spPr bwMode="auto">
          <a:xfrm flipV="1">
            <a:off x="4049713" y="3190875"/>
            <a:ext cx="2014537" cy="268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5711825" y="1806575"/>
            <a:ext cx="59213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L</a:t>
            </a:r>
            <a:r>
              <a:rPr lang="es-ES_tradnl" altLang="es-ES" sz="2400" baseline="-25000"/>
              <a:t>i1</a:t>
            </a:r>
            <a:endParaRPr lang="es-ES" altLang="es-ES" sz="2400" baseline="-25000"/>
          </a:p>
        </p:txBody>
      </p:sp>
      <p:sp>
        <p:nvSpPr>
          <p:cNvPr id="49191" name="Line 39"/>
          <p:cNvSpPr>
            <a:spLocks noChangeShapeType="1"/>
          </p:cNvSpPr>
          <p:nvPr/>
        </p:nvSpPr>
        <p:spPr bwMode="auto">
          <a:xfrm>
            <a:off x="6083300" y="2314575"/>
            <a:ext cx="112713" cy="334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92" name="Line 40"/>
          <p:cNvSpPr>
            <a:spLocks noChangeShapeType="1"/>
          </p:cNvSpPr>
          <p:nvPr/>
        </p:nvSpPr>
        <p:spPr bwMode="auto">
          <a:xfrm>
            <a:off x="6569075" y="2930525"/>
            <a:ext cx="87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93" name="Text Box 41"/>
          <p:cNvSpPr txBox="1">
            <a:spLocks noChangeArrowheads="1"/>
          </p:cNvSpPr>
          <p:nvPr/>
        </p:nvSpPr>
        <p:spPr bwMode="auto">
          <a:xfrm>
            <a:off x="6483350" y="2370138"/>
            <a:ext cx="873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r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(x)</a:t>
            </a:r>
            <a:endParaRPr lang="es-ES" altLang="es-ES" sz="2400"/>
          </a:p>
        </p:txBody>
      </p:sp>
      <p:sp>
        <p:nvSpPr>
          <p:cNvPr id="49194" name="Oval 42"/>
          <p:cNvSpPr>
            <a:spLocks noChangeArrowheads="1"/>
          </p:cNvSpPr>
          <p:nvPr/>
        </p:nvSpPr>
        <p:spPr bwMode="auto">
          <a:xfrm>
            <a:off x="5999163" y="4067175"/>
            <a:ext cx="541337" cy="541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9195" name="Oval 43"/>
          <p:cNvSpPr>
            <a:spLocks noChangeArrowheads="1"/>
          </p:cNvSpPr>
          <p:nvPr/>
        </p:nvSpPr>
        <p:spPr bwMode="auto">
          <a:xfrm>
            <a:off x="5945188" y="5637213"/>
            <a:ext cx="541337" cy="5413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49196" name="Line 44"/>
          <p:cNvSpPr>
            <a:spLocks noChangeShapeType="1"/>
          </p:cNvSpPr>
          <p:nvPr/>
        </p:nvSpPr>
        <p:spPr bwMode="auto">
          <a:xfrm>
            <a:off x="5840413" y="5430838"/>
            <a:ext cx="223837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97" name="Line 45"/>
          <p:cNvSpPr>
            <a:spLocks noChangeShapeType="1"/>
          </p:cNvSpPr>
          <p:nvPr/>
        </p:nvSpPr>
        <p:spPr bwMode="auto">
          <a:xfrm>
            <a:off x="5991225" y="5265738"/>
            <a:ext cx="168275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98" name="Line 46"/>
          <p:cNvSpPr>
            <a:spLocks noChangeShapeType="1"/>
          </p:cNvSpPr>
          <p:nvPr/>
        </p:nvSpPr>
        <p:spPr bwMode="auto">
          <a:xfrm flipV="1">
            <a:off x="5859463" y="4533900"/>
            <a:ext cx="1873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199" name="Line 47"/>
          <p:cNvSpPr>
            <a:spLocks noChangeShapeType="1"/>
          </p:cNvSpPr>
          <p:nvPr/>
        </p:nvSpPr>
        <p:spPr bwMode="auto">
          <a:xfrm>
            <a:off x="5864225" y="3903663"/>
            <a:ext cx="223838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200" name="Line 48"/>
          <p:cNvSpPr>
            <a:spLocks noChangeShapeType="1"/>
          </p:cNvSpPr>
          <p:nvPr/>
        </p:nvSpPr>
        <p:spPr bwMode="auto">
          <a:xfrm>
            <a:off x="6569075" y="4340225"/>
            <a:ext cx="87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201" name="Text Box 49"/>
          <p:cNvSpPr txBox="1">
            <a:spLocks noChangeArrowheads="1"/>
          </p:cNvSpPr>
          <p:nvPr/>
        </p:nvSpPr>
        <p:spPr bwMode="auto">
          <a:xfrm>
            <a:off x="6483350" y="3779838"/>
            <a:ext cx="873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r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(x)</a:t>
            </a:r>
            <a:endParaRPr lang="es-ES" altLang="es-ES" sz="2400"/>
          </a:p>
        </p:txBody>
      </p:sp>
      <p:sp>
        <p:nvSpPr>
          <p:cNvPr id="49202" name="Line 50"/>
          <p:cNvSpPr>
            <a:spLocks noChangeShapeType="1"/>
          </p:cNvSpPr>
          <p:nvPr/>
        </p:nvSpPr>
        <p:spPr bwMode="auto">
          <a:xfrm>
            <a:off x="6569075" y="5921375"/>
            <a:ext cx="87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9203" name="Text Box 51"/>
          <p:cNvSpPr txBox="1">
            <a:spLocks noChangeArrowheads="1"/>
          </p:cNvSpPr>
          <p:nvPr/>
        </p:nvSpPr>
        <p:spPr bwMode="auto">
          <a:xfrm>
            <a:off x="6483350" y="5360988"/>
            <a:ext cx="873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r</a:t>
            </a:r>
            <a:r>
              <a:rPr lang="es-ES_tradnl" altLang="es-ES" sz="2400" baseline="-25000"/>
              <a:t>n</a:t>
            </a:r>
            <a:r>
              <a:rPr lang="es-ES_tradnl" altLang="es-ES" sz="2400"/>
              <a:t>(x)</a:t>
            </a:r>
            <a:endParaRPr lang="es-ES" altLang="es-ES" sz="2400"/>
          </a:p>
        </p:txBody>
      </p:sp>
    </p:spTree>
    <p:extLst>
      <p:ext uri="{BB962C8B-B14F-4D97-AF65-F5344CB8AC3E}">
        <p14:creationId xmlns:p14="http://schemas.microsoft.com/office/powerpoint/2010/main" val="3951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ES" smtClean="0"/>
              <a:t>Efecto de la función de pérdida</a:t>
            </a:r>
            <a:endParaRPr lang="es-ES" altLang="es-ES" smtClean="0"/>
          </a:p>
        </p:txBody>
      </p:sp>
      <p:sp>
        <p:nvSpPr>
          <p:cNvPr id="50179" name="Line 6"/>
          <p:cNvSpPr>
            <a:spLocks noChangeShapeType="1"/>
          </p:cNvSpPr>
          <p:nvPr/>
        </p:nvSpPr>
        <p:spPr bwMode="auto">
          <a:xfrm>
            <a:off x="476250" y="3695700"/>
            <a:ext cx="716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0180" name="Freeform 7"/>
          <p:cNvSpPr>
            <a:spLocks/>
          </p:cNvSpPr>
          <p:nvPr/>
        </p:nvSpPr>
        <p:spPr bwMode="auto">
          <a:xfrm>
            <a:off x="2914650" y="1884363"/>
            <a:ext cx="4953000" cy="1824037"/>
          </a:xfrm>
          <a:custGeom>
            <a:avLst/>
            <a:gdLst>
              <a:gd name="T0" fmla="*/ 0 w 2208"/>
              <a:gd name="T1" fmla="*/ 2147483646 h 1149"/>
              <a:gd name="T2" fmla="*/ 2147483646 w 2208"/>
              <a:gd name="T3" fmla="*/ 2147483646 h 1149"/>
              <a:gd name="T4" fmla="*/ 2147483646 w 2208"/>
              <a:gd name="T5" fmla="*/ 2147483646 h 1149"/>
              <a:gd name="T6" fmla="*/ 2147483646 w 2208"/>
              <a:gd name="T7" fmla="*/ 2147483646 h 1149"/>
              <a:gd name="T8" fmla="*/ 2147483646 w 2208"/>
              <a:gd name="T9" fmla="*/ 2147483646 h 1149"/>
              <a:gd name="T10" fmla="*/ 2147483646 w 2208"/>
              <a:gd name="T11" fmla="*/ 2147483646 h 1149"/>
              <a:gd name="T12" fmla="*/ 2147483646 w 2208"/>
              <a:gd name="T13" fmla="*/ 2147483646 h 1149"/>
              <a:gd name="T14" fmla="*/ 2147483646 w 2208"/>
              <a:gd name="T15" fmla="*/ 2147483646 h 1149"/>
              <a:gd name="T16" fmla="*/ 2147483646 w 2208"/>
              <a:gd name="T17" fmla="*/ 2147483646 h 1149"/>
              <a:gd name="T18" fmla="*/ 2147483646 w 2208"/>
              <a:gd name="T19" fmla="*/ 2147483646 h 1149"/>
              <a:gd name="T20" fmla="*/ 2147483646 w 2208"/>
              <a:gd name="T21" fmla="*/ 2147483646 h 1149"/>
              <a:gd name="T22" fmla="*/ 2147483646 w 2208"/>
              <a:gd name="T23" fmla="*/ 2147483646 h 1149"/>
              <a:gd name="T24" fmla="*/ 2147483646 w 2208"/>
              <a:gd name="T25" fmla="*/ 2147483646 h 11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208" h="1149">
                <a:moveTo>
                  <a:pt x="0" y="1141"/>
                </a:moveTo>
                <a:cubicBezTo>
                  <a:pt x="186" y="1141"/>
                  <a:pt x="373" y="1141"/>
                  <a:pt x="518" y="1093"/>
                </a:cubicBezTo>
                <a:cubicBezTo>
                  <a:pt x="663" y="1045"/>
                  <a:pt x="786" y="949"/>
                  <a:pt x="872" y="853"/>
                </a:cubicBezTo>
                <a:cubicBezTo>
                  <a:pt x="959" y="757"/>
                  <a:pt x="995" y="645"/>
                  <a:pt x="1036" y="517"/>
                </a:cubicBezTo>
                <a:cubicBezTo>
                  <a:pt x="1077" y="389"/>
                  <a:pt x="1078" y="160"/>
                  <a:pt x="1118" y="85"/>
                </a:cubicBezTo>
                <a:cubicBezTo>
                  <a:pt x="1158" y="10"/>
                  <a:pt x="1240" y="0"/>
                  <a:pt x="1279" y="68"/>
                </a:cubicBezTo>
                <a:cubicBezTo>
                  <a:pt x="1318" y="136"/>
                  <a:pt x="1330" y="388"/>
                  <a:pt x="1350" y="492"/>
                </a:cubicBezTo>
                <a:cubicBezTo>
                  <a:pt x="1370" y="596"/>
                  <a:pt x="1381" y="631"/>
                  <a:pt x="1397" y="691"/>
                </a:cubicBezTo>
                <a:cubicBezTo>
                  <a:pt x="1413" y="751"/>
                  <a:pt x="1419" y="802"/>
                  <a:pt x="1445" y="853"/>
                </a:cubicBezTo>
                <a:cubicBezTo>
                  <a:pt x="1471" y="904"/>
                  <a:pt x="1517" y="957"/>
                  <a:pt x="1554" y="997"/>
                </a:cubicBezTo>
                <a:cubicBezTo>
                  <a:pt x="1590" y="1037"/>
                  <a:pt x="1599" y="1069"/>
                  <a:pt x="1663" y="1093"/>
                </a:cubicBezTo>
                <a:cubicBezTo>
                  <a:pt x="1726" y="1117"/>
                  <a:pt x="1845" y="1133"/>
                  <a:pt x="1935" y="1141"/>
                </a:cubicBezTo>
                <a:cubicBezTo>
                  <a:pt x="2026" y="1149"/>
                  <a:pt x="2117" y="1145"/>
                  <a:pt x="2208" y="1141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0181" name="Freeform 8"/>
          <p:cNvSpPr>
            <a:spLocks/>
          </p:cNvSpPr>
          <p:nvPr/>
        </p:nvSpPr>
        <p:spPr bwMode="auto">
          <a:xfrm>
            <a:off x="933450" y="2400300"/>
            <a:ext cx="6096000" cy="1295400"/>
          </a:xfrm>
          <a:custGeom>
            <a:avLst/>
            <a:gdLst>
              <a:gd name="T0" fmla="*/ 0 w 3840"/>
              <a:gd name="T1" fmla="*/ 2147483646 h 544"/>
              <a:gd name="T2" fmla="*/ 2147483646 w 3840"/>
              <a:gd name="T3" fmla="*/ 2147483646 h 544"/>
              <a:gd name="T4" fmla="*/ 2147483646 w 3840"/>
              <a:gd name="T5" fmla="*/ 2147483646 h 544"/>
              <a:gd name="T6" fmla="*/ 2147483646 w 3840"/>
              <a:gd name="T7" fmla="*/ 2147483646 h 544"/>
              <a:gd name="T8" fmla="*/ 2147483646 w 3840"/>
              <a:gd name="T9" fmla="*/ 2147483646 h 544"/>
              <a:gd name="T10" fmla="*/ 2147483646 w 3840"/>
              <a:gd name="T11" fmla="*/ 2147483646 h 544"/>
              <a:gd name="T12" fmla="*/ 2147483646 w 3840"/>
              <a:gd name="T13" fmla="*/ 2147483646 h 544"/>
              <a:gd name="T14" fmla="*/ 2147483646 w 3840"/>
              <a:gd name="T15" fmla="*/ 2147483646 h 544"/>
              <a:gd name="T16" fmla="*/ 2147483646 w 3840"/>
              <a:gd name="T17" fmla="*/ 2147483646 h 544"/>
              <a:gd name="T18" fmla="*/ 2147483646 w 3840"/>
              <a:gd name="T19" fmla="*/ 2147483646 h 544"/>
              <a:gd name="T20" fmla="*/ 2147483646 w 3840"/>
              <a:gd name="T21" fmla="*/ 2147483646 h 544"/>
              <a:gd name="T22" fmla="*/ 2147483646 w 3840"/>
              <a:gd name="T23" fmla="*/ 2147483646 h 544"/>
              <a:gd name="T24" fmla="*/ 2147483646 w 3840"/>
              <a:gd name="T25" fmla="*/ 2147483646 h 54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40" h="544">
                <a:moveTo>
                  <a:pt x="0" y="540"/>
                </a:moveTo>
                <a:cubicBezTo>
                  <a:pt x="324" y="540"/>
                  <a:pt x="651" y="544"/>
                  <a:pt x="901" y="517"/>
                </a:cubicBezTo>
                <a:cubicBezTo>
                  <a:pt x="1151" y="490"/>
                  <a:pt x="1360" y="423"/>
                  <a:pt x="1503" y="376"/>
                </a:cubicBezTo>
                <a:cubicBezTo>
                  <a:pt x="1646" y="329"/>
                  <a:pt x="1688" y="292"/>
                  <a:pt x="1761" y="235"/>
                </a:cubicBezTo>
                <a:cubicBezTo>
                  <a:pt x="1834" y="178"/>
                  <a:pt x="1877" y="66"/>
                  <a:pt x="1944" y="33"/>
                </a:cubicBezTo>
                <a:cubicBezTo>
                  <a:pt x="2011" y="0"/>
                  <a:pt x="2106" y="9"/>
                  <a:pt x="2161" y="36"/>
                </a:cubicBezTo>
                <a:cubicBezTo>
                  <a:pt x="2216" y="63"/>
                  <a:pt x="2241" y="148"/>
                  <a:pt x="2276" y="194"/>
                </a:cubicBezTo>
                <a:cubicBezTo>
                  <a:pt x="2311" y="240"/>
                  <a:pt x="2331" y="275"/>
                  <a:pt x="2370" y="310"/>
                </a:cubicBezTo>
                <a:cubicBezTo>
                  <a:pt x="2410" y="344"/>
                  <a:pt x="2457" y="375"/>
                  <a:pt x="2513" y="402"/>
                </a:cubicBezTo>
                <a:cubicBezTo>
                  <a:pt x="2568" y="429"/>
                  <a:pt x="2639" y="452"/>
                  <a:pt x="2702" y="471"/>
                </a:cubicBezTo>
                <a:cubicBezTo>
                  <a:pt x="2765" y="490"/>
                  <a:pt x="2781" y="506"/>
                  <a:pt x="2892" y="517"/>
                </a:cubicBezTo>
                <a:cubicBezTo>
                  <a:pt x="3002" y="529"/>
                  <a:pt x="3208" y="536"/>
                  <a:pt x="3366" y="540"/>
                </a:cubicBezTo>
                <a:cubicBezTo>
                  <a:pt x="3524" y="544"/>
                  <a:pt x="3682" y="542"/>
                  <a:pt x="3840" y="540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0182" name="Text Box 9"/>
          <p:cNvSpPr txBox="1">
            <a:spLocks noChangeArrowheads="1"/>
          </p:cNvSpPr>
          <p:nvPr/>
        </p:nvSpPr>
        <p:spPr bwMode="auto">
          <a:xfrm>
            <a:off x="7272338" y="326072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X</a:t>
            </a:r>
            <a:endParaRPr lang="es-ES" altLang="es-ES" sz="2400"/>
          </a:p>
        </p:txBody>
      </p:sp>
      <p:sp>
        <p:nvSpPr>
          <p:cNvPr id="50183" name="Line 10"/>
          <p:cNvSpPr>
            <a:spLocks noChangeShapeType="1"/>
          </p:cNvSpPr>
          <p:nvPr/>
        </p:nvSpPr>
        <p:spPr bwMode="auto">
          <a:xfrm flipH="1">
            <a:off x="4819650" y="1870075"/>
            <a:ext cx="19050" cy="2727325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0184" name="Text Box 11"/>
          <p:cNvSpPr txBox="1">
            <a:spLocks noChangeArrowheads="1"/>
          </p:cNvSpPr>
          <p:nvPr/>
        </p:nvSpPr>
        <p:spPr bwMode="auto">
          <a:xfrm>
            <a:off x="1993900" y="2185988"/>
            <a:ext cx="2008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)*P(w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50185" name="Text Box 12"/>
          <p:cNvSpPr txBox="1">
            <a:spLocks noChangeArrowheads="1"/>
          </p:cNvSpPr>
          <p:nvPr/>
        </p:nvSpPr>
        <p:spPr bwMode="auto">
          <a:xfrm>
            <a:off x="5813425" y="1757363"/>
            <a:ext cx="2008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P(X|w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)*P(w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50186" name="Line 16"/>
          <p:cNvSpPr>
            <a:spLocks noChangeShapeType="1"/>
          </p:cNvSpPr>
          <p:nvPr/>
        </p:nvSpPr>
        <p:spPr bwMode="auto">
          <a:xfrm>
            <a:off x="476250" y="6457950"/>
            <a:ext cx="716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0187" name="Freeform 17"/>
          <p:cNvSpPr>
            <a:spLocks/>
          </p:cNvSpPr>
          <p:nvPr/>
        </p:nvSpPr>
        <p:spPr bwMode="auto">
          <a:xfrm>
            <a:off x="2914650" y="4049713"/>
            <a:ext cx="4953000" cy="2420937"/>
          </a:xfrm>
          <a:custGeom>
            <a:avLst/>
            <a:gdLst>
              <a:gd name="T0" fmla="*/ 0 w 2208"/>
              <a:gd name="T1" fmla="*/ 2147483646 h 1149"/>
              <a:gd name="T2" fmla="*/ 2147483646 w 2208"/>
              <a:gd name="T3" fmla="*/ 2147483646 h 1149"/>
              <a:gd name="T4" fmla="*/ 2147483646 w 2208"/>
              <a:gd name="T5" fmla="*/ 2147483646 h 1149"/>
              <a:gd name="T6" fmla="*/ 2147483646 w 2208"/>
              <a:gd name="T7" fmla="*/ 2147483646 h 1149"/>
              <a:gd name="T8" fmla="*/ 2147483646 w 2208"/>
              <a:gd name="T9" fmla="*/ 2147483646 h 1149"/>
              <a:gd name="T10" fmla="*/ 2147483646 w 2208"/>
              <a:gd name="T11" fmla="*/ 2147483646 h 1149"/>
              <a:gd name="T12" fmla="*/ 2147483646 w 2208"/>
              <a:gd name="T13" fmla="*/ 2147483646 h 1149"/>
              <a:gd name="T14" fmla="*/ 2147483646 w 2208"/>
              <a:gd name="T15" fmla="*/ 2147483646 h 1149"/>
              <a:gd name="T16" fmla="*/ 2147483646 w 2208"/>
              <a:gd name="T17" fmla="*/ 2147483646 h 1149"/>
              <a:gd name="T18" fmla="*/ 2147483646 w 2208"/>
              <a:gd name="T19" fmla="*/ 2147483646 h 1149"/>
              <a:gd name="T20" fmla="*/ 2147483646 w 2208"/>
              <a:gd name="T21" fmla="*/ 2147483646 h 1149"/>
              <a:gd name="T22" fmla="*/ 2147483646 w 2208"/>
              <a:gd name="T23" fmla="*/ 2147483646 h 1149"/>
              <a:gd name="T24" fmla="*/ 2147483646 w 2208"/>
              <a:gd name="T25" fmla="*/ 2147483646 h 11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208" h="1149">
                <a:moveTo>
                  <a:pt x="0" y="1141"/>
                </a:moveTo>
                <a:cubicBezTo>
                  <a:pt x="186" y="1141"/>
                  <a:pt x="373" y="1141"/>
                  <a:pt x="518" y="1093"/>
                </a:cubicBezTo>
                <a:cubicBezTo>
                  <a:pt x="663" y="1045"/>
                  <a:pt x="786" y="949"/>
                  <a:pt x="872" y="853"/>
                </a:cubicBezTo>
                <a:cubicBezTo>
                  <a:pt x="959" y="757"/>
                  <a:pt x="995" y="645"/>
                  <a:pt x="1036" y="517"/>
                </a:cubicBezTo>
                <a:cubicBezTo>
                  <a:pt x="1077" y="389"/>
                  <a:pt x="1078" y="160"/>
                  <a:pt x="1118" y="85"/>
                </a:cubicBezTo>
                <a:cubicBezTo>
                  <a:pt x="1158" y="10"/>
                  <a:pt x="1240" y="0"/>
                  <a:pt x="1279" y="68"/>
                </a:cubicBezTo>
                <a:cubicBezTo>
                  <a:pt x="1318" y="136"/>
                  <a:pt x="1330" y="388"/>
                  <a:pt x="1350" y="492"/>
                </a:cubicBezTo>
                <a:cubicBezTo>
                  <a:pt x="1370" y="596"/>
                  <a:pt x="1381" y="631"/>
                  <a:pt x="1397" y="691"/>
                </a:cubicBezTo>
                <a:cubicBezTo>
                  <a:pt x="1413" y="751"/>
                  <a:pt x="1419" y="802"/>
                  <a:pt x="1445" y="853"/>
                </a:cubicBezTo>
                <a:cubicBezTo>
                  <a:pt x="1471" y="904"/>
                  <a:pt x="1517" y="957"/>
                  <a:pt x="1554" y="997"/>
                </a:cubicBezTo>
                <a:cubicBezTo>
                  <a:pt x="1590" y="1037"/>
                  <a:pt x="1599" y="1069"/>
                  <a:pt x="1663" y="1093"/>
                </a:cubicBezTo>
                <a:cubicBezTo>
                  <a:pt x="1726" y="1117"/>
                  <a:pt x="1845" y="1133"/>
                  <a:pt x="1935" y="1141"/>
                </a:cubicBezTo>
                <a:cubicBezTo>
                  <a:pt x="2026" y="1149"/>
                  <a:pt x="2117" y="1145"/>
                  <a:pt x="2208" y="1141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0188" name="Freeform 18"/>
          <p:cNvSpPr>
            <a:spLocks/>
          </p:cNvSpPr>
          <p:nvPr/>
        </p:nvSpPr>
        <p:spPr bwMode="auto">
          <a:xfrm>
            <a:off x="933450" y="6192838"/>
            <a:ext cx="6096000" cy="250825"/>
          </a:xfrm>
          <a:custGeom>
            <a:avLst/>
            <a:gdLst>
              <a:gd name="T0" fmla="*/ 0 w 3840"/>
              <a:gd name="T1" fmla="*/ 2147483646 h 544"/>
              <a:gd name="T2" fmla="*/ 2147483646 w 3840"/>
              <a:gd name="T3" fmla="*/ 2147483646 h 544"/>
              <a:gd name="T4" fmla="*/ 2147483646 w 3840"/>
              <a:gd name="T5" fmla="*/ 2147483646 h 544"/>
              <a:gd name="T6" fmla="*/ 2147483646 w 3840"/>
              <a:gd name="T7" fmla="*/ 2147483646 h 544"/>
              <a:gd name="T8" fmla="*/ 2147483646 w 3840"/>
              <a:gd name="T9" fmla="*/ 2147483646 h 544"/>
              <a:gd name="T10" fmla="*/ 2147483646 w 3840"/>
              <a:gd name="T11" fmla="*/ 2147483646 h 544"/>
              <a:gd name="T12" fmla="*/ 2147483646 w 3840"/>
              <a:gd name="T13" fmla="*/ 2147483646 h 544"/>
              <a:gd name="T14" fmla="*/ 2147483646 w 3840"/>
              <a:gd name="T15" fmla="*/ 2147483646 h 544"/>
              <a:gd name="T16" fmla="*/ 2147483646 w 3840"/>
              <a:gd name="T17" fmla="*/ 2147483646 h 544"/>
              <a:gd name="T18" fmla="*/ 2147483646 w 3840"/>
              <a:gd name="T19" fmla="*/ 2147483646 h 544"/>
              <a:gd name="T20" fmla="*/ 2147483646 w 3840"/>
              <a:gd name="T21" fmla="*/ 2147483646 h 544"/>
              <a:gd name="T22" fmla="*/ 2147483646 w 3840"/>
              <a:gd name="T23" fmla="*/ 2147483646 h 544"/>
              <a:gd name="T24" fmla="*/ 2147483646 w 3840"/>
              <a:gd name="T25" fmla="*/ 2147483646 h 54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40" h="544">
                <a:moveTo>
                  <a:pt x="0" y="540"/>
                </a:moveTo>
                <a:cubicBezTo>
                  <a:pt x="324" y="540"/>
                  <a:pt x="651" y="544"/>
                  <a:pt x="901" y="517"/>
                </a:cubicBezTo>
                <a:cubicBezTo>
                  <a:pt x="1151" y="490"/>
                  <a:pt x="1360" y="423"/>
                  <a:pt x="1503" y="376"/>
                </a:cubicBezTo>
                <a:cubicBezTo>
                  <a:pt x="1646" y="329"/>
                  <a:pt x="1688" y="292"/>
                  <a:pt x="1761" y="235"/>
                </a:cubicBezTo>
                <a:cubicBezTo>
                  <a:pt x="1834" y="178"/>
                  <a:pt x="1877" y="66"/>
                  <a:pt x="1944" y="33"/>
                </a:cubicBezTo>
                <a:cubicBezTo>
                  <a:pt x="2011" y="0"/>
                  <a:pt x="2106" y="9"/>
                  <a:pt x="2161" y="36"/>
                </a:cubicBezTo>
                <a:cubicBezTo>
                  <a:pt x="2216" y="63"/>
                  <a:pt x="2241" y="148"/>
                  <a:pt x="2276" y="194"/>
                </a:cubicBezTo>
                <a:cubicBezTo>
                  <a:pt x="2311" y="240"/>
                  <a:pt x="2331" y="275"/>
                  <a:pt x="2370" y="310"/>
                </a:cubicBezTo>
                <a:cubicBezTo>
                  <a:pt x="2410" y="344"/>
                  <a:pt x="2457" y="375"/>
                  <a:pt x="2513" y="402"/>
                </a:cubicBezTo>
                <a:cubicBezTo>
                  <a:pt x="2568" y="429"/>
                  <a:pt x="2639" y="452"/>
                  <a:pt x="2702" y="471"/>
                </a:cubicBezTo>
                <a:cubicBezTo>
                  <a:pt x="2765" y="490"/>
                  <a:pt x="2781" y="506"/>
                  <a:pt x="2892" y="517"/>
                </a:cubicBezTo>
                <a:cubicBezTo>
                  <a:pt x="3002" y="529"/>
                  <a:pt x="3208" y="536"/>
                  <a:pt x="3366" y="540"/>
                </a:cubicBezTo>
                <a:cubicBezTo>
                  <a:pt x="3524" y="544"/>
                  <a:pt x="3682" y="542"/>
                  <a:pt x="3840" y="540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0189" name="Text Box 19"/>
          <p:cNvSpPr txBox="1">
            <a:spLocks noChangeArrowheads="1"/>
          </p:cNvSpPr>
          <p:nvPr/>
        </p:nvSpPr>
        <p:spPr bwMode="auto">
          <a:xfrm>
            <a:off x="7272338" y="60229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X</a:t>
            </a:r>
            <a:endParaRPr lang="es-ES" altLang="es-ES" sz="2400"/>
          </a:p>
        </p:txBody>
      </p:sp>
      <p:sp>
        <p:nvSpPr>
          <p:cNvPr id="50190" name="Line 20"/>
          <p:cNvSpPr>
            <a:spLocks noChangeShapeType="1"/>
          </p:cNvSpPr>
          <p:nvPr/>
        </p:nvSpPr>
        <p:spPr bwMode="auto">
          <a:xfrm flipH="1">
            <a:off x="4384675" y="3792538"/>
            <a:ext cx="0" cy="297021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0191" name="Text Box 21"/>
          <p:cNvSpPr txBox="1">
            <a:spLocks noChangeArrowheads="1"/>
          </p:cNvSpPr>
          <p:nvPr/>
        </p:nvSpPr>
        <p:spPr bwMode="auto">
          <a:xfrm>
            <a:off x="1270000" y="5862638"/>
            <a:ext cx="2549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L</a:t>
            </a:r>
            <a:r>
              <a:rPr lang="es-ES_tradnl" altLang="es-ES" sz="2400" baseline="-25000"/>
              <a:t>12</a:t>
            </a:r>
            <a:r>
              <a:rPr lang="es-ES_tradnl" altLang="es-ES" sz="2400"/>
              <a:t>*P(X|w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)*P(w</a:t>
            </a:r>
            <a:r>
              <a:rPr lang="es-ES_tradnl" altLang="es-ES" sz="2400" baseline="-25000"/>
              <a:t>1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50192" name="Text Box 22"/>
          <p:cNvSpPr txBox="1">
            <a:spLocks noChangeArrowheads="1"/>
          </p:cNvSpPr>
          <p:nvPr/>
        </p:nvSpPr>
        <p:spPr bwMode="auto">
          <a:xfrm>
            <a:off x="5935663" y="4630738"/>
            <a:ext cx="2549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/>
              <a:t>L</a:t>
            </a:r>
            <a:r>
              <a:rPr lang="es-ES_tradnl" altLang="es-ES" sz="2400" baseline="-25000"/>
              <a:t>21</a:t>
            </a:r>
            <a:r>
              <a:rPr lang="es-ES_tradnl" altLang="es-ES" sz="2400"/>
              <a:t>*P(X|w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)*P(w</a:t>
            </a:r>
            <a:r>
              <a:rPr lang="es-ES_tradnl" altLang="es-ES" sz="2400" baseline="-25000"/>
              <a:t>2</a:t>
            </a:r>
            <a:r>
              <a:rPr lang="es-ES_tradnl" altLang="es-ES" sz="2400"/>
              <a:t>)</a:t>
            </a:r>
            <a:endParaRPr lang="es-ES" altLang="es-ES" sz="2400"/>
          </a:p>
        </p:txBody>
      </p:sp>
      <p:sp>
        <p:nvSpPr>
          <p:cNvPr id="50193" name="AutoShape 23"/>
          <p:cNvSpPr>
            <a:spLocks noChangeArrowheads="1"/>
          </p:cNvSpPr>
          <p:nvPr/>
        </p:nvSpPr>
        <p:spPr bwMode="auto">
          <a:xfrm>
            <a:off x="4384675" y="3792538"/>
            <a:ext cx="430213" cy="352425"/>
          </a:xfrm>
          <a:prstGeom prst="leftArrow">
            <a:avLst>
              <a:gd name="adj1" fmla="val 50000"/>
              <a:gd name="adj2" fmla="val 420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50194" name="Text Box 24"/>
          <p:cNvSpPr txBox="1">
            <a:spLocks noChangeArrowheads="1"/>
          </p:cNvSpPr>
          <p:nvPr/>
        </p:nvSpPr>
        <p:spPr bwMode="auto">
          <a:xfrm>
            <a:off x="595313" y="4156075"/>
            <a:ext cx="2627312" cy="925513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1800"/>
              <a:t>Se modifica la frontera de decisión hacia la clase menos "peligrosa"</a:t>
            </a:r>
          </a:p>
        </p:txBody>
      </p:sp>
      <p:graphicFrame>
        <p:nvGraphicFramePr>
          <p:cNvPr id="50195" name="Object 26"/>
          <p:cNvGraphicFramePr>
            <a:graphicFrameLocks noChangeAspect="1"/>
          </p:cNvGraphicFramePr>
          <p:nvPr/>
        </p:nvGraphicFramePr>
        <p:xfrm>
          <a:off x="358775" y="1822450"/>
          <a:ext cx="13652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0" name="Ecuación" r:id="rId3" imgW="736600" imgH="457200" progId="Equation.3">
                  <p:embed/>
                </p:oleObj>
              </mc:Choice>
              <mc:Fallback>
                <p:oleObj name="Ecuación" r:id="rId3" imgW="736600" imgH="457200" progId="Equation.3">
                  <p:embed/>
                  <p:pic>
                    <p:nvPicPr>
                      <p:cNvPr id="5019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1822450"/>
                        <a:ext cx="136525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6" name="Text Box 27"/>
          <p:cNvSpPr txBox="1">
            <a:spLocks noChangeArrowheads="1"/>
          </p:cNvSpPr>
          <p:nvPr/>
        </p:nvSpPr>
        <p:spPr bwMode="auto">
          <a:xfrm>
            <a:off x="577850" y="2870200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>
                <a:solidFill>
                  <a:srgbClr val="FF0000"/>
                </a:solidFill>
              </a:rPr>
              <a:t>w</a:t>
            </a:r>
            <a:r>
              <a:rPr lang="es-ES_tradnl" altLang="es-ES" sz="2400" baseline="-25000">
                <a:solidFill>
                  <a:srgbClr val="FF0000"/>
                </a:solidFill>
              </a:rPr>
              <a:t>1</a:t>
            </a:r>
            <a:r>
              <a:rPr lang="es-ES_tradnl" altLang="es-ES" sz="2400">
                <a:solidFill>
                  <a:srgbClr val="FF0000"/>
                </a:solidFill>
              </a:rPr>
              <a:t>=no tiene cáncer</a:t>
            </a:r>
          </a:p>
        </p:txBody>
      </p:sp>
      <p:sp>
        <p:nvSpPr>
          <p:cNvPr id="50197" name="Text Box 28"/>
          <p:cNvSpPr txBox="1">
            <a:spLocks noChangeArrowheads="1"/>
          </p:cNvSpPr>
          <p:nvPr/>
        </p:nvSpPr>
        <p:spPr bwMode="auto">
          <a:xfrm>
            <a:off x="6199188" y="2387600"/>
            <a:ext cx="2138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ES" sz="2400">
                <a:solidFill>
                  <a:schemeClr val="accent2"/>
                </a:solidFill>
              </a:rPr>
              <a:t>w</a:t>
            </a:r>
            <a:r>
              <a:rPr lang="es-ES_tradnl" altLang="es-ES" sz="2400" baseline="-25000">
                <a:solidFill>
                  <a:schemeClr val="accent2"/>
                </a:solidFill>
              </a:rPr>
              <a:t>2</a:t>
            </a:r>
            <a:r>
              <a:rPr lang="es-ES_tradnl" altLang="es-ES" sz="2400">
                <a:solidFill>
                  <a:schemeClr val="accent2"/>
                </a:solidFill>
              </a:rPr>
              <a:t>=tiene cáncer</a:t>
            </a:r>
            <a:endParaRPr lang="es-ES" altLang="es-ES" sz="2400">
              <a:solidFill>
                <a:schemeClr val="accent2"/>
              </a:solidFill>
            </a:endParaRPr>
          </a:p>
        </p:txBody>
      </p:sp>
      <p:cxnSp>
        <p:nvCxnSpPr>
          <p:cNvPr id="50198" name="AutoShape 29"/>
          <p:cNvCxnSpPr>
            <a:cxnSpLocks noChangeShapeType="1"/>
            <a:stCxn id="50194" idx="3"/>
            <a:endCxn id="50193" idx="2"/>
          </p:cNvCxnSpPr>
          <p:nvPr/>
        </p:nvCxnSpPr>
        <p:spPr bwMode="auto">
          <a:xfrm flipV="1">
            <a:off x="3222625" y="4144963"/>
            <a:ext cx="1309688" cy="4746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6541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</TotalTime>
  <Words>2845</Words>
  <Application>Microsoft Office PowerPoint</Application>
  <PresentationFormat>Presentación en pantalla (4:3)</PresentationFormat>
  <Paragraphs>506</Paragraphs>
  <Slides>53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4</vt:i4>
      </vt:variant>
      <vt:variant>
        <vt:lpstr>Títulos de diapositiva</vt:lpstr>
      </vt:variant>
      <vt:variant>
        <vt:i4>53</vt:i4>
      </vt:variant>
    </vt:vector>
  </HeadingPairs>
  <TitlesOfParts>
    <vt:vector size="64" baseType="lpstr">
      <vt:lpstr>Arial</vt:lpstr>
      <vt:lpstr>Consolas</vt:lpstr>
      <vt:lpstr>Courier New</vt:lpstr>
      <vt:lpstr>Symbol</vt:lpstr>
      <vt:lpstr>Times New Roman</vt:lpstr>
      <vt:lpstr>Wingdings</vt:lpstr>
      <vt:lpstr>Diseño predeterminado</vt:lpstr>
      <vt:lpstr>Ecuación</vt:lpstr>
      <vt:lpstr>Fotografia di Photo Editor</vt:lpstr>
      <vt:lpstr>Equation</vt:lpstr>
      <vt:lpstr>数式</vt:lpstr>
      <vt:lpstr>Clasificación bayesiana</vt:lpstr>
      <vt:lpstr>Teoría bayesiana de la decisión</vt:lpstr>
      <vt:lpstr>Teoría bayesiana de la decisión</vt:lpstr>
      <vt:lpstr>Teorema de Bayes</vt:lpstr>
      <vt:lpstr>Bayes aplicado a clasificación</vt:lpstr>
      <vt:lpstr>Probabilidad "a priori"</vt:lpstr>
      <vt:lpstr>Clasificador bayesiano</vt:lpstr>
      <vt:lpstr>Cambio en la percepción de la realidad</vt:lpstr>
      <vt:lpstr>Teorema de Bayes</vt:lpstr>
      <vt:lpstr>Bayes aplicado a clasificación</vt:lpstr>
      <vt:lpstr>Cambio en la percepción de la realidad</vt:lpstr>
      <vt:lpstr>Clasificador bayesiano</vt:lpstr>
      <vt:lpstr>Cómo seleccionar una hipótesis</vt:lpstr>
      <vt:lpstr>Clasificador bayesiano  (X no discreto, sino contínuo)</vt:lpstr>
      <vt:lpstr>Cómo seleccionar una hipótesis</vt:lpstr>
      <vt:lpstr>Cómo seleccionar una hipótesis</vt:lpstr>
      <vt:lpstr>La estimación de densidad</vt:lpstr>
      <vt:lpstr>Error en la selección de una hipótesis y determinación de la frontera de decisión (cualquier otra da un error mayor)</vt:lpstr>
      <vt:lpstr>La distribución normal (gaussiana, de Gauss)</vt:lpstr>
      <vt:lpstr>Parámetros importantes (Distribución normal)</vt:lpstr>
      <vt:lpstr>Porcentajes encerrados bajo la curva normal</vt:lpstr>
      <vt:lpstr>Frontera óptima de decisión</vt:lpstr>
      <vt:lpstr>Caso A) Dos clases equiprobables, distrib.normal 1D, 1=2=</vt:lpstr>
      <vt:lpstr>Caso B) Dos clases, distrib.normal 1D</vt:lpstr>
      <vt:lpstr>Ejemplo en MATLAB</vt:lpstr>
      <vt:lpstr>Caso multiclase</vt:lpstr>
      <vt:lpstr>Caso multiclase 1D</vt:lpstr>
      <vt:lpstr>Interpretación gráfica Caso multiclase 1D</vt:lpstr>
      <vt:lpstr>Distribución normal multivariada</vt:lpstr>
      <vt:lpstr>Distribución normal multivariada</vt:lpstr>
      <vt:lpstr>Ejempos de matriz de covarianza</vt:lpstr>
      <vt:lpstr>Distribución normal multivariada (en este caso, bivariada)</vt:lpstr>
      <vt:lpstr>¿Cómo generar datos y visualizar pdf gaussiana 2D ?</vt:lpstr>
      <vt:lpstr>Gaussianas 2D – la matriz de covarianza</vt:lpstr>
      <vt:lpstr>Presentación de PowerPoint</vt:lpstr>
      <vt:lpstr>Frontera óptima 2 clases equiprobables, distrib.normal N-dimensional, C1=C2=C</vt:lpstr>
      <vt:lpstr>Ejemplo 1: medias diferentes e igual covarianza</vt:lpstr>
      <vt:lpstr>Ejemplo 2: Matrices de covarianza proporcionales e igual media</vt:lpstr>
      <vt:lpstr>Ejemplo 2: Matrices de covarianza diferentes e igual media</vt:lpstr>
      <vt:lpstr>Ejemplo 4: Medias y matrices de covarianza diferentes</vt:lpstr>
      <vt:lpstr>Conclusiones</vt:lpstr>
      <vt:lpstr>Estimación de densidad</vt:lpstr>
      <vt:lpstr>Métodos básicos de  estimación de densidad</vt:lpstr>
      <vt:lpstr>Método de Parzen</vt:lpstr>
      <vt:lpstr>Cómo calcula la densidad  el método de Parzen</vt:lpstr>
      <vt:lpstr>Ej:Clasif. Parzen en B.D. iris</vt:lpstr>
      <vt:lpstr>Clasificador de mínimo riesgo de predicción</vt:lpstr>
      <vt:lpstr>Coste de una decisión</vt:lpstr>
      <vt:lpstr>La función de pérdida</vt:lpstr>
      <vt:lpstr>El riesgo de predicción</vt:lpstr>
      <vt:lpstr>Riesgo de elegir la clase j  (caso biclase)</vt:lpstr>
      <vt:lpstr>Clasificador bayesiano basado en el mínimo riesgo de predicción</vt:lpstr>
      <vt:lpstr>Efecto de la función de pérdida</vt:lpstr>
    </vt:vector>
  </TitlesOfParts>
  <Company>UCA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bayesiana</dc:title>
  <dc:creator>UCA</dc:creator>
  <cp:lastModifiedBy>Pedro L. Galindo - UCA</cp:lastModifiedBy>
  <cp:revision>170</cp:revision>
  <dcterms:created xsi:type="dcterms:W3CDTF">2003-10-25T10:45:28Z</dcterms:created>
  <dcterms:modified xsi:type="dcterms:W3CDTF">2024-05-17T08:49:21Z</dcterms:modified>
</cp:coreProperties>
</file>