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6"/>
  </p:notesMasterIdLst>
  <p:handoutMasterIdLst>
    <p:handoutMasterId r:id="rId77"/>
  </p:handoutMasterIdLst>
  <p:sldIdLst>
    <p:sldId id="256" r:id="rId2"/>
    <p:sldId id="306" r:id="rId3"/>
    <p:sldId id="387" r:id="rId4"/>
    <p:sldId id="388" r:id="rId5"/>
    <p:sldId id="391" r:id="rId6"/>
    <p:sldId id="405" r:id="rId7"/>
    <p:sldId id="393" r:id="rId8"/>
    <p:sldId id="407" r:id="rId9"/>
    <p:sldId id="406" r:id="rId10"/>
    <p:sldId id="413" r:id="rId11"/>
    <p:sldId id="401" r:id="rId12"/>
    <p:sldId id="403" r:id="rId13"/>
    <p:sldId id="408" r:id="rId14"/>
    <p:sldId id="409" r:id="rId15"/>
    <p:sldId id="410" r:id="rId16"/>
    <p:sldId id="411" r:id="rId17"/>
    <p:sldId id="414" r:id="rId18"/>
    <p:sldId id="415" r:id="rId19"/>
    <p:sldId id="277" r:id="rId20"/>
    <p:sldId id="311" r:id="rId21"/>
    <p:sldId id="310" r:id="rId22"/>
    <p:sldId id="425" r:id="rId23"/>
    <p:sldId id="430" r:id="rId24"/>
    <p:sldId id="312" r:id="rId25"/>
    <p:sldId id="359" r:id="rId26"/>
    <p:sldId id="412" r:id="rId27"/>
    <p:sldId id="313" r:id="rId28"/>
    <p:sldId id="426" r:id="rId29"/>
    <p:sldId id="427" r:id="rId30"/>
    <p:sldId id="314" r:id="rId31"/>
    <p:sldId id="315" r:id="rId32"/>
    <p:sldId id="446" r:id="rId33"/>
    <p:sldId id="431" r:id="rId34"/>
    <p:sldId id="361" r:id="rId35"/>
    <p:sldId id="316" r:id="rId36"/>
    <p:sldId id="362" r:id="rId37"/>
    <p:sldId id="444" r:id="rId38"/>
    <p:sldId id="320" r:id="rId39"/>
    <p:sldId id="416" r:id="rId40"/>
    <p:sldId id="417" r:id="rId41"/>
    <p:sldId id="418" r:id="rId42"/>
    <p:sldId id="419" r:id="rId43"/>
    <p:sldId id="447" r:id="rId44"/>
    <p:sldId id="448" r:id="rId45"/>
    <p:sldId id="424" r:id="rId46"/>
    <p:sldId id="421" r:id="rId47"/>
    <p:sldId id="420" r:id="rId48"/>
    <p:sldId id="422" r:id="rId49"/>
    <p:sldId id="423" r:id="rId50"/>
    <p:sldId id="445" r:id="rId51"/>
    <p:sldId id="443" r:id="rId52"/>
    <p:sldId id="428" r:id="rId53"/>
    <p:sldId id="432" r:id="rId54"/>
    <p:sldId id="346" r:id="rId55"/>
    <p:sldId id="347" r:id="rId56"/>
    <p:sldId id="349" r:id="rId57"/>
    <p:sldId id="373" r:id="rId58"/>
    <p:sldId id="374" r:id="rId59"/>
    <p:sldId id="375" r:id="rId60"/>
    <p:sldId id="376" r:id="rId61"/>
    <p:sldId id="433" r:id="rId62"/>
    <p:sldId id="439" r:id="rId63"/>
    <p:sldId id="434" r:id="rId64"/>
    <p:sldId id="436" r:id="rId65"/>
    <p:sldId id="437" r:id="rId66"/>
    <p:sldId id="377" r:id="rId67"/>
    <p:sldId id="378" r:id="rId68"/>
    <p:sldId id="440" r:id="rId69"/>
    <p:sldId id="379" r:id="rId70"/>
    <p:sldId id="380" r:id="rId71"/>
    <p:sldId id="442" r:id="rId72"/>
    <p:sldId id="381" r:id="rId73"/>
    <p:sldId id="382" r:id="rId74"/>
    <p:sldId id="383" r:id="rId75"/>
  </p:sldIdLst>
  <p:sldSz cx="9144000" cy="6858000" type="screen4x3"/>
  <p:notesSz cx="6743700" cy="9906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A7FFA7"/>
    <a:srgbClr val="FFB3C0"/>
    <a:srgbClr val="FFCCCC"/>
    <a:srgbClr val="66CCFF"/>
    <a:srgbClr val="CCECFF"/>
    <a:srgbClr val="EA9074"/>
    <a:srgbClr val="E7C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0" d="100"/>
          <a:sy n="40" d="100"/>
        </p:scale>
        <p:origin x="-1488" y="-96"/>
      </p:cViewPr>
      <p:guideLst>
        <p:guide orient="horz" pos="3120"/>
        <p:guide pos="21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6938"/>
            <a:ext cx="4946650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73" tIns="45032" rIns="91673" bIns="450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noProof="0" smtClean="0"/>
              <a:t>Click to edit Master text styles</a:t>
            </a:r>
          </a:p>
          <a:p>
            <a:pPr lvl="1"/>
            <a:r>
              <a:rPr lang="es-ES_tradnl" noProof="0" smtClean="0"/>
              <a:t>Second level</a:t>
            </a:r>
          </a:p>
          <a:p>
            <a:pPr lvl="2"/>
            <a:r>
              <a:rPr lang="es-ES_tradnl" noProof="0" smtClean="0"/>
              <a:t>Third level</a:t>
            </a:r>
          </a:p>
          <a:p>
            <a:pPr lvl="3"/>
            <a:r>
              <a:rPr lang="es-ES_tradnl" noProof="0" smtClean="0"/>
              <a:t>Fourth level</a:t>
            </a:r>
          </a:p>
          <a:p>
            <a:pPr lvl="4"/>
            <a:r>
              <a:rPr lang="es-ES_tradnl" noProof="0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Marcador de imagen de diapositiva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1238250"/>
            <a:ext cx="4457700" cy="33432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Marcador de nota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405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809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34124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920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667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076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085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4575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01341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718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670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4864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 smtClean="0"/>
              <a:t>Click to edit Master title style</a:t>
            </a:r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 smtClean="0"/>
              <a:t>Click to edit Master text styles</a:t>
            </a:r>
          </a:p>
          <a:p>
            <a:pPr lvl="1"/>
            <a:r>
              <a:rPr lang="es-ES_tradnl" altLang="es-ES" smtClean="0"/>
              <a:t>Second level</a:t>
            </a:r>
          </a:p>
          <a:p>
            <a:pPr lvl="2"/>
            <a:r>
              <a:rPr lang="es-ES_tradnl" altLang="es-ES" smtClean="0"/>
              <a:t>Third level</a:t>
            </a:r>
          </a:p>
          <a:p>
            <a:pPr lvl="3"/>
            <a:r>
              <a:rPr lang="es-ES_tradnl" altLang="es-ES" smtClean="0"/>
              <a:t>Fourth level</a:t>
            </a:r>
          </a:p>
          <a:p>
            <a:pPr lvl="4"/>
            <a:r>
              <a:rPr lang="es-ES_tradnl" altLang="es-E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3200" 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4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6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9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1.wm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19.bin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914400" y="2362200"/>
            <a:ext cx="7315200" cy="1143000"/>
          </a:xfrm>
          <a:prstGeom prst="rect">
            <a:avLst/>
          </a:prstGeom>
          <a:solidFill>
            <a:srgbClr val="FDE3B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s-ES_tradnl" altLang="es-ES" smtClean="0"/>
              <a:t>Clasificación</a:t>
            </a:r>
          </a:p>
        </p:txBody>
      </p:sp>
      <p:graphicFrame>
        <p:nvGraphicFramePr>
          <p:cNvPr id="3076" name="Object 7"/>
          <p:cNvGraphicFramePr>
            <a:graphicFrameLocks noChangeAspect="1"/>
          </p:cNvGraphicFramePr>
          <p:nvPr/>
        </p:nvGraphicFramePr>
        <p:xfrm>
          <a:off x="2667000" y="609600"/>
          <a:ext cx="44196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Foto de Photo Editor" r:id="rId3" imgW="14060863" imgH="4153480" progId="MSPhotoEd.3">
                  <p:embed/>
                </p:oleObj>
              </mc:Choice>
              <mc:Fallback>
                <p:oleObj name="Foto de Photo Editor" r:id="rId3" imgW="14060863" imgH="4153480" progId="MSPhotoEd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609600"/>
                        <a:ext cx="44196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9"/>
          <p:cNvSpPr>
            <a:spLocks noChangeArrowheads="1"/>
          </p:cNvSpPr>
          <p:nvPr/>
        </p:nvSpPr>
        <p:spPr bwMode="auto">
          <a:xfrm>
            <a:off x="0" y="3886200"/>
            <a:ext cx="9144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lang="es-ES_tradnl" altLang="es-ES"/>
              <a:t>Dr. Pedro L. Galindo Riaño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s-ES_tradnl" altLang="es-ES"/>
              <a:t>Universidad de Cádiz</a:t>
            </a:r>
            <a:endParaRPr lang="es-ES_tradnl" altLang="es-ES" sz="3600"/>
          </a:p>
          <a:p>
            <a:pPr algn="ctr">
              <a:lnSpc>
                <a:spcPct val="80000"/>
              </a:lnSpc>
              <a:buFontTx/>
              <a:buNone/>
            </a:pPr>
            <a:endParaRPr lang="es-ES_tradnl" altLang="es-ES"/>
          </a:p>
          <a:p>
            <a:pPr algn="ctr">
              <a:lnSpc>
                <a:spcPct val="60000"/>
              </a:lnSpc>
              <a:buFontTx/>
              <a:buNone/>
            </a:pPr>
            <a:r>
              <a:rPr lang="es-ES_tradnl" altLang="es-ES" sz="2800"/>
              <a:t>www2.uca.es/grup-invest/sic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s-ES_tradnl" altLang="es-ES" sz="2800"/>
              <a:t>www2.uca.es/dept/leng_sist_informaticos/preal/pedro</a:t>
            </a:r>
            <a:endParaRPr lang="es-ES_tradnl" altLang="es-E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054"/>
          <p:cNvGraphicFramePr>
            <a:graphicFrameLocks noChangeAspect="1"/>
          </p:cNvGraphicFramePr>
          <p:nvPr/>
        </p:nvGraphicFramePr>
        <p:xfrm>
          <a:off x="2514600" y="3200400"/>
          <a:ext cx="4433888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cuación" r:id="rId3" imgW="1562100" imgH="241300" progId="Equation.3">
                  <p:embed/>
                </p:oleObj>
              </mc:Choice>
              <mc:Fallback>
                <p:oleObj name="Ecuación" r:id="rId3" imgW="1562100" imgH="241300" progId="Equation.3">
                  <p:embed/>
                  <p:pic>
                    <p:nvPicPr>
                      <p:cNvPr id="0" name="Object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200400"/>
                        <a:ext cx="4433888" cy="681038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63DE8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Rectangle 20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3. Clasificación</a:t>
            </a:r>
            <a:br>
              <a:rPr lang="es-ES_tradnl" altLang="es-ES" smtClean="0"/>
            </a:br>
            <a:r>
              <a:rPr lang="es-ES_tradnl" altLang="es-ES" smtClean="0"/>
              <a:t>Descripción del Problema</a:t>
            </a:r>
            <a:br>
              <a:rPr lang="es-ES_tradnl" altLang="es-ES" smtClean="0"/>
            </a:br>
            <a:endParaRPr lang="es-ES_tradnl" altLang="es-ES" smtClean="0"/>
          </a:p>
        </p:txBody>
      </p:sp>
      <p:sp>
        <p:nvSpPr>
          <p:cNvPr id="4100" name="Rectangle 205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mtClean="0"/>
              <a:t>Consiste en asignar el patrón de entrada a una sola de entre N categorías </a:t>
            </a:r>
          </a:p>
          <a:p>
            <a:pPr lvl="1"/>
            <a:endParaRPr lang="es-ES_tradnl" altLang="es-ES" smtClean="0"/>
          </a:p>
          <a:p>
            <a:pPr lvl="1"/>
            <a:endParaRPr lang="es-ES_tradnl" altLang="es-ES" smtClean="0"/>
          </a:p>
          <a:p>
            <a:r>
              <a:rPr lang="es-ES_tradnl" altLang="es-ES" smtClean="0"/>
              <a:t>Ejemplos</a:t>
            </a:r>
          </a:p>
          <a:p>
            <a:pPr lvl="1"/>
            <a:r>
              <a:rPr lang="es-ES_tradnl" altLang="es-ES" smtClean="0"/>
              <a:t>Reconocimiento de voz</a:t>
            </a:r>
          </a:p>
          <a:p>
            <a:pPr lvl="1"/>
            <a:r>
              <a:rPr lang="es-ES_tradnl" altLang="es-ES" smtClean="0"/>
              <a:t>OCR</a:t>
            </a:r>
          </a:p>
          <a:p>
            <a:pPr lvl="1"/>
            <a:r>
              <a:rPr lang="es-ES_tradnl" altLang="es-ES" smtClean="0"/>
              <a:t>Sistemas Expertos</a:t>
            </a:r>
          </a:p>
          <a:p>
            <a:endParaRPr lang="es-ES_tradnl" altLang="es-ES" smtClean="0"/>
          </a:p>
          <a:p>
            <a:endParaRPr lang="es-ES_tradnl" alt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s-ES" altLang="es-ES" smtClean="0"/>
              <a:t>Un ejemplo concreto:</a:t>
            </a:r>
            <a:br>
              <a:rPr lang="es-ES" altLang="es-ES" smtClean="0"/>
            </a:br>
            <a:r>
              <a:rPr lang="es-ES" altLang="es-ES" smtClean="0"/>
              <a:t>Clasificar peces por su longitud</a:t>
            </a:r>
          </a:p>
        </p:txBody>
      </p:sp>
      <p:sp>
        <p:nvSpPr>
          <p:cNvPr id="5123" name="Line 9"/>
          <p:cNvSpPr>
            <a:spLocks noChangeShapeType="1"/>
          </p:cNvSpPr>
          <p:nvPr/>
        </p:nvSpPr>
        <p:spPr bwMode="auto">
          <a:xfrm>
            <a:off x="3563938" y="3860800"/>
            <a:ext cx="0" cy="16557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124" name="Line 10"/>
          <p:cNvSpPr>
            <a:spLocks noChangeShapeType="1"/>
          </p:cNvSpPr>
          <p:nvPr/>
        </p:nvSpPr>
        <p:spPr bwMode="auto">
          <a:xfrm>
            <a:off x="5580063" y="3860800"/>
            <a:ext cx="0" cy="16557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125" name="Line 11"/>
          <p:cNvSpPr>
            <a:spLocks noChangeShapeType="1"/>
          </p:cNvSpPr>
          <p:nvPr/>
        </p:nvSpPr>
        <p:spPr bwMode="auto">
          <a:xfrm>
            <a:off x="3563938" y="5084763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126" name="Text Box 12"/>
          <p:cNvSpPr txBox="1">
            <a:spLocks noChangeArrowheads="1"/>
          </p:cNvSpPr>
          <p:nvPr/>
        </p:nvSpPr>
        <p:spPr bwMode="auto">
          <a:xfrm>
            <a:off x="4306888" y="5081588"/>
            <a:ext cx="409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i="0"/>
              <a:t>L</a:t>
            </a:r>
          </a:p>
        </p:txBody>
      </p:sp>
      <p:pic>
        <p:nvPicPr>
          <p:cNvPr id="5127" name="Picture 4" descr="dorada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3911600"/>
            <a:ext cx="201612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3800" smtClean="0"/>
              <a:t>Distribución de lubinas y doradas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s-ES" altLang="es-ES" sz="2000" dirty="0" smtClean="0">
                <a:latin typeface="Consolas" panose="020B0609020204030204" pitchFamily="49" charset="0"/>
              </a:rPr>
              <a:t>x1 = 15+2*</a:t>
            </a:r>
            <a:r>
              <a:rPr lang="es-ES" altLang="es-ES" sz="2000" dirty="0" err="1" smtClean="0">
                <a:latin typeface="Consolas" panose="020B0609020204030204" pitchFamily="49" charset="0"/>
              </a:rPr>
              <a:t>randn</a:t>
            </a:r>
            <a:r>
              <a:rPr lang="es-ES" altLang="es-ES" sz="2000" dirty="0" smtClean="0">
                <a:latin typeface="Consolas" panose="020B0609020204030204" pitchFamily="49" charset="0"/>
              </a:rPr>
              <a:t>(1,10);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altLang="es-ES" sz="2000" dirty="0" smtClean="0">
                <a:latin typeface="Consolas" panose="020B0609020204030204" pitchFamily="49" charset="0"/>
              </a:rPr>
              <a:t>x2 = 23+4*</a:t>
            </a:r>
            <a:r>
              <a:rPr lang="es-ES" altLang="es-ES" sz="2000" dirty="0" err="1" smtClean="0">
                <a:latin typeface="Consolas" panose="020B0609020204030204" pitchFamily="49" charset="0"/>
              </a:rPr>
              <a:t>randn</a:t>
            </a:r>
            <a:r>
              <a:rPr lang="es-ES" altLang="es-ES" sz="2000" dirty="0" smtClean="0">
                <a:latin typeface="Consolas" panose="020B0609020204030204" pitchFamily="49" charset="0"/>
              </a:rPr>
              <a:t>(1,10);</a:t>
            </a:r>
          </a:p>
          <a:p>
            <a:pPr>
              <a:buFontTx/>
              <a:buNone/>
            </a:pPr>
            <a:r>
              <a:rPr lang="es-ES" altLang="es-ES" sz="2000" dirty="0" smtClean="0">
                <a:latin typeface="Consolas" panose="020B0609020204030204" pitchFamily="49" charset="0"/>
              </a:rPr>
              <a:t>x = [x1 x2];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altLang="es-ES" sz="2000" dirty="0" smtClean="0">
                <a:latin typeface="Consolas" panose="020B0609020204030204" pitchFamily="49" charset="0"/>
              </a:rPr>
              <a:t>y = [</a:t>
            </a:r>
            <a:r>
              <a:rPr lang="es-ES" altLang="es-ES" sz="2000" dirty="0" err="1" smtClean="0">
                <a:latin typeface="Consolas" panose="020B0609020204030204" pitchFamily="49" charset="0"/>
              </a:rPr>
              <a:t>zeros</a:t>
            </a:r>
            <a:r>
              <a:rPr lang="es-ES" altLang="es-ES" sz="2000" dirty="0" smtClean="0">
                <a:latin typeface="Consolas" panose="020B0609020204030204" pitchFamily="49" charset="0"/>
              </a:rPr>
              <a:t>(1,1000) </a:t>
            </a:r>
            <a:r>
              <a:rPr lang="es-ES" altLang="es-ES" sz="2000" dirty="0" err="1" smtClean="0">
                <a:latin typeface="Consolas" panose="020B0609020204030204" pitchFamily="49" charset="0"/>
              </a:rPr>
              <a:t>ones</a:t>
            </a:r>
            <a:r>
              <a:rPr lang="es-ES" altLang="es-ES" sz="2000" dirty="0" smtClean="0">
                <a:latin typeface="Consolas" panose="020B0609020204030204" pitchFamily="49" charset="0"/>
              </a:rPr>
              <a:t>(1,1000)]; </a:t>
            </a:r>
          </a:p>
          <a:p>
            <a:pPr>
              <a:buFont typeface="Wingdings" panose="05000000000000000000" pitchFamily="2" charset="2"/>
              <a:buNone/>
            </a:pPr>
            <a:endParaRPr lang="es-ES" altLang="es-ES" sz="2000" dirty="0" smtClean="0"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s-ES" altLang="es-ES" sz="2000" dirty="0" err="1" smtClean="0">
                <a:latin typeface="Consolas" panose="020B0609020204030204" pitchFamily="49" charset="0"/>
              </a:rPr>
              <a:t>subplot</a:t>
            </a:r>
            <a:r>
              <a:rPr lang="es-ES" altLang="es-ES" sz="2000" dirty="0" smtClean="0">
                <a:latin typeface="Consolas" panose="020B0609020204030204" pitchFamily="49" charset="0"/>
              </a:rPr>
              <a:t>(3,1,1),bar(x)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altLang="es-ES" sz="2000" dirty="0" smtClean="0">
                <a:latin typeface="Consolas" panose="020B0609020204030204" pitchFamily="49" charset="0"/>
              </a:rPr>
              <a:t>[</a:t>
            </a:r>
            <a:r>
              <a:rPr lang="es-ES" altLang="es-ES" sz="2000" dirty="0" err="1" smtClean="0">
                <a:latin typeface="Consolas" panose="020B0609020204030204" pitchFamily="49" charset="0"/>
              </a:rPr>
              <a:t>x,y</a:t>
            </a:r>
            <a:r>
              <a:rPr lang="es-ES" altLang="es-ES" sz="2000" dirty="0" smtClean="0">
                <a:latin typeface="Consolas" panose="020B0609020204030204" pitchFamily="49" charset="0"/>
              </a:rPr>
              <a:t>]=</a:t>
            </a:r>
            <a:r>
              <a:rPr lang="es-ES" altLang="es-ES" sz="2000" dirty="0" err="1" smtClean="0">
                <a:latin typeface="Consolas" panose="020B0609020204030204" pitchFamily="49" charset="0"/>
              </a:rPr>
              <a:t>shuffle</a:t>
            </a:r>
            <a:r>
              <a:rPr lang="es-ES" altLang="es-ES" sz="2000" dirty="0" smtClean="0">
                <a:latin typeface="Consolas" panose="020B0609020204030204" pitchFamily="49" charset="0"/>
              </a:rPr>
              <a:t>(</a:t>
            </a:r>
            <a:r>
              <a:rPr lang="es-ES" altLang="es-ES" sz="2000" dirty="0" err="1" smtClean="0">
                <a:latin typeface="Consolas" panose="020B0609020204030204" pitchFamily="49" charset="0"/>
              </a:rPr>
              <a:t>x,y</a:t>
            </a:r>
            <a:r>
              <a:rPr lang="es-ES" altLang="es-ES" sz="2000" dirty="0" smtClean="0">
                <a:latin typeface="Consolas" panose="020B0609020204030204" pitchFamily="49" charset="0"/>
              </a:rPr>
              <a:t>)</a:t>
            </a:r>
          </a:p>
          <a:p>
            <a:pPr>
              <a:buFontTx/>
              <a:buNone/>
            </a:pPr>
            <a:r>
              <a:rPr lang="es-ES" altLang="es-ES" sz="2000" dirty="0" err="1" smtClean="0">
                <a:latin typeface="Consolas" panose="020B0609020204030204" pitchFamily="49" charset="0"/>
              </a:rPr>
              <a:t>subplot</a:t>
            </a:r>
            <a:r>
              <a:rPr lang="es-ES" altLang="es-ES" sz="2000" dirty="0" smtClean="0">
                <a:latin typeface="Consolas" panose="020B0609020204030204" pitchFamily="49" charset="0"/>
              </a:rPr>
              <a:t>(3,1,2),bar(x)</a:t>
            </a:r>
          </a:p>
          <a:p>
            <a:pPr>
              <a:buFontTx/>
              <a:buNone/>
            </a:pPr>
            <a:r>
              <a:rPr lang="es-ES" altLang="es-ES" sz="2000" dirty="0" err="1" smtClean="0">
                <a:latin typeface="Consolas" panose="020B0609020204030204" pitchFamily="49" charset="0"/>
              </a:rPr>
              <a:t>subplot</a:t>
            </a:r>
            <a:r>
              <a:rPr lang="es-ES" altLang="es-ES" sz="2000" dirty="0" smtClean="0">
                <a:latin typeface="Consolas" panose="020B0609020204030204" pitchFamily="49" charset="0"/>
              </a:rPr>
              <a:t>(3,1,3),bar(</a:t>
            </a:r>
            <a:r>
              <a:rPr lang="es-ES" altLang="es-ES" sz="2000" dirty="0" err="1" smtClean="0">
                <a:latin typeface="Consolas" panose="020B0609020204030204" pitchFamily="49" charset="0"/>
              </a:rPr>
              <a:t>sort</a:t>
            </a:r>
            <a:r>
              <a:rPr lang="es-ES" altLang="es-ES" sz="2000" dirty="0" smtClean="0">
                <a:latin typeface="Consolas" panose="020B0609020204030204" pitchFamily="49" charset="0"/>
              </a:rPr>
              <a:t>(x))</a:t>
            </a:r>
          </a:p>
          <a:p>
            <a:pPr>
              <a:buFont typeface="Wingdings" panose="05000000000000000000" pitchFamily="2" charset="2"/>
              <a:buNone/>
            </a:pPr>
            <a:endParaRPr lang="es-ES" altLang="es-ES" sz="2000" dirty="0" smtClean="0">
              <a:latin typeface="Consolas" panose="020B0609020204030204" pitchFamily="49" charset="0"/>
            </a:endParaRPr>
          </a:p>
        </p:txBody>
      </p:sp>
      <p:pic>
        <p:nvPicPr>
          <p:cNvPr id="6148" name="Picture 4" descr="dorada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913" y="1628775"/>
            <a:ext cx="2771775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6" descr="pesca2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3733800"/>
            <a:ext cx="4098925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Cuestiones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5013" y="1744663"/>
            <a:ext cx="8229600" cy="5068887"/>
          </a:xfrm>
        </p:spPr>
        <p:txBody>
          <a:bodyPr/>
          <a:lstStyle/>
          <a:p>
            <a:r>
              <a:rPr lang="es-ES" altLang="es-ES" smtClean="0"/>
              <a:t>Si elegimos un pez al azar y lo medimos, y su longitud es 15.23 cm.  </a:t>
            </a:r>
          </a:p>
          <a:p>
            <a:r>
              <a:rPr lang="es-ES" altLang="es-ES" smtClean="0"/>
              <a:t>¿cómo puedo saber de qué especie se trata?</a:t>
            </a:r>
          </a:p>
          <a:p>
            <a:r>
              <a:rPr lang="es-ES" altLang="es-ES" smtClean="0"/>
              <a:t>Una solución sencilla: como unos peces son más grandes que otros, encontrar un valor L de tal forma que si longitud&lt;L se trata de una dorada y si no, es una lubina</a:t>
            </a:r>
          </a:p>
          <a:p>
            <a:pPr lvl="1"/>
            <a:r>
              <a:rPr lang="es-ES" altLang="es-ES" smtClean="0"/>
              <a:t>¿Cómo encuentro el valor óptimo de L?</a:t>
            </a:r>
          </a:p>
          <a:p>
            <a:pPr lvl="1"/>
            <a:r>
              <a:rPr lang="es-ES" altLang="es-ES" smtClean="0"/>
              <a:t>¿Qué error cometeremos?</a:t>
            </a:r>
          </a:p>
          <a:p>
            <a:pPr algn="ctr">
              <a:buFont typeface="Wingdings" panose="05000000000000000000" pitchFamily="2" charset="2"/>
              <a:buNone/>
            </a:pPr>
            <a:endParaRPr lang="es-ES" altLang="es-E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Cálculo de L: solución 1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1981200"/>
            <a:ext cx="8134350" cy="4114800"/>
          </a:xfrm>
        </p:spPr>
        <p:txBody>
          <a:bodyPr/>
          <a:lstStyle/>
          <a:p>
            <a:pPr>
              <a:defRPr/>
            </a:pPr>
            <a:r>
              <a:rPr lang="es-ES" sz="2800" dirty="0" smtClean="0"/>
              <a:t>Medimos todas las doradas y sacamos la media (m1)</a:t>
            </a:r>
          </a:p>
          <a:p>
            <a:pPr>
              <a:defRPr/>
            </a:pPr>
            <a:r>
              <a:rPr lang="es-ES" sz="2800" dirty="0" smtClean="0"/>
              <a:t>Medimos las lubinas, y sacamos la media (m2)</a:t>
            </a:r>
          </a:p>
          <a:p>
            <a:pPr>
              <a:defRPr/>
            </a:pPr>
            <a:r>
              <a:rPr lang="es-ES" sz="2800" dirty="0" smtClean="0"/>
              <a:t>Calculamos el punto medio de ambos valores </a:t>
            </a:r>
          </a:p>
          <a:p>
            <a:pPr marL="0" indent="0">
              <a:buFontTx/>
              <a:buNone/>
              <a:defRPr/>
            </a:pPr>
            <a:r>
              <a:rPr lang="es-ES" sz="2800" dirty="0"/>
              <a:t>	</a:t>
            </a:r>
            <a:r>
              <a:rPr lang="es-ES" sz="2800" dirty="0" smtClean="0"/>
              <a:t>	M = (m1+m2)/2</a:t>
            </a:r>
          </a:p>
          <a:p>
            <a:pPr>
              <a:defRPr/>
            </a:pPr>
            <a:r>
              <a:rPr lang="es-ES" sz="2800" dirty="0" smtClean="0"/>
              <a:t>Si la longitud del pez es menor que M, diremos que es una dorada, y si no, es una lubina</a:t>
            </a:r>
          </a:p>
          <a:p>
            <a:pPr>
              <a:defRPr/>
            </a:pPr>
            <a:r>
              <a:rPr lang="es-ES" sz="2800" dirty="0" smtClean="0"/>
              <a:t>M recibe el nombre de FRONTERA DE DECISIÓN</a:t>
            </a:r>
          </a:p>
          <a:p>
            <a:pPr>
              <a:defRPr/>
            </a:pPr>
            <a:r>
              <a:rPr lang="es-ES" sz="2800" dirty="0" smtClean="0"/>
              <a:t>¿Funcionará esta técnica?  </a:t>
            </a:r>
          </a:p>
          <a:p>
            <a:pPr>
              <a:defRPr/>
            </a:pPr>
            <a:r>
              <a:rPr lang="es-ES" sz="2800" dirty="0" smtClean="0"/>
              <a:t>¿Qué error cometerá?</a:t>
            </a:r>
            <a:endParaRPr lang="es-E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618413" cy="1143000"/>
          </a:xfrm>
        </p:spPr>
        <p:txBody>
          <a:bodyPr/>
          <a:lstStyle/>
          <a:p>
            <a:r>
              <a:rPr lang="es-ES" altLang="es-ES" smtClean="0"/>
              <a:t>Cálculo de L: total de errores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1404938"/>
            <a:ext cx="7386637" cy="423068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% Generacion de datos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x0 = 15+2*randn(1,1000);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x1 = 23+4*randn(1,1000);</a:t>
            </a:r>
          </a:p>
          <a:p>
            <a:pPr>
              <a:buFontTx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x = [x0 x1];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y = [zeros(1,1000) ones(1,1000)];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[x,y] = shuffle(x,y);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s-ES" altLang="es-ES" sz="2000" i="0" smtClean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% Obtener L a partir de x e 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ind = find(y==0); m0 = mean(x(ind));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ind = find(y==1); m1 = mean(x(ind));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L  = (m0+m1)/2;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s-ES" altLang="es-ES" sz="2000" i="0" smtClean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% Calculo del error total cometido con L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err0 = length(find(x0&gt;L));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err1 = length(find(x1&lt;L));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000" i="0" smtClean="0">
                <a:latin typeface="Consolas" panose="020B0609020204030204" pitchFamily="49" charset="0"/>
              </a:rPr>
              <a:t>E = err0 + err1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s-ES" altLang="es-ES" sz="2000" i="0" smtClean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s-ES" altLang="es-ES" sz="2000" i="0" smtClean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Cuestiones para pensar</a:t>
            </a:r>
          </a:p>
        </p:txBody>
      </p:sp>
      <p:sp>
        <p:nvSpPr>
          <p:cNvPr id="1024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s-ES" smtClean="0"/>
              <a:t>¿Hemos medido el error con los mismos datos con los que hemos entrenado?</a:t>
            </a:r>
          </a:p>
          <a:p>
            <a:r>
              <a:rPr lang="es-ES" altLang="es-ES" smtClean="0"/>
              <a:t>¿Puedo utilizar esta técnica si el número de datos es pequeño?</a:t>
            </a:r>
          </a:p>
          <a:p>
            <a:r>
              <a:rPr lang="es-ES" altLang="es-ES" smtClean="0"/>
              <a:t>¿Qué ocurre si en lugar de una característica tengo más, 10 por ejemplo?</a:t>
            </a:r>
          </a:p>
          <a:p>
            <a:r>
              <a:rPr lang="es-ES" altLang="es-ES" smtClean="0"/>
              <a:t>¿Puedo calcular el valor de L con más precisión?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618413" cy="1143000"/>
          </a:xfrm>
        </p:spPr>
        <p:txBody>
          <a:bodyPr/>
          <a:lstStyle/>
          <a:p>
            <a:r>
              <a:rPr lang="es-ES" altLang="es-ES" smtClean="0"/>
              <a:t>Cálculo de L: solución 2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5875" y="1885950"/>
            <a:ext cx="7386638" cy="4230688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400" i="0" smtClean="0">
                <a:latin typeface="Consolas" panose="020B0609020204030204" pitchFamily="49" charset="0"/>
              </a:rPr>
              <a:t>clear all, close all, clc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400" i="0" smtClean="0">
                <a:latin typeface="Consolas" panose="020B0609020204030204" pitchFamily="49" charset="0"/>
              </a:rPr>
              <a:t>randn('seed',1)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400" i="0" smtClean="0">
                <a:latin typeface="Consolas" panose="020B0609020204030204" pitchFamily="49" charset="0"/>
              </a:rPr>
              <a:t>x1=15+2*randn(1,1000);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400" i="0" smtClean="0">
                <a:latin typeface="Consolas" panose="020B0609020204030204" pitchFamily="49" charset="0"/>
              </a:rPr>
              <a:t>x2=23+4*randn(1,1000);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s-ES" altLang="es-ES" sz="2400" i="0" smtClean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altLang="es-ES" sz="2400" i="0" smtClean="0">
                <a:latin typeface="Consolas" panose="020B0609020204030204" pitchFamily="49" charset="0"/>
              </a:rPr>
              <a:t>valores = 0:1:50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400" i="0" smtClean="0">
                <a:latin typeface="Consolas" panose="020B0609020204030204" pitchFamily="49" charset="0"/>
              </a:rPr>
              <a:t>for i = 1:length(valores)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400" i="0" smtClean="0">
                <a:latin typeface="Consolas" panose="020B0609020204030204" pitchFamily="49" charset="0"/>
              </a:rPr>
              <a:t>    err1 = length(find(x1&gt;valores(i)));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400" i="0" smtClean="0">
                <a:latin typeface="Consolas" panose="020B0609020204030204" pitchFamily="49" charset="0"/>
              </a:rPr>
              <a:t>    err2 = length(find(x2&lt;valores(i)));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400" i="0" smtClean="0">
                <a:latin typeface="Consolas" panose="020B0609020204030204" pitchFamily="49" charset="0"/>
              </a:rPr>
              <a:t>    E(i) = err1 + err2;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400" i="0" smtClean="0">
                <a:latin typeface="Consolas" panose="020B0609020204030204" pitchFamily="49" charset="0"/>
              </a:rPr>
              <a:t>end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s-ES" sz="2400" i="0" smtClean="0">
                <a:latin typeface="Consolas" panose="020B0609020204030204" pitchFamily="49" charset="0"/>
              </a:rPr>
              <a:t>plot(valores,E, '.-')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s-ES" altLang="es-ES" sz="2400" i="0" smtClean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Cuestiones para pensar</a:t>
            </a:r>
          </a:p>
        </p:txBody>
      </p:sp>
      <p:sp>
        <p:nvSpPr>
          <p:cNvPr id="12291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s-ES" dirty="0" smtClean="0"/>
              <a:t>¿Cambiará el valor de la frontera de decisión en estos casos?</a:t>
            </a:r>
          </a:p>
          <a:p>
            <a:pPr lvl="1"/>
            <a:r>
              <a:rPr lang="es-ES" altLang="es-ES" dirty="0" smtClean="0"/>
              <a:t>Si hay más peces de un tipo que de otro</a:t>
            </a:r>
          </a:p>
          <a:p>
            <a:pPr lvl="1"/>
            <a:r>
              <a:rPr lang="es-ES" altLang="es-ES" dirty="0" smtClean="0"/>
              <a:t>Si las distribuciones no son normales</a:t>
            </a:r>
          </a:p>
          <a:p>
            <a:pPr lvl="1"/>
            <a:r>
              <a:rPr lang="es-ES" altLang="es-ES" dirty="0" smtClean="0"/>
              <a:t>Si las distribuciones no son iguales</a:t>
            </a:r>
          </a:p>
          <a:p>
            <a:pPr lvl="1"/>
            <a:r>
              <a:rPr lang="es-ES" altLang="es-ES" dirty="0" smtClean="0"/>
              <a:t>Si la muestra que tengo es de pocos peces</a:t>
            </a:r>
          </a:p>
          <a:p>
            <a:pPr lvl="1"/>
            <a:r>
              <a:rPr lang="es-ES" altLang="es-ES" dirty="0" smtClean="0"/>
              <a:t>Si mido el error usando alguna técnica de validación</a:t>
            </a:r>
          </a:p>
          <a:p>
            <a:endParaRPr lang="es-ES" altLang="es-E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Problema general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s-ES" altLang="es-ES" smtClean="0"/>
              <a:t>Para que todo funcione lo mejor posible, tendríamos que sacar y medir TODAS las doradas y lubinas de la piscifactoría (o del  mar!!!)</a:t>
            </a:r>
          </a:p>
          <a:p>
            <a:pPr>
              <a:lnSpc>
                <a:spcPct val="90000"/>
              </a:lnSpc>
            </a:pPr>
            <a:r>
              <a:rPr lang="es-ES" altLang="es-ES" smtClean="0"/>
              <a:t>Por ser normalmente imposible, se trabaja únicamente con una MUESTRA de la población</a:t>
            </a:r>
          </a:p>
          <a:p>
            <a:pPr>
              <a:lnSpc>
                <a:spcPct val="90000"/>
              </a:lnSpc>
            </a:pPr>
            <a:r>
              <a:rPr lang="es-ES" altLang="es-ES" smtClean="0"/>
              <a:t>Cuanto más elementos haya en mi muestra, y más representativa sea, mejores serán las estimaciones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Cuidado con los casos especiales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altLang="es-ES" smtClean="0"/>
              <a:t>¿Qué ocurre si las distribuciones están centradas en el mismo punto, pero tienen diferente anchura?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altLang="es-ES" smtClean="0"/>
              <a:t>		</a:t>
            </a:r>
            <a:r>
              <a:rPr lang="es-ES" altLang="es-ES" sz="2000" smtClean="0">
                <a:latin typeface="Consolas" panose="020B0609020204030204" pitchFamily="49" charset="0"/>
              </a:rPr>
              <a:t>x=15+4*randn(1,10000);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altLang="es-ES" sz="2000" smtClean="0">
                <a:latin typeface="Consolas" panose="020B0609020204030204" pitchFamily="49" charset="0"/>
              </a:rPr>
              <a:t>		y=15+2*randn(1,10000);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s-ES" sz="1400" smtClean="0">
                <a:latin typeface="Consolas" panose="020B0609020204030204" pitchFamily="49" charset="0"/>
              </a:rPr>
              <a:t>		</a:t>
            </a:r>
            <a:r>
              <a:rPr lang="en-US" altLang="es-ES" sz="2000" smtClean="0">
                <a:latin typeface="Consolas" panose="020B0609020204030204" pitchFamily="49" charset="0"/>
              </a:rPr>
              <a:t>sx=hist(x,0:40);plot(0:40,sx,'r');hold on;</a:t>
            </a:r>
            <a:endParaRPr lang="es-ES" altLang="es-ES" sz="2000" smtClean="0"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s-ES" altLang="es-ES" sz="2000" smtClean="0">
                <a:latin typeface="Consolas" panose="020B0609020204030204" pitchFamily="49" charset="0"/>
              </a:rPr>
              <a:t>		sy=hist(y,0:40);plot(0:40,sy, </a:t>
            </a:r>
            <a:r>
              <a:rPr lang="en-US" altLang="es-ES" sz="2000" smtClean="0">
                <a:latin typeface="Consolas" panose="020B0609020204030204" pitchFamily="49" charset="0"/>
              </a:rPr>
              <a:t>'</a:t>
            </a:r>
            <a:r>
              <a:rPr lang="es-ES" altLang="es-ES" sz="2000" smtClean="0">
                <a:latin typeface="Consolas" panose="020B0609020204030204" pitchFamily="49" charset="0"/>
              </a:rPr>
              <a:t>b</a:t>
            </a:r>
            <a:r>
              <a:rPr lang="en-US" altLang="es-ES" sz="2000" smtClean="0">
                <a:latin typeface="Consolas" panose="020B0609020204030204" pitchFamily="49" charset="0"/>
              </a:rPr>
              <a:t>'</a:t>
            </a:r>
            <a:r>
              <a:rPr lang="es-ES" altLang="es-ES" sz="2000" smtClean="0">
                <a:latin typeface="Consolas" panose="020B0609020204030204" pitchFamily="49" charset="0"/>
              </a:rPr>
              <a:t>);hold off;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altLang="es-ES" sz="2000" smtClean="0">
                <a:latin typeface="Consolas" panose="020B0609020204030204" pitchFamily="49" charset="0"/>
              </a:rPr>
              <a:t>		title(num2str(0.5*(mean(x)+mean(y))))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altLang="es-ES" sz="2000" smtClean="0">
                <a:latin typeface="Consolas" panose="020B0609020204030204" pitchFamily="49" charset="0"/>
              </a:rPr>
              <a:t>		legend(</a:t>
            </a:r>
            <a:r>
              <a:rPr lang="en-US" altLang="es-ES" sz="2000" smtClean="0">
                <a:latin typeface="Consolas" panose="020B0609020204030204" pitchFamily="49" charset="0"/>
              </a:rPr>
              <a:t>'</a:t>
            </a:r>
            <a:r>
              <a:rPr lang="es-ES" altLang="es-ES" sz="2000" smtClean="0">
                <a:latin typeface="Consolas" panose="020B0609020204030204" pitchFamily="49" charset="0"/>
              </a:rPr>
              <a:t>doradas</a:t>
            </a:r>
            <a:r>
              <a:rPr lang="en-US" altLang="es-ES" sz="2000" smtClean="0">
                <a:latin typeface="Consolas" panose="020B0609020204030204" pitchFamily="49" charset="0"/>
              </a:rPr>
              <a:t>'</a:t>
            </a:r>
            <a:r>
              <a:rPr lang="es-ES" altLang="es-ES" sz="2000" smtClean="0">
                <a:latin typeface="Consolas" panose="020B0609020204030204" pitchFamily="49" charset="0"/>
              </a:rPr>
              <a:t>, </a:t>
            </a:r>
            <a:r>
              <a:rPr lang="en-US" altLang="es-ES" sz="2000" smtClean="0">
                <a:latin typeface="Consolas" panose="020B0609020204030204" pitchFamily="49" charset="0"/>
              </a:rPr>
              <a:t>'</a:t>
            </a:r>
            <a:r>
              <a:rPr lang="es-ES" altLang="es-ES" sz="2000" smtClean="0">
                <a:latin typeface="Consolas" panose="020B0609020204030204" pitchFamily="49" charset="0"/>
              </a:rPr>
              <a:t>herreras</a:t>
            </a:r>
            <a:r>
              <a:rPr lang="en-US" altLang="es-ES" sz="2000" smtClean="0">
                <a:latin typeface="Consolas" panose="020B0609020204030204" pitchFamily="49" charset="0"/>
              </a:rPr>
              <a:t>'</a:t>
            </a:r>
            <a:r>
              <a:rPr lang="es-ES" altLang="es-ES" sz="2000" smtClean="0">
                <a:latin typeface="Consolas" panose="020B0609020204030204" pitchFamily="49" charset="0"/>
              </a:rPr>
              <a:t>)</a:t>
            </a:r>
          </a:p>
          <a:p>
            <a:endParaRPr lang="es-ES" alt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33375"/>
            <a:ext cx="7772400" cy="1419225"/>
          </a:xfrm>
        </p:spPr>
        <p:txBody>
          <a:bodyPr/>
          <a:lstStyle/>
          <a:p>
            <a:r>
              <a:rPr lang="es-ES_tradnl" altLang="es-ES" smtClean="0"/>
              <a:t>Ej: clasificador 2 características</a:t>
            </a:r>
            <a:endParaRPr lang="es-ES" altLang="es-ES" sz="360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3309938" cy="4114800"/>
          </a:xfrm>
        </p:spPr>
        <p:txBody>
          <a:bodyPr/>
          <a:lstStyle/>
          <a:p>
            <a:r>
              <a:rPr lang="es-ES" altLang="es-ES" smtClean="0"/>
              <a:t>Reconocimiento de frutas</a:t>
            </a:r>
          </a:p>
          <a:p>
            <a:endParaRPr lang="es-ES" altLang="es-ES" smtClean="0"/>
          </a:p>
          <a:p>
            <a:endParaRPr lang="es-ES" altLang="es-ES" smtClean="0"/>
          </a:p>
        </p:txBody>
      </p:sp>
      <p:pic>
        <p:nvPicPr>
          <p:cNvPr id="1536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813" y="1916113"/>
            <a:ext cx="4479925" cy="472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357563"/>
            <a:ext cx="3960812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Vectores de características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z="2800" smtClean="0"/>
              <a:t>La composición de varias características en un vector se denomina Vector de características</a:t>
            </a:r>
          </a:p>
          <a:p>
            <a:r>
              <a:rPr lang="es-ES_tradnl" altLang="es-ES" sz="2800" smtClean="0"/>
              <a:t>Un vector de características define un punto en un espacio n-dimensional</a:t>
            </a:r>
          </a:p>
        </p:txBody>
      </p:sp>
      <p:grpSp>
        <p:nvGrpSpPr>
          <p:cNvPr id="16388" name="Group 6"/>
          <p:cNvGrpSpPr>
            <a:grpSpLocks/>
          </p:cNvGrpSpPr>
          <p:nvPr/>
        </p:nvGrpSpPr>
        <p:grpSpPr bwMode="auto">
          <a:xfrm>
            <a:off x="1905000" y="3962400"/>
            <a:ext cx="5378450" cy="2438400"/>
            <a:chOff x="1008" y="2592"/>
            <a:chExt cx="3388" cy="1536"/>
          </a:xfrm>
        </p:grpSpPr>
        <p:sp>
          <p:nvSpPr>
            <p:cNvPr id="16389" name="Line 7"/>
            <p:cNvSpPr>
              <a:spLocks noChangeShapeType="1"/>
            </p:cNvSpPr>
            <p:nvPr/>
          </p:nvSpPr>
          <p:spPr bwMode="auto">
            <a:xfrm flipV="1">
              <a:off x="3216" y="2688"/>
              <a:ext cx="0" cy="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390" name="Line 8"/>
            <p:cNvSpPr>
              <a:spLocks noChangeShapeType="1"/>
            </p:cNvSpPr>
            <p:nvPr/>
          </p:nvSpPr>
          <p:spPr bwMode="auto">
            <a:xfrm flipH="1">
              <a:off x="2400" y="3600"/>
              <a:ext cx="816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391" name="Line 9"/>
            <p:cNvSpPr>
              <a:spLocks noChangeShapeType="1"/>
            </p:cNvSpPr>
            <p:nvPr/>
          </p:nvSpPr>
          <p:spPr bwMode="auto">
            <a:xfrm>
              <a:off x="3216" y="3600"/>
              <a:ext cx="912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392" name="Line 10"/>
            <p:cNvSpPr>
              <a:spLocks noChangeShapeType="1"/>
            </p:cNvSpPr>
            <p:nvPr/>
          </p:nvSpPr>
          <p:spPr bwMode="auto">
            <a:xfrm flipV="1">
              <a:off x="3216" y="3216"/>
              <a:ext cx="576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393" name="Line 11"/>
            <p:cNvSpPr>
              <a:spLocks noChangeShapeType="1"/>
            </p:cNvSpPr>
            <p:nvPr/>
          </p:nvSpPr>
          <p:spPr bwMode="auto">
            <a:xfrm>
              <a:off x="3792" y="3216"/>
              <a:ext cx="0" cy="91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394" name="Line 12"/>
            <p:cNvSpPr>
              <a:spLocks noChangeShapeType="1"/>
            </p:cNvSpPr>
            <p:nvPr/>
          </p:nvSpPr>
          <p:spPr bwMode="auto">
            <a:xfrm flipV="1">
              <a:off x="3792" y="3984"/>
              <a:ext cx="240" cy="144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395" name="Line 13"/>
            <p:cNvSpPr>
              <a:spLocks noChangeShapeType="1"/>
            </p:cNvSpPr>
            <p:nvPr/>
          </p:nvSpPr>
          <p:spPr bwMode="auto">
            <a:xfrm flipH="1" flipV="1">
              <a:off x="3024" y="3696"/>
              <a:ext cx="768" cy="43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396" name="Line 14"/>
            <p:cNvSpPr>
              <a:spLocks noChangeShapeType="1"/>
            </p:cNvSpPr>
            <p:nvPr/>
          </p:nvSpPr>
          <p:spPr bwMode="auto">
            <a:xfrm flipV="1">
              <a:off x="4032" y="3120"/>
              <a:ext cx="0" cy="864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397" name="Line 15"/>
            <p:cNvSpPr>
              <a:spLocks noChangeShapeType="1"/>
            </p:cNvSpPr>
            <p:nvPr/>
          </p:nvSpPr>
          <p:spPr bwMode="auto">
            <a:xfrm flipV="1">
              <a:off x="3792" y="3120"/>
              <a:ext cx="240" cy="9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398" name="Line 16"/>
            <p:cNvSpPr>
              <a:spLocks noChangeShapeType="1"/>
            </p:cNvSpPr>
            <p:nvPr/>
          </p:nvSpPr>
          <p:spPr bwMode="auto">
            <a:xfrm flipH="1" flipV="1">
              <a:off x="3024" y="2880"/>
              <a:ext cx="768" cy="33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399" name="Line 17"/>
            <p:cNvSpPr>
              <a:spLocks noChangeShapeType="1"/>
            </p:cNvSpPr>
            <p:nvPr/>
          </p:nvSpPr>
          <p:spPr bwMode="auto">
            <a:xfrm>
              <a:off x="3024" y="2880"/>
              <a:ext cx="0" cy="81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400" name="Line 18"/>
            <p:cNvSpPr>
              <a:spLocks noChangeShapeType="1"/>
            </p:cNvSpPr>
            <p:nvPr/>
          </p:nvSpPr>
          <p:spPr bwMode="auto">
            <a:xfrm flipV="1">
              <a:off x="2976" y="2784"/>
              <a:ext cx="240" cy="9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401" name="Line 19"/>
            <p:cNvSpPr>
              <a:spLocks noChangeShapeType="1"/>
            </p:cNvSpPr>
            <p:nvPr/>
          </p:nvSpPr>
          <p:spPr bwMode="auto">
            <a:xfrm>
              <a:off x="3216" y="2784"/>
              <a:ext cx="816" cy="33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402" name="Text Box 20"/>
            <p:cNvSpPr txBox="1">
              <a:spLocks noChangeArrowheads="1"/>
            </p:cNvSpPr>
            <p:nvPr/>
          </p:nvSpPr>
          <p:spPr bwMode="auto">
            <a:xfrm>
              <a:off x="2246" y="3720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/>
                <a:t>X</a:t>
              </a:r>
              <a:r>
                <a:rPr lang="es-ES_tradnl" altLang="es-ES" sz="1800" i="0" baseline="-25000"/>
                <a:t>1</a:t>
              </a:r>
              <a:endParaRPr lang="es-ES_tradnl" altLang="es-ES" sz="1800" i="0"/>
            </a:p>
          </p:txBody>
        </p:sp>
        <p:sp>
          <p:nvSpPr>
            <p:cNvPr id="16403" name="Text Box 21"/>
            <p:cNvSpPr txBox="1">
              <a:spLocks noChangeArrowheads="1"/>
            </p:cNvSpPr>
            <p:nvPr/>
          </p:nvSpPr>
          <p:spPr bwMode="auto">
            <a:xfrm>
              <a:off x="4128" y="3792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/>
                <a:t>X</a:t>
              </a:r>
              <a:r>
                <a:rPr lang="es-ES_tradnl" altLang="es-ES" sz="1800" i="0" baseline="-25000"/>
                <a:t>2</a:t>
              </a:r>
              <a:endParaRPr lang="es-ES_tradnl" altLang="es-ES" sz="1800" i="0"/>
            </a:p>
          </p:txBody>
        </p:sp>
        <p:sp>
          <p:nvSpPr>
            <p:cNvPr id="16404" name="Text Box 22"/>
            <p:cNvSpPr txBox="1">
              <a:spLocks noChangeArrowheads="1"/>
            </p:cNvSpPr>
            <p:nvPr/>
          </p:nvSpPr>
          <p:spPr bwMode="auto">
            <a:xfrm>
              <a:off x="3264" y="2592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/>
                <a:t>X</a:t>
              </a:r>
              <a:r>
                <a:rPr lang="es-ES_tradnl" altLang="es-ES" sz="1800" i="0" baseline="-25000"/>
                <a:t>3</a:t>
              </a:r>
              <a:endParaRPr lang="es-ES_tradnl" altLang="es-ES" sz="1800" i="0"/>
            </a:p>
          </p:txBody>
        </p:sp>
        <p:sp>
          <p:nvSpPr>
            <p:cNvPr id="16405" name="Text Box 23"/>
            <p:cNvSpPr txBox="1">
              <a:spLocks noChangeArrowheads="1"/>
            </p:cNvSpPr>
            <p:nvPr/>
          </p:nvSpPr>
          <p:spPr bwMode="auto">
            <a:xfrm>
              <a:off x="3302" y="319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b="1" i="0">
                  <a:latin typeface="Arial" panose="020B0604020202020204" pitchFamily="34" charset="0"/>
                </a:rPr>
                <a:t>x</a:t>
              </a:r>
            </a:p>
          </p:txBody>
        </p:sp>
        <p:graphicFrame>
          <p:nvGraphicFramePr>
            <p:cNvPr id="16406" name="Object 24"/>
            <p:cNvGraphicFramePr>
              <a:graphicFrameLocks noChangeAspect="1"/>
            </p:cNvGraphicFramePr>
            <p:nvPr/>
          </p:nvGraphicFramePr>
          <p:xfrm>
            <a:off x="1008" y="2736"/>
            <a:ext cx="833" cy="1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4" name="Ecuación" r:id="rId3" imgW="545863" imgH="710891" progId="Equation.3">
                    <p:embed/>
                  </p:oleObj>
                </mc:Choice>
                <mc:Fallback>
                  <p:oleObj name="Ecuación" r:id="rId3" imgW="545863" imgH="710891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2736"/>
                          <a:ext cx="833" cy="1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7" name="Line 25"/>
            <p:cNvSpPr>
              <a:spLocks noChangeShapeType="1"/>
            </p:cNvSpPr>
            <p:nvPr/>
          </p:nvSpPr>
          <p:spPr bwMode="auto">
            <a:xfrm>
              <a:off x="3360" y="3216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Espacio de características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690688"/>
            <a:ext cx="7772400" cy="4114800"/>
          </a:xfrm>
        </p:spPr>
        <p:txBody>
          <a:bodyPr/>
          <a:lstStyle/>
          <a:p>
            <a:r>
              <a:rPr lang="es-ES_tradnl" altLang="es-ES" smtClean="0"/>
              <a:t>Si las características son buenas, el conjunto de patrones de la misma clase se agrupan en la misma región del espacio</a:t>
            </a:r>
          </a:p>
          <a:p>
            <a:r>
              <a:rPr lang="es-ES_tradnl" altLang="es-ES" smtClean="0"/>
              <a:t>Ejemplo reconocimiento de frutas: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5029200" y="4191000"/>
            <a:ext cx="3749675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m</a:t>
            </a:r>
            <a:r>
              <a:rPr lang="es-ES_tradnl" altLang="es-ES" sz="1800" i="0" baseline="-25000">
                <a:latin typeface="Arial" panose="020B0604020202020204" pitchFamily="34" charset="0"/>
              </a:rPr>
              <a:t>1 </a:t>
            </a:r>
            <a:r>
              <a:rPr lang="es-ES_tradnl" altLang="es-ES" sz="1800" i="0">
                <a:latin typeface="Arial" panose="020B0604020202020204" pitchFamily="34" charset="0"/>
              </a:rPr>
              <a:t>= limones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m</a:t>
            </a:r>
            <a:r>
              <a:rPr lang="es-ES_tradnl" altLang="es-ES" sz="1800" i="0" baseline="-25000">
                <a:latin typeface="Arial" panose="020B0604020202020204" pitchFamily="34" charset="0"/>
              </a:rPr>
              <a:t>2</a:t>
            </a:r>
            <a:r>
              <a:rPr lang="es-ES_tradnl" altLang="es-ES" sz="1800" i="0">
                <a:latin typeface="Arial" panose="020B0604020202020204" pitchFamily="34" charset="0"/>
              </a:rPr>
              <a:t> = manzanas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s-ES_tradnl" altLang="es-ES" sz="1800" i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En este caso, la separación es perfecta, pero no siempre será así, ya que las clases suelen estar solapadas</a:t>
            </a:r>
          </a:p>
        </p:txBody>
      </p:sp>
      <p:sp>
        <p:nvSpPr>
          <p:cNvPr id="17413" name="Line 6"/>
          <p:cNvSpPr>
            <a:spLocks noChangeShapeType="1"/>
          </p:cNvSpPr>
          <p:nvPr/>
        </p:nvSpPr>
        <p:spPr bwMode="auto">
          <a:xfrm flipV="1">
            <a:off x="1516063" y="44958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7414" name="Line 7"/>
          <p:cNvSpPr>
            <a:spLocks noChangeShapeType="1"/>
          </p:cNvSpPr>
          <p:nvPr/>
        </p:nvSpPr>
        <p:spPr bwMode="auto">
          <a:xfrm>
            <a:off x="1287463" y="6172200"/>
            <a:ext cx="281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grpSp>
        <p:nvGrpSpPr>
          <p:cNvPr id="97327" name="Group 47"/>
          <p:cNvGrpSpPr>
            <a:grpSpLocks/>
          </p:cNvGrpSpPr>
          <p:nvPr/>
        </p:nvGrpSpPr>
        <p:grpSpPr bwMode="auto">
          <a:xfrm>
            <a:off x="1547813" y="5013325"/>
            <a:ext cx="1250950" cy="1076325"/>
            <a:chOff x="1156" y="2659"/>
            <a:chExt cx="788" cy="678"/>
          </a:xfrm>
        </p:grpSpPr>
        <p:sp>
          <p:nvSpPr>
            <p:cNvPr id="17476" name="Oval 8"/>
            <p:cNvSpPr>
              <a:spLocks noChangeArrowheads="1"/>
            </p:cNvSpPr>
            <p:nvPr/>
          </p:nvSpPr>
          <p:spPr bwMode="auto">
            <a:xfrm>
              <a:off x="1396" y="3025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77" name="Oval 9"/>
            <p:cNvSpPr>
              <a:spLocks noChangeArrowheads="1"/>
            </p:cNvSpPr>
            <p:nvPr/>
          </p:nvSpPr>
          <p:spPr bwMode="auto">
            <a:xfrm>
              <a:off x="1492" y="3025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78" name="Oval 10"/>
            <p:cNvSpPr>
              <a:spLocks noChangeArrowheads="1"/>
            </p:cNvSpPr>
            <p:nvPr/>
          </p:nvSpPr>
          <p:spPr bwMode="auto">
            <a:xfrm>
              <a:off x="1444" y="2929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79" name="Oval 11"/>
            <p:cNvSpPr>
              <a:spLocks noChangeArrowheads="1"/>
            </p:cNvSpPr>
            <p:nvPr/>
          </p:nvSpPr>
          <p:spPr bwMode="auto">
            <a:xfrm>
              <a:off x="1300" y="3121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80" name="Oval 12"/>
            <p:cNvSpPr>
              <a:spLocks noChangeArrowheads="1"/>
            </p:cNvSpPr>
            <p:nvPr/>
          </p:nvSpPr>
          <p:spPr bwMode="auto">
            <a:xfrm>
              <a:off x="1540" y="3121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81" name="Oval 13"/>
            <p:cNvSpPr>
              <a:spLocks noChangeArrowheads="1"/>
            </p:cNvSpPr>
            <p:nvPr/>
          </p:nvSpPr>
          <p:spPr bwMode="auto">
            <a:xfrm>
              <a:off x="1540" y="2929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82" name="Oval 14"/>
            <p:cNvSpPr>
              <a:spLocks noChangeArrowheads="1"/>
            </p:cNvSpPr>
            <p:nvPr/>
          </p:nvSpPr>
          <p:spPr bwMode="auto">
            <a:xfrm>
              <a:off x="1588" y="3073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83" name="Oval 15"/>
            <p:cNvSpPr>
              <a:spLocks noChangeArrowheads="1"/>
            </p:cNvSpPr>
            <p:nvPr/>
          </p:nvSpPr>
          <p:spPr bwMode="auto">
            <a:xfrm>
              <a:off x="1636" y="2977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84" name="Oval 16"/>
            <p:cNvSpPr>
              <a:spLocks noChangeArrowheads="1"/>
            </p:cNvSpPr>
            <p:nvPr/>
          </p:nvSpPr>
          <p:spPr bwMode="auto">
            <a:xfrm>
              <a:off x="1444" y="3121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85" name="Oval 17"/>
            <p:cNvSpPr>
              <a:spLocks noChangeArrowheads="1"/>
            </p:cNvSpPr>
            <p:nvPr/>
          </p:nvSpPr>
          <p:spPr bwMode="auto">
            <a:xfrm>
              <a:off x="1300" y="2977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86" name="Oval 18"/>
            <p:cNvSpPr>
              <a:spLocks noChangeArrowheads="1"/>
            </p:cNvSpPr>
            <p:nvPr/>
          </p:nvSpPr>
          <p:spPr bwMode="auto">
            <a:xfrm>
              <a:off x="1396" y="3169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87" name="Oval 19"/>
            <p:cNvSpPr>
              <a:spLocks noChangeArrowheads="1"/>
            </p:cNvSpPr>
            <p:nvPr/>
          </p:nvSpPr>
          <p:spPr bwMode="auto">
            <a:xfrm>
              <a:off x="1348" y="2881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88" name="Oval 21"/>
            <p:cNvSpPr>
              <a:spLocks noChangeArrowheads="1"/>
            </p:cNvSpPr>
            <p:nvPr/>
          </p:nvSpPr>
          <p:spPr bwMode="auto">
            <a:xfrm>
              <a:off x="1252" y="3073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89" name="Freeform 40"/>
            <p:cNvSpPr>
              <a:spLocks/>
            </p:cNvSpPr>
            <p:nvPr/>
          </p:nvSpPr>
          <p:spPr bwMode="auto">
            <a:xfrm>
              <a:off x="1156" y="2777"/>
              <a:ext cx="704" cy="560"/>
            </a:xfrm>
            <a:custGeom>
              <a:avLst/>
              <a:gdLst>
                <a:gd name="T0" fmla="*/ 384 w 704"/>
                <a:gd name="T1" fmla="*/ 8 h 560"/>
                <a:gd name="T2" fmla="*/ 480 w 704"/>
                <a:gd name="T3" fmla="*/ 56 h 560"/>
                <a:gd name="T4" fmla="*/ 672 w 704"/>
                <a:gd name="T5" fmla="*/ 296 h 560"/>
                <a:gd name="T6" fmla="*/ 288 w 704"/>
                <a:gd name="T7" fmla="*/ 536 h 560"/>
                <a:gd name="T8" fmla="*/ 96 w 704"/>
                <a:gd name="T9" fmla="*/ 440 h 560"/>
                <a:gd name="T10" fmla="*/ 48 w 704"/>
                <a:gd name="T11" fmla="*/ 104 h 560"/>
                <a:gd name="T12" fmla="*/ 384 w 704"/>
                <a:gd name="T13" fmla="*/ 8 h 5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4" h="560">
                  <a:moveTo>
                    <a:pt x="384" y="8"/>
                  </a:moveTo>
                  <a:cubicBezTo>
                    <a:pt x="456" y="0"/>
                    <a:pt x="432" y="8"/>
                    <a:pt x="480" y="56"/>
                  </a:cubicBezTo>
                  <a:cubicBezTo>
                    <a:pt x="528" y="104"/>
                    <a:pt x="704" y="216"/>
                    <a:pt x="672" y="296"/>
                  </a:cubicBezTo>
                  <a:cubicBezTo>
                    <a:pt x="640" y="376"/>
                    <a:pt x="384" y="512"/>
                    <a:pt x="288" y="536"/>
                  </a:cubicBezTo>
                  <a:cubicBezTo>
                    <a:pt x="192" y="560"/>
                    <a:pt x="136" y="512"/>
                    <a:pt x="96" y="440"/>
                  </a:cubicBezTo>
                  <a:cubicBezTo>
                    <a:pt x="56" y="368"/>
                    <a:pt x="0" y="176"/>
                    <a:pt x="48" y="104"/>
                  </a:cubicBezTo>
                  <a:cubicBezTo>
                    <a:pt x="96" y="32"/>
                    <a:pt x="312" y="16"/>
                    <a:pt x="384" y="8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7490" name="Text Box 41"/>
            <p:cNvSpPr txBox="1">
              <a:spLocks noChangeArrowheads="1"/>
            </p:cNvSpPr>
            <p:nvPr/>
          </p:nvSpPr>
          <p:spPr bwMode="auto">
            <a:xfrm>
              <a:off x="1655" y="2659"/>
              <a:ext cx="2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>
                  <a:latin typeface="Arial" panose="020B0604020202020204" pitchFamily="34" charset="0"/>
                </a:rPr>
                <a:t>m</a:t>
              </a:r>
              <a:r>
                <a:rPr lang="es-ES_tradnl" altLang="es-ES" sz="1800" i="0" baseline="-25000">
                  <a:latin typeface="Arial" panose="020B0604020202020204" pitchFamily="34" charset="0"/>
                </a:rPr>
                <a:t>1</a:t>
              </a:r>
              <a:endParaRPr lang="es-ES_tradnl" altLang="es-ES" sz="1800" i="0">
                <a:latin typeface="Arial" panose="020B0604020202020204" pitchFamily="34" charset="0"/>
              </a:endParaRPr>
            </a:p>
          </p:txBody>
        </p:sp>
      </p:grpSp>
      <p:grpSp>
        <p:nvGrpSpPr>
          <p:cNvPr id="97325" name="Group 45"/>
          <p:cNvGrpSpPr>
            <a:grpSpLocks/>
          </p:cNvGrpSpPr>
          <p:nvPr/>
        </p:nvGrpSpPr>
        <p:grpSpPr bwMode="auto">
          <a:xfrm>
            <a:off x="2843213" y="3933825"/>
            <a:ext cx="1384300" cy="1473200"/>
            <a:chOff x="1675" y="2496"/>
            <a:chExt cx="872" cy="928"/>
          </a:xfrm>
        </p:grpSpPr>
        <p:sp>
          <p:nvSpPr>
            <p:cNvPr id="17456" name="Rectangle 20"/>
            <p:cNvSpPr>
              <a:spLocks noChangeAspect="1" noChangeArrowheads="1"/>
            </p:cNvSpPr>
            <p:nvPr/>
          </p:nvSpPr>
          <p:spPr bwMode="auto">
            <a:xfrm>
              <a:off x="1819" y="2880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57" name="Rectangle 22"/>
            <p:cNvSpPr>
              <a:spLocks noChangeAspect="1" noChangeArrowheads="1"/>
            </p:cNvSpPr>
            <p:nvPr/>
          </p:nvSpPr>
          <p:spPr bwMode="auto">
            <a:xfrm>
              <a:off x="1915" y="2928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58" name="Rectangle 23"/>
            <p:cNvSpPr>
              <a:spLocks noChangeAspect="1" noChangeArrowheads="1"/>
            </p:cNvSpPr>
            <p:nvPr/>
          </p:nvSpPr>
          <p:spPr bwMode="auto">
            <a:xfrm>
              <a:off x="1915" y="3024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59" name="Rectangle 24"/>
            <p:cNvSpPr>
              <a:spLocks noChangeAspect="1" noChangeArrowheads="1"/>
            </p:cNvSpPr>
            <p:nvPr/>
          </p:nvSpPr>
          <p:spPr bwMode="auto">
            <a:xfrm>
              <a:off x="2011" y="2976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60" name="Rectangle 25"/>
            <p:cNvSpPr>
              <a:spLocks noChangeAspect="1" noChangeArrowheads="1"/>
            </p:cNvSpPr>
            <p:nvPr/>
          </p:nvSpPr>
          <p:spPr bwMode="auto">
            <a:xfrm>
              <a:off x="2251" y="2976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61" name="Rectangle 26"/>
            <p:cNvSpPr>
              <a:spLocks noChangeAspect="1" noChangeArrowheads="1"/>
            </p:cNvSpPr>
            <p:nvPr/>
          </p:nvSpPr>
          <p:spPr bwMode="auto">
            <a:xfrm>
              <a:off x="2155" y="3024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62" name="Rectangle 27"/>
            <p:cNvSpPr>
              <a:spLocks noChangeAspect="1" noChangeArrowheads="1"/>
            </p:cNvSpPr>
            <p:nvPr/>
          </p:nvSpPr>
          <p:spPr bwMode="auto">
            <a:xfrm>
              <a:off x="2011" y="3120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63" name="Rectangle 28"/>
            <p:cNvSpPr>
              <a:spLocks noChangeAspect="1" noChangeArrowheads="1"/>
            </p:cNvSpPr>
            <p:nvPr/>
          </p:nvSpPr>
          <p:spPr bwMode="auto">
            <a:xfrm>
              <a:off x="2107" y="3168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64" name="Rectangle 29"/>
            <p:cNvSpPr>
              <a:spLocks noChangeAspect="1" noChangeArrowheads="1"/>
            </p:cNvSpPr>
            <p:nvPr/>
          </p:nvSpPr>
          <p:spPr bwMode="auto">
            <a:xfrm>
              <a:off x="2107" y="2928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65" name="Rectangle 30"/>
            <p:cNvSpPr>
              <a:spLocks noChangeAspect="1" noChangeArrowheads="1"/>
            </p:cNvSpPr>
            <p:nvPr/>
          </p:nvSpPr>
          <p:spPr bwMode="auto">
            <a:xfrm>
              <a:off x="1915" y="2976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66" name="Rectangle 31"/>
            <p:cNvSpPr>
              <a:spLocks noChangeAspect="1" noChangeArrowheads="1"/>
            </p:cNvSpPr>
            <p:nvPr/>
          </p:nvSpPr>
          <p:spPr bwMode="auto">
            <a:xfrm>
              <a:off x="2011" y="3072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67" name="Rectangle 32"/>
            <p:cNvSpPr>
              <a:spLocks noChangeAspect="1" noChangeArrowheads="1"/>
            </p:cNvSpPr>
            <p:nvPr/>
          </p:nvSpPr>
          <p:spPr bwMode="auto">
            <a:xfrm>
              <a:off x="2203" y="3264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68" name="Rectangle 33"/>
            <p:cNvSpPr>
              <a:spLocks noChangeAspect="1" noChangeArrowheads="1"/>
            </p:cNvSpPr>
            <p:nvPr/>
          </p:nvSpPr>
          <p:spPr bwMode="auto">
            <a:xfrm>
              <a:off x="2203" y="3120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69" name="Rectangle 34"/>
            <p:cNvSpPr>
              <a:spLocks noChangeAspect="1" noChangeArrowheads="1"/>
            </p:cNvSpPr>
            <p:nvPr/>
          </p:nvSpPr>
          <p:spPr bwMode="auto">
            <a:xfrm>
              <a:off x="2251" y="3216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70" name="Rectangle 35"/>
            <p:cNvSpPr>
              <a:spLocks noChangeAspect="1" noChangeArrowheads="1"/>
            </p:cNvSpPr>
            <p:nvPr/>
          </p:nvSpPr>
          <p:spPr bwMode="auto">
            <a:xfrm>
              <a:off x="2251" y="3072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71" name="Rectangle 36"/>
            <p:cNvSpPr>
              <a:spLocks noChangeAspect="1" noChangeArrowheads="1"/>
            </p:cNvSpPr>
            <p:nvPr/>
          </p:nvSpPr>
          <p:spPr bwMode="auto">
            <a:xfrm>
              <a:off x="2059" y="3264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72" name="Rectangle 37"/>
            <p:cNvSpPr>
              <a:spLocks noChangeAspect="1" noChangeArrowheads="1"/>
            </p:cNvSpPr>
            <p:nvPr/>
          </p:nvSpPr>
          <p:spPr bwMode="auto">
            <a:xfrm>
              <a:off x="2203" y="2880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73" name="Rectangle 38"/>
            <p:cNvSpPr>
              <a:spLocks noChangeAspect="1" noChangeArrowheads="1"/>
            </p:cNvSpPr>
            <p:nvPr/>
          </p:nvSpPr>
          <p:spPr bwMode="auto">
            <a:xfrm>
              <a:off x="1963" y="3216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74" name="Freeform 39"/>
            <p:cNvSpPr>
              <a:spLocks/>
            </p:cNvSpPr>
            <p:nvPr/>
          </p:nvSpPr>
          <p:spPr bwMode="auto">
            <a:xfrm>
              <a:off x="1675" y="2680"/>
              <a:ext cx="872" cy="744"/>
            </a:xfrm>
            <a:custGeom>
              <a:avLst/>
              <a:gdLst>
                <a:gd name="T0" fmla="*/ 96 w 872"/>
                <a:gd name="T1" fmla="*/ 56 h 744"/>
                <a:gd name="T2" fmla="*/ 48 w 872"/>
                <a:gd name="T3" fmla="*/ 440 h 744"/>
                <a:gd name="T4" fmla="*/ 240 w 872"/>
                <a:gd name="T5" fmla="*/ 680 h 744"/>
                <a:gd name="T6" fmla="*/ 672 w 872"/>
                <a:gd name="T7" fmla="*/ 728 h 744"/>
                <a:gd name="T8" fmla="*/ 864 w 872"/>
                <a:gd name="T9" fmla="*/ 584 h 744"/>
                <a:gd name="T10" fmla="*/ 624 w 872"/>
                <a:gd name="T11" fmla="*/ 104 h 744"/>
                <a:gd name="T12" fmla="*/ 96 w 872"/>
                <a:gd name="T13" fmla="*/ 56 h 7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2" h="744">
                  <a:moveTo>
                    <a:pt x="96" y="56"/>
                  </a:moveTo>
                  <a:cubicBezTo>
                    <a:pt x="0" y="112"/>
                    <a:pt x="24" y="336"/>
                    <a:pt x="48" y="440"/>
                  </a:cubicBezTo>
                  <a:cubicBezTo>
                    <a:pt x="72" y="544"/>
                    <a:pt x="136" y="632"/>
                    <a:pt x="240" y="680"/>
                  </a:cubicBezTo>
                  <a:cubicBezTo>
                    <a:pt x="344" y="728"/>
                    <a:pt x="568" y="744"/>
                    <a:pt x="672" y="728"/>
                  </a:cubicBezTo>
                  <a:cubicBezTo>
                    <a:pt x="776" y="712"/>
                    <a:pt x="872" y="688"/>
                    <a:pt x="864" y="584"/>
                  </a:cubicBezTo>
                  <a:cubicBezTo>
                    <a:pt x="856" y="480"/>
                    <a:pt x="744" y="192"/>
                    <a:pt x="624" y="104"/>
                  </a:cubicBezTo>
                  <a:cubicBezTo>
                    <a:pt x="504" y="16"/>
                    <a:pt x="192" y="0"/>
                    <a:pt x="96" y="56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7475" name="Text Box 42"/>
            <p:cNvSpPr txBox="1">
              <a:spLocks noChangeArrowheads="1"/>
            </p:cNvSpPr>
            <p:nvPr/>
          </p:nvSpPr>
          <p:spPr bwMode="auto">
            <a:xfrm>
              <a:off x="2203" y="2496"/>
              <a:ext cx="2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>
                  <a:latin typeface="Arial" panose="020B0604020202020204" pitchFamily="34" charset="0"/>
                </a:rPr>
                <a:t>m</a:t>
              </a:r>
              <a:r>
                <a:rPr lang="es-ES_tradnl" altLang="es-ES" sz="1800" i="0" baseline="-25000">
                  <a:latin typeface="Arial" panose="020B0604020202020204" pitchFamily="34" charset="0"/>
                </a:rPr>
                <a:t>2</a:t>
              </a:r>
              <a:endParaRPr lang="es-ES_tradnl" altLang="es-ES" sz="1800" i="0">
                <a:latin typeface="Arial" panose="020B0604020202020204" pitchFamily="34" charset="0"/>
              </a:endParaRPr>
            </a:p>
          </p:txBody>
        </p:sp>
      </p:grpSp>
      <p:sp>
        <p:nvSpPr>
          <p:cNvPr id="17417" name="Text Box 43"/>
          <p:cNvSpPr txBox="1">
            <a:spLocks noChangeArrowheads="1"/>
          </p:cNvSpPr>
          <p:nvPr/>
        </p:nvSpPr>
        <p:spPr bwMode="auto">
          <a:xfrm>
            <a:off x="3633788" y="6132513"/>
            <a:ext cx="1443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X</a:t>
            </a:r>
            <a:r>
              <a:rPr lang="es-ES_tradnl" altLang="es-ES" sz="1800" i="0" baseline="-25000">
                <a:latin typeface="Arial" panose="020B0604020202020204" pitchFamily="34" charset="0"/>
              </a:rPr>
              <a:t>1</a:t>
            </a:r>
            <a:r>
              <a:rPr lang="es-ES_tradnl" altLang="es-ES" sz="1800" i="0">
                <a:latin typeface="Arial" panose="020B0604020202020204" pitchFamily="34" charset="0"/>
              </a:rPr>
              <a:t>=diámetro</a:t>
            </a:r>
          </a:p>
        </p:txBody>
      </p:sp>
      <p:sp>
        <p:nvSpPr>
          <p:cNvPr id="17418" name="Text Box 44"/>
          <p:cNvSpPr txBox="1">
            <a:spLocks noChangeArrowheads="1"/>
          </p:cNvSpPr>
          <p:nvPr/>
        </p:nvSpPr>
        <p:spPr bwMode="auto">
          <a:xfrm>
            <a:off x="442913" y="4114800"/>
            <a:ext cx="1608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X</a:t>
            </a:r>
            <a:r>
              <a:rPr lang="es-ES_tradnl" altLang="es-ES" sz="1800" i="0" baseline="-25000">
                <a:latin typeface="Arial" panose="020B0604020202020204" pitchFamily="34" charset="0"/>
              </a:rPr>
              <a:t>2</a:t>
            </a:r>
            <a:r>
              <a:rPr lang="es-ES_tradnl" altLang="es-ES" sz="1800" i="0">
                <a:latin typeface="Arial" panose="020B0604020202020204" pitchFamily="34" charset="0"/>
              </a:rPr>
              <a:t>=tono rojizo</a:t>
            </a:r>
          </a:p>
        </p:txBody>
      </p:sp>
      <p:grpSp>
        <p:nvGrpSpPr>
          <p:cNvPr id="97328" name="Group 48"/>
          <p:cNvGrpSpPr>
            <a:grpSpLocks/>
          </p:cNvGrpSpPr>
          <p:nvPr/>
        </p:nvGrpSpPr>
        <p:grpSpPr bwMode="auto">
          <a:xfrm>
            <a:off x="1979613" y="4724400"/>
            <a:ext cx="1250950" cy="1076325"/>
            <a:chOff x="1156" y="2659"/>
            <a:chExt cx="788" cy="678"/>
          </a:xfrm>
        </p:grpSpPr>
        <p:sp>
          <p:nvSpPr>
            <p:cNvPr id="17441" name="Oval 49"/>
            <p:cNvSpPr>
              <a:spLocks noChangeArrowheads="1"/>
            </p:cNvSpPr>
            <p:nvPr/>
          </p:nvSpPr>
          <p:spPr bwMode="auto">
            <a:xfrm>
              <a:off x="1396" y="3025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42" name="Oval 50"/>
            <p:cNvSpPr>
              <a:spLocks noChangeArrowheads="1"/>
            </p:cNvSpPr>
            <p:nvPr/>
          </p:nvSpPr>
          <p:spPr bwMode="auto">
            <a:xfrm>
              <a:off x="1492" y="3025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43" name="Oval 51"/>
            <p:cNvSpPr>
              <a:spLocks noChangeArrowheads="1"/>
            </p:cNvSpPr>
            <p:nvPr/>
          </p:nvSpPr>
          <p:spPr bwMode="auto">
            <a:xfrm>
              <a:off x="1444" y="2929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44" name="Oval 52"/>
            <p:cNvSpPr>
              <a:spLocks noChangeArrowheads="1"/>
            </p:cNvSpPr>
            <p:nvPr/>
          </p:nvSpPr>
          <p:spPr bwMode="auto">
            <a:xfrm>
              <a:off x="1300" y="3121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45" name="Oval 53"/>
            <p:cNvSpPr>
              <a:spLocks noChangeArrowheads="1"/>
            </p:cNvSpPr>
            <p:nvPr/>
          </p:nvSpPr>
          <p:spPr bwMode="auto">
            <a:xfrm>
              <a:off x="1540" y="3121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46" name="Oval 54"/>
            <p:cNvSpPr>
              <a:spLocks noChangeArrowheads="1"/>
            </p:cNvSpPr>
            <p:nvPr/>
          </p:nvSpPr>
          <p:spPr bwMode="auto">
            <a:xfrm>
              <a:off x="1540" y="2929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47" name="Oval 55"/>
            <p:cNvSpPr>
              <a:spLocks noChangeArrowheads="1"/>
            </p:cNvSpPr>
            <p:nvPr/>
          </p:nvSpPr>
          <p:spPr bwMode="auto">
            <a:xfrm>
              <a:off x="1588" y="3073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48" name="Oval 56"/>
            <p:cNvSpPr>
              <a:spLocks noChangeArrowheads="1"/>
            </p:cNvSpPr>
            <p:nvPr/>
          </p:nvSpPr>
          <p:spPr bwMode="auto">
            <a:xfrm>
              <a:off x="1636" y="2977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49" name="Oval 57"/>
            <p:cNvSpPr>
              <a:spLocks noChangeArrowheads="1"/>
            </p:cNvSpPr>
            <p:nvPr/>
          </p:nvSpPr>
          <p:spPr bwMode="auto">
            <a:xfrm>
              <a:off x="1444" y="3121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50" name="Oval 58"/>
            <p:cNvSpPr>
              <a:spLocks noChangeArrowheads="1"/>
            </p:cNvSpPr>
            <p:nvPr/>
          </p:nvSpPr>
          <p:spPr bwMode="auto">
            <a:xfrm>
              <a:off x="1300" y="2977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51" name="Oval 59"/>
            <p:cNvSpPr>
              <a:spLocks noChangeArrowheads="1"/>
            </p:cNvSpPr>
            <p:nvPr/>
          </p:nvSpPr>
          <p:spPr bwMode="auto">
            <a:xfrm>
              <a:off x="1396" y="3169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52" name="Oval 60"/>
            <p:cNvSpPr>
              <a:spLocks noChangeArrowheads="1"/>
            </p:cNvSpPr>
            <p:nvPr/>
          </p:nvSpPr>
          <p:spPr bwMode="auto">
            <a:xfrm>
              <a:off x="1348" y="2881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53" name="Oval 61"/>
            <p:cNvSpPr>
              <a:spLocks noChangeArrowheads="1"/>
            </p:cNvSpPr>
            <p:nvPr/>
          </p:nvSpPr>
          <p:spPr bwMode="auto">
            <a:xfrm>
              <a:off x="1252" y="3073"/>
              <a:ext cx="48" cy="48"/>
            </a:xfrm>
            <a:prstGeom prst="ellipse">
              <a:avLst/>
            </a:prstGeom>
            <a:solidFill>
              <a:srgbClr val="3399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54" name="Freeform 62"/>
            <p:cNvSpPr>
              <a:spLocks/>
            </p:cNvSpPr>
            <p:nvPr/>
          </p:nvSpPr>
          <p:spPr bwMode="auto">
            <a:xfrm>
              <a:off x="1156" y="2777"/>
              <a:ext cx="704" cy="560"/>
            </a:xfrm>
            <a:custGeom>
              <a:avLst/>
              <a:gdLst>
                <a:gd name="T0" fmla="*/ 384 w 704"/>
                <a:gd name="T1" fmla="*/ 8 h 560"/>
                <a:gd name="T2" fmla="*/ 480 w 704"/>
                <a:gd name="T3" fmla="*/ 56 h 560"/>
                <a:gd name="T4" fmla="*/ 672 w 704"/>
                <a:gd name="T5" fmla="*/ 296 h 560"/>
                <a:gd name="T6" fmla="*/ 288 w 704"/>
                <a:gd name="T7" fmla="*/ 536 h 560"/>
                <a:gd name="T8" fmla="*/ 96 w 704"/>
                <a:gd name="T9" fmla="*/ 440 h 560"/>
                <a:gd name="T10" fmla="*/ 48 w 704"/>
                <a:gd name="T11" fmla="*/ 104 h 560"/>
                <a:gd name="T12" fmla="*/ 384 w 704"/>
                <a:gd name="T13" fmla="*/ 8 h 5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4" h="560">
                  <a:moveTo>
                    <a:pt x="384" y="8"/>
                  </a:moveTo>
                  <a:cubicBezTo>
                    <a:pt x="456" y="0"/>
                    <a:pt x="432" y="8"/>
                    <a:pt x="480" y="56"/>
                  </a:cubicBezTo>
                  <a:cubicBezTo>
                    <a:pt x="528" y="104"/>
                    <a:pt x="704" y="216"/>
                    <a:pt x="672" y="296"/>
                  </a:cubicBezTo>
                  <a:cubicBezTo>
                    <a:pt x="640" y="376"/>
                    <a:pt x="384" y="512"/>
                    <a:pt x="288" y="536"/>
                  </a:cubicBezTo>
                  <a:cubicBezTo>
                    <a:pt x="192" y="560"/>
                    <a:pt x="136" y="512"/>
                    <a:pt x="96" y="440"/>
                  </a:cubicBezTo>
                  <a:cubicBezTo>
                    <a:pt x="56" y="368"/>
                    <a:pt x="0" y="176"/>
                    <a:pt x="48" y="104"/>
                  </a:cubicBezTo>
                  <a:cubicBezTo>
                    <a:pt x="96" y="32"/>
                    <a:pt x="312" y="16"/>
                    <a:pt x="384" y="8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7455" name="Text Box 63"/>
            <p:cNvSpPr txBox="1">
              <a:spLocks noChangeArrowheads="1"/>
            </p:cNvSpPr>
            <p:nvPr/>
          </p:nvSpPr>
          <p:spPr bwMode="auto">
            <a:xfrm>
              <a:off x="1655" y="2659"/>
              <a:ext cx="2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>
                  <a:latin typeface="Arial" panose="020B0604020202020204" pitchFamily="34" charset="0"/>
                </a:rPr>
                <a:t>m</a:t>
              </a:r>
              <a:r>
                <a:rPr lang="es-ES_tradnl" altLang="es-ES" sz="1800" i="0" baseline="-25000">
                  <a:latin typeface="Arial" panose="020B0604020202020204" pitchFamily="34" charset="0"/>
                </a:rPr>
                <a:t>1</a:t>
              </a:r>
              <a:endParaRPr lang="es-ES_tradnl" altLang="es-ES" sz="1800" i="0">
                <a:latin typeface="Arial" panose="020B0604020202020204" pitchFamily="34" charset="0"/>
              </a:endParaRPr>
            </a:p>
          </p:txBody>
        </p:sp>
      </p:grpSp>
      <p:grpSp>
        <p:nvGrpSpPr>
          <p:cNvPr id="97344" name="Group 64"/>
          <p:cNvGrpSpPr>
            <a:grpSpLocks/>
          </p:cNvGrpSpPr>
          <p:nvPr/>
        </p:nvGrpSpPr>
        <p:grpSpPr bwMode="auto">
          <a:xfrm>
            <a:off x="2339975" y="4437063"/>
            <a:ext cx="1384300" cy="1473200"/>
            <a:chOff x="1675" y="2496"/>
            <a:chExt cx="872" cy="928"/>
          </a:xfrm>
        </p:grpSpPr>
        <p:sp>
          <p:nvSpPr>
            <p:cNvPr id="17421" name="Rectangle 65"/>
            <p:cNvSpPr>
              <a:spLocks noChangeAspect="1" noChangeArrowheads="1"/>
            </p:cNvSpPr>
            <p:nvPr/>
          </p:nvSpPr>
          <p:spPr bwMode="auto">
            <a:xfrm>
              <a:off x="1819" y="2880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22" name="Rectangle 66"/>
            <p:cNvSpPr>
              <a:spLocks noChangeAspect="1" noChangeArrowheads="1"/>
            </p:cNvSpPr>
            <p:nvPr/>
          </p:nvSpPr>
          <p:spPr bwMode="auto">
            <a:xfrm>
              <a:off x="1915" y="2928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23" name="Rectangle 67"/>
            <p:cNvSpPr>
              <a:spLocks noChangeAspect="1" noChangeArrowheads="1"/>
            </p:cNvSpPr>
            <p:nvPr/>
          </p:nvSpPr>
          <p:spPr bwMode="auto">
            <a:xfrm>
              <a:off x="1915" y="3024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24" name="Rectangle 68"/>
            <p:cNvSpPr>
              <a:spLocks noChangeAspect="1" noChangeArrowheads="1"/>
            </p:cNvSpPr>
            <p:nvPr/>
          </p:nvSpPr>
          <p:spPr bwMode="auto">
            <a:xfrm>
              <a:off x="2011" y="2976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25" name="Rectangle 69"/>
            <p:cNvSpPr>
              <a:spLocks noChangeAspect="1" noChangeArrowheads="1"/>
            </p:cNvSpPr>
            <p:nvPr/>
          </p:nvSpPr>
          <p:spPr bwMode="auto">
            <a:xfrm>
              <a:off x="2251" y="2976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26" name="Rectangle 70"/>
            <p:cNvSpPr>
              <a:spLocks noChangeAspect="1" noChangeArrowheads="1"/>
            </p:cNvSpPr>
            <p:nvPr/>
          </p:nvSpPr>
          <p:spPr bwMode="auto">
            <a:xfrm>
              <a:off x="2155" y="3024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27" name="Rectangle 71"/>
            <p:cNvSpPr>
              <a:spLocks noChangeAspect="1" noChangeArrowheads="1"/>
            </p:cNvSpPr>
            <p:nvPr/>
          </p:nvSpPr>
          <p:spPr bwMode="auto">
            <a:xfrm>
              <a:off x="2011" y="3120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28" name="Rectangle 72"/>
            <p:cNvSpPr>
              <a:spLocks noChangeAspect="1" noChangeArrowheads="1"/>
            </p:cNvSpPr>
            <p:nvPr/>
          </p:nvSpPr>
          <p:spPr bwMode="auto">
            <a:xfrm>
              <a:off x="2107" y="3168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29" name="Rectangle 73"/>
            <p:cNvSpPr>
              <a:spLocks noChangeAspect="1" noChangeArrowheads="1"/>
            </p:cNvSpPr>
            <p:nvPr/>
          </p:nvSpPr>
          <p:spPr bwMode="auto">
            <a:xfrm>
              <a:off x="2107" y="2928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30" name="Rectangle 74"/>
            <p:cNvSpPr>
              <a:spLocks noChangeAspect="1" noChangeArrowheads="1"/>
            </p:cNvSpPr>
            <p:nvPr/>
          </p:nvSpPr>
          <p:spPr bwMode="auto">
            <a:xfrm>
              <a:off x="1915" y="2976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31" name="Rectangle 75"/>
            <p:cNvSpPr>
              <a:spLocks noChangeAspect="1" noChangeArrowheads="1"/>
            </p:cNvSpPr>
            <p:nvPr/>
          </p:nvSpPr>
          <p:spPr bwMode="auto">
            <a:xfrm>
              <a:off x="2011" y="3072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32" name="Rectangle 76"/>
            <p:cNvSpPr>
              <a:spLocks noChangeAspect="1" noChangeArrowheads="1"/>
            </p:cNvSpPr>
            <p:nvPr/>
          </p:nvSpPr>
          <p:spPr bwMode="auto">
            <a:xfrm>
              <a:off x="2203" y="3264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33" name="Rectangle 77"/>
            <p:cNvSpPr>
              <a:spLocks noChangeAspect="1" noChangeArrowheads="1"/>
            </p:cNvSpPr>
            <p:nvPr/>
          </p:nvSpPr>
          <p:spPr bwMode="auto">
            <a:xfrm>
              <a:off x="2203" y="3120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34" name="Rectangle 78"/>
            <p:cNvSpPr>
              <a:spLocks noChangeAspect="1" noChangeArrowheads="1"/>
            </p:cNvSpPr>
            <p:nvPr/>
          </p:nvSpPr>
          <p:spPr bwMode="auto">
            <a:xfrm>
              <a:off x="2251" y="3216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35" name="Rectangle 79"/>
            <p:cNvSpPr>
              <a:spLocks noChangeAspect="1" noChangeArrowheads="1"/>
            </p:cNvSpPr>
            <p:nvPr/>
          </p:nvSpPr>
          <p:spPr bwMode="auto">
            <a:xfrm>
              <a:off x="2251" y="3072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36" name="Rectangle 80"/>
            <p:cNvSpPr>
              <a:spLocks noChangeAspect="1" noChangeArrowheads="1"/>
            </p:cNvSpPr>
            <p:nvPr/>
          </p:nvSpPr>
          <p:spPr bwMode="auto">
            <a:xfrm>
              <a:off x="2059" y="3264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37" name="Rectangle 81"/>
            <p:cNvSpPr>
              <a:spLocks noChangeAspect="1" noChangeArrowheads="1"/>
            </p:cNvSpPr>
            <p:nvPr/>
          </p:nvSpPr>
          <p:spPr bwMode="auto">
            <a:xfrm>
              <a:off x="2203" y="2880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38" name="Rectangle 82"/>
            <p:cNvSpPr>
              <a:spLocks noChangeAspect="1" noChangeArrowheads="1"/>
            </p:cNvSpPr>
            <p:nvPr/>
          </p:nvSpPr>
          <p:spPr bwMode="auto">
            <a:xfrm>
              <a:off x="1963" y="3216"/>
              <a:ext cx="54" cy="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17439" name="Freeform 83"/>
            <p:cNvSpPr>
              <a:spLocks/>
            </p:cNvSpPr>
            <p:nvPr/>
          </p:nvSpPr>
          <p:spPr bwMode="auto">
            <a:xfrm>
              <a:off x="1675" y="2680"/>
              <a:ext cx="872" cy="744"/>
            </a:xfrm>
            <a:custGeom>
              <a:avLst/>
              <a:gdLst>
                <a:gd name="T0" fmla="*/ 96 w 872"/>
                <a:gd name="T1" fmla="*/ 56 h 744"/>
                <a:gd name="T2" fmla="*/ 48 w 872"/>
                <a:gd name="T3" fmla="*/ 440 h 744"/>
                <a:gd name="T4" fmla="*/ 240 w 872"/>
                <a:gd name="T5" fmla="*/ 680 h 744"/>
                <a:gd name="T6" fmla="*/ 672 w 872"/>
                <a:gd name="T7" fmla="*/ 728 h 744"/>
                <a:gd name="T8" fmla="*/ 864 w 872"/>
                <a:gd name="T9" fmla="*/ 584 h 744"/>
                <a:gd name="T10" fmla="*/ 624 w 872"/>
                <a:gd name="T11" fmla="*/ 104 h 744"/>
                <a:gd name="T12" fmla="*/ 96 w 872"/>
                <a:gd name="T13" fmla="*/ 56 h 7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2" h="744">
                  <a:moveTo>
                    <a:pt x="96" y="56"/>
                  </a:moveTo>
                  <a:cubicBezTo>
                    <a:pt x="0" y="112"/>
                    <a:pt x="24" y="336"/>
                    <a:pt x="48" y="440"/>
                  </a:cubicBezTo>
                  <a:cubicBezTo>
                    <a:pt x="72" y="544"/>
                    <a:pt x="136" y="632"/>
                    <a:pt x="240" y="680"/>
                  </a:cubicBezTo>
                  <a:cubicBezTo>
                    <a:pt x="344" y="728"/>
                    <a:pt x="568" y="744"/>
                    <a:pt x="672" y="728"/>
                  </a:cubicBezTo>
                  <a:cubicBezTo>
                    <a:pt x="776" y="712"/>
                    <a:pt x="872" y="688"/>
                    <a:pt x="864" y="584"/>
                  </a:cubicBezTo>
                  <a:cubicBezTo>
                    <a:pt x="856" y="480"/>
                    <a:pt x="744" y="192"/>
                    <a:pt x="624" y="104"/>
                  </a:cubicBezTo>
                  <a:cubicBezTo>
                    <a:pt x="504" y="16"/>
                    <a:pt x="192" y="0"/>
                    <a:pt x="96" y="56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7440" name="Text Box 84"/>
            <p:cNvSpPr txBox="1">
              <a:spLocks noChangeArrowheads="1"/>
            </p:cNvSpPr>
            <p:nvPr/>
          </p:nvSpPr>
          <p:spPr bwMode="auto">
            <a:xfrm>
              <a:off x="2203" y="2496"/>
              <a:ext cx="2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>
                  <a:latin typeface="Arial" panose="020B0604020202020204" pitchFamily="34" charset="0"/>
                </a:rPr>
                <a:t>m</a:t>
              </a:r>
              <a:r>
                <a:rPr lang="es-ES_tradnl" altLang="es-ES" sz="1800" i="0" baseline="-25000">
                  <a:latin typeface="Arial" panose="020B0604020202020204" pitchFamily="34" charset="0"/>
                </a:rPr>
                <a:t>2</a:t>
              </a:r>
              <a:endParaRPr lang="es-ES_tradnl" altLang="es-ES" sz="1800" i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33375"/>
            <a:ext cx="7772400" cy="1419225"/>
          </a:xfrm>
        </p:spPr>
        <p:txBody>
          <a:bodyPr/>
          <a:lstStyle/>
          <a:p>
            <a:r>
              <a:rPr lang="es-ES_tradnl" altLang="es-ES" smtClean="0"/>
              <a:t>Características</a:t>
            </a:r>
            <a:endParaRPr lang="es-ES" altLang="es-ES" sz="360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62125"/>
            <a:ext cx="8458200" cy="4114800"/>
          </a:xfrm>
        </p:spPr>
        <p:txBody>
          <a:bodyPr/>
          <a:lstStyle/>
          <a:p>
            <a:r>
              <a:rPr lang="es-ES" altLang="es-ES" smtClean="0"/>
              <a:t>¿Qué características uso? ¿Cómo las obtengo?</a:t>
            </a:r>
          </a:p>
          <a:p>
            <a:endParaRPr lang="es-ES" altLang="es-ES" smtClean="0"/>
          </a:p>
          <a:p>
            <a:endParaRPr lang="es-ES" altLang="es-ES" smtClean="0"/>
          </a:p>
        </p:txBody>
      </p:sp>
      <p:pic>
        <p:nvPicPr>
          <p:cNvPr id="1843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708275"/>
            <a:ext cx="7777162" cy="3900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Características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382000" cy="4114800"/>
          </a:xfrm>
        </p:spPr>
        <p:txBody>
          <a:bodyPr/>
          <a:lstStyle/>
          <a:p>
            <a:r>
              <a:rPr lang="es-ES_tradnl" altLang="es-ES" sz="2800" smtClean="0"/>
              <a:t>Se suele realizar un </a:t>
            </a:r>
            <a:r>
              <a:rPr lang="es-ES_tradnl" altLang="es-ES" sz="2800" smtClean="0">
                <a:solidFill>
                  <a:schemeClr val="hlink"/>
                </a:solidFill>
              </a:rPr>
              <a:t>preprocesado </a:t>
            </a:r>
            <a:r>
              <a:rPr lang="es-ES_tradnl" altLang="es-ES" sz="2800" smtClean="0"/>
              <a:t>de los datos, ya que utilizar los datos del exterior directamente no produce buenos resultados</a:t>
            </a:r>
          </a:p>
          <a:p>
            <a:r>
              <a:rPr lang="es-ES_tradnl" altLang="es-ES" sz="2800" smtClean="0"/>
              <a:t>El preprocesado y extracción de características es la parte más importante y difícil de realizar</a:t>
            </a:r>
          </a:p>
          <a:p>
            <a:r>
              <a:rPr lang="es-ES_tradnl" altLang="es-ES" sz="2800" smtClean="0"/>
              <a:t>El </a:t>
            </a:r>
            <a:r>
              <a:rPr lang="es-ES_tradnl" altLang="es-ES" sz="2800" smtClean="0">
                <a:solidFill>
                  <a:schemeClr val="hlink"/>
                </a:solidFill>
              </a:rPr>
              <a:t>postprocesado </a:t>
            </a:r>
            <a:r>
              <a:rPr lang="es-ES_tradnl" altLang="es-ES" sz="2800" smtClean="0"/>
              <a:t>transforma los resultados para poder ser transmitidos al usuario </a:t>
            </a:r>
            <a:endParaRPr lang="es-ES_tradnl" altLang="es-ES" sz="2800" smtClean="0">
              <a:solidFill>
                <a:schemeClr val="hlink"/>
              </a:solidFill>
            </a:endParaRPr>
          </a:p>
          <a:p>
            <a:endParaRPr lang="es-ES_tradnl" altLang="es-ES" sz="2800" smtClean="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884363" y="5229225"/>
            <a:ext cx="1319212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_tradnl" altLang="es-ES" sz="1400" i="0">
                <a:latin typeface="Arial" panose="020B0604020202020204" pitchFamily="34" charset="0"/>
              </a:rPr>
              <a:t>Preprocesado 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_tradnl" altLang="es-ES" sz="1400" i="0">
                <a:latin typeface="Arial" panose="020B0604020202020204" pitchFamily="34" charset="0"/>
              </a:rPr>
              <a:t>y extracción 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_tradnl" altLang="es-ES" sz="1400" i="0">
                <a:latin typeface="Arial" panose="020B0604020202020204" pitchFamily="34" charset="0"/>
              </a:rPr>
              <a:t>características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4067175" y="5229225"/>
            <a:ext cx="1300163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_tradnl" altLang="es-ES" sz="1400" i="0">
                <a:latin typeface="Arial" panose="020B0604020202020204" pitchFamily="34" charset="0"/>
              </a:rPr>
              <a:t>Clasificación / 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_tradnl" altLang="es-ES" sz="1400" i="0">
                <a:latin typeface="Arial" panose="020B0604020202020204" pitchFamily="34" charset="0"/>
              </a:rPr>
              <a:t>Regresión</a:t>
            </a: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6227763" y="5229225"/>
            <a:ext cx="12954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_tradnl" altLang="es-ES" sz="1400" i="0">
                <a:latin typeface="Arial" panose="020B0604020202020204" pitchFamily="34" charset="0"/>
              </a:rPr>
              <a:t>Postprocesado</a:t>
            </a:r>
          </a:p>
        </p:txBody>
      </p:sp>
      <p:sp>
        <p:nvSpPr>
          <p:cNvPr id="19463" name="AutoShape 7"/>
          <p:cNvSpPr>
            <a:spLocks noChangeArrowheads="1"/>
          </p:cNvSpPr>
          <p:nvPr/>
        </p:nvSpPr>
        <p:spPr bwMode="auto">
          <a:xfrm>
            <a:off x="1122363" y="5381625"/>
            <a:ext cx="685800" cy="609600"/>
          </a:xfrm>
          <a:prstGeom prst="rightArrow">
            <a:avLst>
              <a:gd name="adj1" fmla="val 50000"/>
              <a:gd name="adj2" fmla="val 28125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19464" name="AutoShape 8"/>
          <p:cNvSpPr>
            <a:spLocks noChangeArrowheads="1"/>
          </p:cNvSpPr>
          <p:nvPr/>
        </p:nvSpPr>
        <p:spPr bwMode="auto">
          <a:xfrm>
            <a:off x="7599363" y="5381625"/>
            <a:ext cx="685800" cy="609600"/>
          </a:xfrm>
          <a:prstGeom prst="rightArrow">
            <a:avLst>
              <a:gd name="adj1" fmla="val 50000"/>
              <a:gd name="adj2" fmla="val 28125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19465" name="AutoShape 9"/>
          <p:cNvSpPr>
            <a:spLocks noChangeArrowheads="1"/>
          </p:cNvSpPr>
          <p:nvPr/>
        </p:nvSpPr>
        <p:spPr bwMode="auto">
          <a:xfrm>
            <a:off x="5465763" y="5381625"/>
            <a:ext cx="685800" cy="609600"/>
          </a:xfrm>
          <a:prstGeom prst="rightArrow">
            <a:avLst>
              <a:gd name="adj1" fmla="val 50000"/>
              <a:gd name="adj2" fmla="val 28125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19466" name="AutoShape 10"/>
          <p:cNvSpPr>
            <a:spLocks noChangeArrowheads="1"/>
          </p:cNvSpPr>
          <p:nvPr/>
        </p:nvSpPr>
        <p:spPr bwMode="auto">
          <a:xfrm>
            <a:off x="3309938" y="5381625"/>
            <a:ext cx="685800" cy="609600"/>
          </a:xfrm>
          <a:prstGeom prst="rightArrow">
            <a:avLst>
              <a:gd name="adj1" fmla="val 50000"/>
              <a:gd name="adj2" fmla="val 28125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157163" y="5326063"/>
            <a:ext cx="958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datos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entrada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8255000" y="5319713"/>
            <a:ext cx="781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datos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salida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Características</a:t>
            </a:r>
          </a:p>
        </p:txBody>
      </p:sp>
      <p:sp>
        <p:nvSpPr>
          <p:cNvPr id="20483" name="Marcador de contenido 2"/>
          <p:cNvSpPr>
            <a:spLocks noGrp="1"/>
          </p:cNvSpPr>
          <p:nvPr>
            <p:ph idx="1"/>
          </p:nvPr>
        </p:nvSpPr>
        <p:spPr>
          <a:xfrm>
            <a:off x="685800" y="1844675"/>
            <a:ext cx="7772400" cy="4114800"/>
          </a:xfrm>
        </p:spPr>
        <p:txBody>
          <a:bodyPr/>
          <a:lstStyle/>
          <a:p>
            <a:r>
              <a:rPr lang="es-ES" altLang="es-ES" smtClean="0"/>
              <a:t>En una imagen, la opción más sencilla es usar los valores de los pixels directamente</a:t>
            </a:r>
          </a:p>
          <a:p>
            <a:r>
              <a:rPr lang="es-ES" altLang="es-ES" smtClean="0"/>
              <a:t>Suele ser más útil (y más difícil) realizar algún preprocesado a los datos para extraer las características útiles</a:t>
            </a:r>
          </a:p>
          <a:p>
            <a:r>
              <a:rPr lang="es-ES" altLang="es-ES" smtClean="0"/>
              <a:t>La extracción de características depende MUCHO del problema a resolver</a:t>
            </a:r>
          </a:p>
          <a:p>
            <a:r>
              <a:rPr lang="es-ES" altLang="es-ES" smtClean="0"/>
              <a:t>Si el número de características es elevado, el nº de características se debe reducir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Métodos de Clasificación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772400" cy="4114800"/>
          </a:xfrm>
        </p:spPr>
        <p:txBody>
          <a:bodyPr/>
          <a:lstStyle/>
          <a:p>
            <a:r>
              <a:rPr lang="es-ES_tradnl" altLang="es-ES" smtClean="0"/>
              <a:t>Técnicas paramétricas</a:t>
            </a:r>
          </a:p>
          <a:p>
            <a:pPr lvl="1"/>
            <a:r>
              <a:rPr lang="es-ES_tradnl" altLang="es-ES" smtClean="0"/>
              <a:t>Caracterizar </a:t>
            </a:r>
            <a:r>
              <a:rPr lang="es-ES_tradnl" altLang="es-ES" smtClean="0">
                <a:solidFill>
                  <a:schemeClr val="hlink"/>
                </a:solidFill>
              </a:rPr>
              <a:t>cada clase</a:t>
            </a:r>
            <a:endParaRPr lang="es-ES_tradnl" altLang="es-ES" smtClean="0"/>
          </a:p>
          <a:p>
            <a:pPr lvl="2"/>
            <a:r>
              <a:rPr lang="es-ES_tradnl" altLang="es-ES" smtClean="0"/>
              <a:t>Método de la Distancia mínima</a:t>
            </a:r>
          </a:p>
          <a:p>
            <a:pPr lvl="2"/>
            <a:r>
              <a:rPr lang="es-ES_tradnl" altLang="es-ES" smtClean="0"/>
              <a:t>Cálculo de las Funciones Discriminantes </a:t>
            </a:r>
          </a:p>
          <a:p>
            <a:pPr lvl="1"/>
            <a:r>
              <a:rPr lang="es-ES_tradnl" altLang="es-ES" smtClean="0"/>
              <a:t>Caracterizar </a:t>
            </a:r>
            <a:r>
              <a:rPr lang="es-ES_tradnl" altLang="es-ES" smtClean="0">
                <a:solidFill>
                  <a:schemeClr val="hlink"/>
                </a:solidFill>
              </a:rPr>
              <a:t>cada frontera</a:t>
            </a:r>
            <a:r>
              <a:rPr lang="es-ES_tradnl" altLang="es-ES" smtClean="0"/>
              <a:t> entre las clases</a:t>
            </a:r>
          </a:p>
          <a:p>
            <a:pPr lvl="2"/>
            <a:r>
              <a:rPr lang="es-ES_tradnl" altLang="es-ES" smtClean="0"/>
              <a:t>Fronteras de decisión</a:t>
            </a:r>
          </a:p>
          <a:p>
            <a:r>
              <a:rPr lang="es-ES_tradnl" altLang="es-ES" smtClean="0"/>
              <a:t>Técnicas no paramétricas</a:t>
            </a:r>
          </a:p>
          <a:p>
            <a:pPr lvl="1"/>
            <a:r>
              <a:rPr lang="es-ES_tradnl" altLang="es-ES" smtClean="0"/>
              <a:t>Vecino más próximo</a:t>
            </a:r>
          </a:p>
          <a:p>
            <a:pPr lvl="1"/>
            <a:r>
              <a:rPr lang="es-ES_tradnl" altLang="es-ES" smtClean="0"/>
              <a:t>K-vecinos más próximos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Clasificación </a:t>
            </a:r>
            <a:br>
              <a:rPr lang="es-ES_tradnl" altLang="es-ES" smtClean="0"/>
            </a:br>
            <a:r>
              <a:rPr lang="es-ES_tradnl" altLang="es-ES" sz="3600" smtClean="0"/>
              <a:t>Interpretación geométrica d. mínima</a:t>
            </a:r>
            <a:endParaRPr lang="es-ES_tradnl" altLang="es-ES" smtClean="0"/>
          </a:p>
        </p:txBody>
      </p:sp>
      <p:grpSp>
        <p:nvGrpSpPr>
          <p:cNvPr id="22531" name="Group 96"/>
          <p:cNvGrpSpPr>
            <a:grpSpLocks/>
          </p:cNvGrpSpPr>
          <p:nvPr/>
        </p:nvGrpSpPr>
        <p:grpSpPr bwMode="auto">
          <a:xfrm>
            <a:off x="1371600" y="2209800"/>
            <a:ext cx="6410325" cy="4306888"/>
            <a:chOff x="854" y="1079"/>
            <a:chExt cx="4038" cy="2713"/>
          </a:xfrm>
        </p:grpSpPr>
        <p:grpSp>
          <p:nvGrpSpPr>
            <p:cNvPr id="22532" name="Group 3"/>
            <p:cNvGrpSpPr>
              <a:grpSpLocks/>
            </p:cNvGrpSpPr>
            <p:nvPr/>
          </p:nvGrpSpPr>
          <p:grpSpPr bwMode="auto">
            <a:xfrm>
              <a:off x="3312" y="2400"/>
              <a:ext cx="672" cy="528"/>
              <a:chOff x="3024" y="2064"/>
              <a:chExt cx="672" cy="528"/>
            </a:xfrm>
          </p:grpSpPr>
          <p:sp>
            <p:nvSpPr>
              <p:cNvPr id="22608" name="Oval 4"/>
              <p:cNvSpPr>
                <a:spLocks noChangeArrowheads="1"/>
              </p:cNvSpPr>
              <p:nvPr/>
            </p:nvSpPr>
            <p:spPr bwMode="auto">
              <a:xfrm>
                <a:off x="3264" y="23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09" name="Oval 5"/>
              <p:cNvSpPr>
                <a:spLocks noChangeArrowheads="1"/>
              </p:cNvSpPr>
              <p:nvPr/>
            </p:nvSpPr>
            <p:spPr bwMode="auto">
              <a:xfrm>
                <a:off x="3360" y="244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10" name="Oval 6"/>
              <p:cNvSpPr>
                <a:spLocks noChangeArrowheads="1"/>
              </p:cNvSpPr>
              <p:nvPr/>
            </p:nvSpPr>
            <p:spPr bwMode="auto">
              <a:xfrm>
                <a:off x="3456" y="2064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11" name="Oval 7"/>
              <p:cNvSpPr>
                <a:spLocks noChangeArrowheads="1"/>
              </p:cNvSpPr>
              <p:nvPr/>
            </p:nvSpPr>
            <p:spPr bwMode="auto">
              <a:xfrm>
                <a:off x="3552" y="220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12" name="Oval 8"/>
              <p:cNvSpPr>
                <a:spLocks noChangeArrowheads="1"/>
              </p:cNvSpPr>
              <p:nvPr/>
            </p:nvSpPr>
            <p:spPr bwMode="auto">
              <a:xfrm>
                <a:off x="3648" y="2304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13" name="Oval 9"/>
              <p:cNvSpPr>
                <a:spLocks noChangeArrowheads="1"/>
              </p:cNvSpPr>
              <p:nvPr/>
            </p:nvSpPr>
            <p:spPr bwMode="auto">
              <a:xfrm>
                <a:off x="3024" y="240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14" name="Oval 10"/>
              <p:cNvSpPr>
                <a:spLocks noChangeArrowheads="1"/>
              </p:cNvSpPr>
              <p:nvPr/>
            </p:nvSpPr>
            <p:spPr bwMode="auto">
              <a:xfrm>
                <a:off x="3120" y="249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15" name="Oval 11"/>
              <p:cNvSpPr>
                <a:spLocks noChangeArrowheads="1"/>
              </p:cNvSpPr>
              <p:nvPr/>
            </p:nvSpPr>
            <p:spPr bwMode="auto">
              <a:xfrm>
                <a:off x="3216" y="211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16" name="Oval 12"/>
              <p:cNvSpPr>
                <a:spLocks noChangeArrowheads="1"/>
              </p:cNvSpPr>
              <p:nvPr/>
            </p:nvSpPr>
            <p:spPr bwMode="auto">
              <a:xfrm>
                <a:off x="3312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17" name="Oval 13"/>
              <p:cNvSpPr>
                <a:spLocks noChangeArrowheads="1"/>
              </p:cNvSpPr>
              <p:nvPr/>
            </p:nvSpPr>
            <p:spPr bwMode="auto">
              <a:xfrm>
                <a:off x="3408" y="235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18" name="Oval 14"/>
              <p:cNvSpPr>
                <a:spLocks noChangeArrowheads="1"/>
              </p:cNvSpPr>
              <p:nvPr/>
            </p:nvSpPr>
            <p:spPr bwMode="auto">
              <a:xfrm>
                <a:off x="3504" y="244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19" name="Oval 15"/>
              <p:cNvSpPr>
                <a:spLocks noChangeArrowheads="1"/>
              </p:cNvSpPr>
              <p:nvPr/>
            </p:nvSpPr>
            <p:spPr bwMode="auto">
              <a:xfrm>
                <a:off x="3600" y="2544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20" name="Oval 16"/>
              <p:cNvSpPr>
                <a:spLocks noChangeArrowheads="1"/>
              </p:cNvSpPr>
              <p:nvPr/>
            </p:nvSpPr>
            <p:spPr bwMode="auto">
              <a:xfrm>
                <a:off x="3024" y="216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22621" name="Oval 17"/>
              <p:cNvSpPr>
                <a:spLocks noChangeArrowheads="1"/>
              </p:cNvSpPr>
              <p:nvPr/>
            </p:nvSpPr>
            <p:spPr bwMode="auto">
              <a:xfrm>
                <a:off x="3120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  <p:sp>
          <p:nvSpPr>
            <p:cNvPr id="22533" name="Oval 18"/>
            <p:cNvSpPr>
              <a:spLocks noChangeArrowheads="1"/>
            </p:cNvSpPr>
            <p:nvPr/>
          </p:nvSpPr>
          <p:spPr bwMode="auto">
            <a:xfrm>
              <a:off x="1824" y="201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34" name="Oval 19"/>
            <p:cNvSpPr>
              <a:spLocks noChangeArrowheads="1"/>
            </p:cNvSpPr>
            <p:nvPr/>
          </p:nvSpPr>
          <p:spPr bwMode="auto">
            <a:xfrm>
              <a:off x="1920" y="2112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35" name="Oval 20"/>
            <p:cNvSpPr>
              <a:spLocks noChangeArrowheads="1"/>
            </p:cNvSpPr>
            <p:nvPr/>
          </p:nvSpPr>
          <p:spPr bwMode="auto">
            <a:xfrm>
              <a:off x="2016" y="1728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36" name="Oval 21"/>
            <p:cNvSpPr>
              <a:spLocks noChangeArrowheads="1"/>
            </p:cNvSpPr>
            <p:nvPr/>
          </p:nvSpPr>
          <p:spPr bwMode="auto">
            <a:xfrm>
              <a:off x="2112" y="1872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37" name="Oval 22"/>
            <p:cNvSpPr>
              <a:spLocks noChangeArrowheads="1"/>
            </p:cNvSpPr>
            <p:nvPr/>
          </p:nvSpPr>
          <p:spPr bwMode="auto">
            <a:xfrm>
              <a:off x="2208" y="1968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38" name="Oval 23"/>
            <p:cNvSpPr>
              <a:spLocks noChangeArrowheads="1"/>
            </p:cNvSpPr>
            <p:nvPr/>
          </p:nvSpPr>
          <p:spPr bwMode="auto">
            <a:xfrm>
              <a:off x="1584" y="206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39" name="Oval 24"/>
            <p:cNvSpPr>
              <a:spLocks noChangeArrowheads="1"/>
            </p:cNvSpPr>
            <p:nvPr/>
          </p:nvSpPr>
          <p:spPr bwMode="auto">
            <a:xfrm>
              <a:off x="1680" y="2160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40" name="Oval 25"/>
            <p:cNvSpPr>
              <a:spLocks noChangeArrowheads="1"/>
            </p:cNvSpPr>
            <p:nvPr/>
          </p:nvSpPr>
          <p:spPr bwMode="auto">
            <a:xfrm>
              <a:off x="1776" y="177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41" name="Oval 26"/>
            <p:cNvSpPr>
              <a:spLocks noChangeArrowheads="1"/>
            </p:cNvSpPr>
            <p:nvPr/>
          </p:nvSpPr>
          <p:spPr bwMode="auto">
            <a:xfrm>
              <a:off x="1872" y="1920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42" name="Oval 27"/>
            <p:cNvSpPr>
              <a:spLocks noChangeArrowheads="1"/>
            </p:cNvSpPr>
            <p:nvPr/>
          </p:nvSpPr>
          <p:spPr bwMode="auto">
            <a:xfrm>
              <a:off x="1968" y="201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43" name="Oval 28"/>
            <p:cNvSpPr>
              <a:spLocks noChangeArrowheads="1"/>
            </p:cNvSpPr>
            <p:nvPr/>
          </p:nvSpPr>
          <p:spPr bwMode="auto">
            <a:xfrm>
              <a:off x="2064" y="2112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44" name="Oval 29"/>
            <p:cNvSpPr>
              <a:spLocks noChangeArrowheads="1"/>
            </p:cNvSpPr>
            <p:nvPr/>
          </p:nvSpPr>
          <p:spPr bwMode="auto">
            <a:xfrm>
              <a:off x="2160" y="2208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45" name="Oval 30"/>
            <p:cNvSpPr>
              <a:spLocks noChangeArrowheads="1"/>
            </p:cNvSpPr>
            <p:nvPr/>
          </p:nvSpPr>
          <p:spPr bwMode="auto">
            <a:xfrm>
              <a:off x="1584" y="182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46" name="Oval 31"/>
            <p:cNvSpPr>
              <a:spLocks noChangeArrowheads="1"/>
            </p:cNvSpPr>
            <p:nvPr/>
          </p:nvSpPr>
          <p:spPr bwMode="auto">
            <a:xfrm>
              <a:off x="1680" y="1920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47" name="Oval 32"/>
            <p:cNvSpPr>
              <a:spLocks noChangeArrowheads="1"/>
            </p:cNvSpPr>
            <p:nvPr/>
          </p:nvSpPr>
          <p:spPr bwMode="auto">
            <a:xfrm>
              <a:off x="2400" y="302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48" name="Oval 33"/>
            <p:cNvSpPr>
              <a:spLocks noChangeArrowheads="1"/>
            </p:cNvSpPr>
            <p:nvPr/>
          </p:nvSpPr>
          <p:spPr bwMode="auto">
            <a:xfrm>
              <a:off x="2496" y="312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49" name="Oval 34"/>
            <p:cNvSpPr>
              <a:spLocks noChangeArrowheads="1"/>
            </p:cNvSpPr>
            <p:nvPr/>
          </p:nvSpPr>
          <p:spPr bwMode="auto">
            <a:xfrm>
              <a:off x="2592" y="273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50" name="Oval 35"/>
            <p:cNvSpPr>
              <a:spLocks noChangeArrowheads="1"/>
            </p:cNvSpPr>
            <p:nvPr/>
          </p:nvSpPr>
          <p:spPr bwMode="auto">
            <a:xfrm>
              <a:off x="2688" y="288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51" name="Oval 36"/>
            <p:cNvSpPr>
              <a:spLocks noChangeArrowheads="1"/>
            </p:cNvSpPr>
            <p:nvPr/>
          </p:nvSpPr>
          <p:spPr bwMode="auto">
            <a:xfrm>
              <a:off x="2784" y="297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52" name="Oval 37"/>
            <p:cNvSpPr>
              <a:spLocks noChangeArrowheads="1"/>
            </p:cNvSpPr>
            <p:nvPr/>
          </p:nvSpPr>
          <p:spPr bwMode="auto">
            <a:xfrm>
              <a:off x="2688" y="268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53" name="Oval 38"/>
            <p:cNvSpPr>
              <a:spLocks noChangeArrowheads="1"/>
            </p:cNvSpPr>
            <p:nvPr/>
          </p:nvSpPr>
          <p:spPr bwMode="auto">
            <a:xfrm>
              <a:off x="2784" y="278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54" name="Oval 39"/>
            <p:cNvSpPr>
              <a:spLocks noChangeArrowheads="1"/>
            </p:cNvSpPr>
            <p:nvPr/>
          </p:nvSpPr>
          <p:spPr bwMode="auto">
            <a:xfrm>
              <a:off x="2352" y="278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55" name="Oval 40"/>
            <p:cNvSpPr>
              <a:spLocks noChangeArrowheads="1"/>
            </p:cNvSpPr>
            <p:nvPr/>
          </p:nvSpPr>
          <p:spPr bwMode="auto">
            <a:xfrm>
              <a:off x="2448" y="292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56" name="Oval 41"/>
            <p:cNvSpPr>
              <a:spLocks noChangeArrowheads="1"/>
            </p:cNvSpPr>
            <p:nvPr/>
          </p:nvSpPr>
          <p:spPr bwMode="auto">
            <a:xfrm>
              <a:off x="2544" y="302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57" name="Oval 42"/>
            <p:cNvSpPr>
              <a:spLocks noChangeArrowheads="1"/>
            </p:cNvSpPr>
            <p:nvPr/>
          </p:nvSpPr>
          <p:spPr bwMode="auto">
            <a:xfrm>
              <a:off x="2640" y="312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58" name="Oval 43"/>
            <p:cNvSpPr>
              <a:spLocks noChangeArrowheads="1"/>
            </p:cNvSpPr>
            <p:nvPr/>
          </p:nvSpPr>
          <p:spPr bwMode="auto">
            <a:xfrm>
              <a:off x="2736" y="321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59" name="Oval 44"/>
            <p:cNvSpPr>
              <a:spLocks noChangeArrowheads="1"/>
            </p:cNvSpPr>
            <p:nvPr/>
          </p:nvSpPr>
          <p:spPr bwMode="auto">
            <a:xfrm>
              <a:off x="2160" y="283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60" name="Oval 45"/>
            <p:cNvSpPr>
              <a:spLocks noChangeArrowheads="1"/>
            </p:cNvSpPr>
            <p:nvPr/>
          </p:nvSpPr>
          <p:spPr bwMode="auto">
            <a:xfrm>
              <a:off x="2256" y="292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61" name="Oval 46"/>
            <p:cNvSpPr>
              <a:spLocks noChangeArrowheads="1"/>
            </p:cNvSpPr>
            <p:nvPr/>
          </p:nvSpPr>
          <p:spPr bwMode="auto">
            <a:xfrm>
              <a:off x="2496" y="201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62" name="Oval 47"/>
            <p:cNvSpPr>
              <a:spLocks noChangeArrowheads="1"/>
            </p:cNvSpPr>
            <p:nvPr/>
          </p:nvSpPr>
          <p:spPr bwMode="auto">
            <a:xfrm>
              <a:off x="2592" y="2112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63" name="Oval 48"/>
            <p:cNvSpPr>
              <a:spLocks noChangeArrowheads="1"/>
            </p:cNvSpPr>
            <p:nvPr/>
          </p:nvSpPr>
          <p:spPr bwMode="auto">
            <a:xfrm>
              <a:off x="2688" y="1728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64" name="Oval 49"/>
            <p:cNvSpPr>
              <a:spLocks noChangeArrowheads="1"/>
            </p:cNvSpPr>
            <p:nvPr/>
          </p:nvSpPr>
          <p:spPr bwMode="auto">
            <a:xfrm>
              <a:off x="2784" y="1872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65" name="Oval 50"/>
            <p:cNvSpPr>
              <a:spLocks noChangeArrowheads="1"/>
            </p:cNvSpPr>
            <p:nvPr/>
          </p:nvSpPr>
          <p:spPr bwMode="auto">
            <a:xfrm>
              <a:off x="2880" y="1968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66" name="Oval 51"/>
            <p:cNvSpPr>
              <a:spLocks noChangeArrowheads="1"/>
            </p:cNvSpPr>
            <p:nvPr/>
          </p:nvSpPr>
          <p:spPr bwMode="auto">
            <a:xfrm>
              <a:off x="2256" y="206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67" name="Oval 52"/>
            <p:cNvSpPr>
              <a:spLocks noChangeArrowheads="1"/>
            </p:cNvSpPr>
            <p:nvPr/>
          </p:nvSpPr>
          <p:spPr bwMode="auto">
            <a:xfrm>
              <a:off x="2352" y="2160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68" name="Oval 53"/>
            <p:cNvSpPr>
              <a:spLocks noChangeArrowheads="1"/>
            </p:cNvSpPr>
            <p:nvPr/>
          </p:nvSpPr>
          <p:spPr bwMode="auto">
            <a:xfrm>
              <a:off x="2448" y="177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69" name="Oval 54"/>
            <p:cNvSpPr>
              <a:spLocks noChangeArrowheads="1"/>
            </p:cNvSpPr>
            <p:nvPr/>
          </p:nvSpPr>
          <p:spPr bwMode="auto">
            <a:xfrm>
              <a:off x="2544" y="1920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70" name="Oval 55"/>
            <p:cNvSpPr>
              <a:spLocks noChangeArrowheads="1"/>
            </p:cNvSpPr>
            <p:nvPr/>
          </p:nvSpPr>
          <p:spPr bwMode="auto">
            <a:xfrm>
              <a:off x="2640" y="201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71" name="Oval 56"/>
            <p:cNvSpPr>
              <a:spLocks noChangeArrowheads="1"/>
            </p:cNvSpPr>
            <p:nvPr/>
          </p:nvSpPr>
          <p:spPr bwMode="auto">
            <a:xfrm>
              <a:off x="2736" y="2112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72" name="Oval 57"/>
            <p:cNvSpPr>
              <a:spLocks noChangeArrowheads="1"/>
            </p:cNvSpPr>
            <p:nvPr/>
          </p:nvSpPr>
          <p:spPr bwMode="auto">
            <a:xfrm>
              <a:off x="2832" y="2208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73" name="Oval 58"/>
            <p:cNvSpPr>
              <a:spLocks noChangeArrowheads="1"/>
            </p:cNvSpPr>
            <p:nvPr/>
          </p:nvSpPr>
          <p:spPr bwMode="auto">
            <a:xfrm>
              <a:off x="2256" y="182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74" name="Oval 59"/>
            <p:cNvSpPr>
              <a:spLocks noChangeArrowheads="1"/>
            </p:cNvSpPr>
            <p:nvPr/>
          </p:nvSpPr>
          <p:spPr bwMode="auto">
            <a:xfrm>
              <a:off x="2352" y="1920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75" name="Oval 60"/>
            <p:cNvSpPr>
              <a:spLocks noChangeArrowheads="1"/>
            </p:cNvSpPr>
            <p:nvPr/>
          </p:nvSpPr>
          <p:spPr bwMode="auto">
            <a:xfrm>
              <a:off x="3792" y="312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76" name="Oval 61"/>
            <p:cNvSpPr>
              <a:spLocks noChangeArrowheads="1"/>
            </p:cNvSpPr>
            <p:nvPr/>
          </p:nvSpPr>
          <p:spPr bwMode="auto">
            <a:xfrm>
              <a:off x="3888" y="321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77" name="Oval 62"/>
            <p:cNvSpPr>
              <a:spLocks noChangeArrowheads="1"/>
            </p:cNvSpPr>
            <p:nvPr/>
          </p:nvSpPr>
          <p:spPr bwMode="auto">
            <a:xfrm>
              <a:off x="3984" y="283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78" name="Oval 63"/>
            <p:cNvSpPr>
              <a:spLocks noChangeArrowheads="1"/>
            </p:cNvSpPr>
            <p:nvPr/>
          </p:nvSpPr>
          <p:spPr bwMode="auto">
            <a:xfrm>
              <a:off x="4080" y="297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79" name="Oval 64"/>
            <p:cNvSpPr>
              <a:spLocks noChangeArrowheads="1"/>
            </p:cNvSpPr>
            <p:nvPr/>
          </p:nvSpPr>
          <p:spPr bwMode="auto">
            <a:xfrm>
              <a:off x="4176" y="307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80" name="Oval 65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81" name="Oval 66"/>
            <p:cNvSpPr>
              <a:spLocks noChangeArrowheads="1"/>
            </p:cNvSpPr>
            <p:nvPr/>
          </p:nvSpPr>
          <p:spPr bwMode="auto">
            <a:xfrm>
              <a:off x="3648" y="326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82" name="Oval 67"/>
            <p:cNvSpPr>
              <a:spLocks noChangeArrowheads="1"/>
            </p:cNvSpPr>
            <p:nvPr/>
          </p:nvSpPr>
          <p:spPr bwMode="auto">
            <a:xfrm>
              <a:off x="3744" y="288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83" name="Oval 68"/>
            <p:cNvSpPr>
              <a:spLocks noChangeArrowheads="1"/>
            </p:cNvSpPr>
            <p:nvPr/>
          </p:nvSpPr>
          <p:spPr bwMode="auto">
            <a:xfrm>
              <a:off x="3840" y="302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84" name="Oval 69"/>
            <p:cNvSpPr>
              <a:spLocks noChangeArrowheads="1"/>
            </p:cNvSpPr>
            <p:nvPr/>
          </p:nvSpPr>
          <p:spPr bwMode="auto">
            <a:xfrm>
              <a:off x="3936" y="312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85" name="Oval 70"/>
            <p:cNvSpPr>
              <a:spLocks noChangeArrowheads="1"/>
            </p:cNvSpPr>
            <p:nvPr/>
          </p:nvSpPr>
          <p:spPr bwMode="auto">
            <a:xfrm>
              <a:off x="4032" y="321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86" name="Oval 71"/>
            <p:cNvSpPr>
              <a:spLocks noChangeArrowheads="1"/>
            </p:cNvSpPr>
            <p:nvPr/>
          </p:nvSpPr>
          <p:spPr bwMode="auto">
            <a:xfrm>
              <a:off x="4128" y="331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87" name="Oval 72"/>
            <p:cNvSpPr>
              <a:spLocks noChangeArrowheads="1"/>
            </p:cNvSpPr>
            <p:nvPr/>
          </p:nvSpPr>
          <p:spPr bwMode="auto">
            <a:xfrm>
              <a:off x="3552" y="292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88" name="Oval 73"/>
            <p:cNvSpPr>
              <a:spLocks noChangeArrowheads="1"/>
            </p:cNvSpPr>
            <p:nvPr/>
          </p:nvSpPr>
          <p:spPr bwMode="auto">
            <a:xfrm>
              <a:off x="3648" y="302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89" name="Text Box 74"/>
            <p:cNvSpPr txBox="1">
              <a:spLocks noChangeArrowheads="1"/>
            </p:cNvSpPr>
            <p:nvPr/>
          </p:nvSpPr>
          <p:spPr bwMode="auto">
            <a:xfrm>
              <a:off x="2064" y="184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2400" b="1" i="0">
                  <a:solidFill>
                    <a:schemeClr val="accent2"/>
                  </a:solidFill>
                  <a:latin typeface="Arial" panose="020B0604020202020204" pitchFamily="34" charset="0"/>
                  <a:sym typeface="Marlett" pitchFamily="2" charset="2"/>
                </a:rPr>
                <a:t></a:t>
              </a:r>
              <a:endParaRPr lang="es-ES_tradnl" altLang="es-ES" sz="2400" b="1" i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590" name="Oval 77"/>
            <p:cNvSpPr>
              <a:spLocks noChangeArrowheads="1"/>
            </p:cNvSpPr>
            <p:nvPr/>
          </p:nvSpPr>
          <p:spPr bwMode="auto">
            <a:xfrm>
              <a:off x="3120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91" name="Oval 78"/>
            <p:cNvSpPr>
              <a:spLocks noChangeArrowheads="1"/>
            </p:cNvSpPr>
            <p:nvPr/>
          </p:nvSpPr>
          <p:spPr bwMode="auto">
            <a:xfrm>
              <a:off x="3216" y="278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92" name="Oval 79"/>
            <p:cNvSpPr>
              <a:spLocks noChangeArrowheads="1"/>
            </p:cNvSpPr>
            <p:nvPr/>
          </p:nvSpPr>
          <p:spPr bwMode="auto">
            <a:xfrm>
              <a:off x="3312" y="292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93" name="Oval 80"/>
            <p:cNvSpPr>
              <a:spLocks noChangeArrowheads="1"/>
            </p:cNvSpPr>
            <p:nvPr/>
          </p:nvSpPr>
          <p:spPr bwMode="auto">
            <a:xfrm>
              <a:off x="3408" y="302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94" name="Oval 81"/>
            <p:cNvSpPr>
              <a:spLocks noChangeArrowheads="1"/>
            </p:cNvSpPr>
            <p:nvPr/>
          </p:nvSpPr>
          <p:spPr bwMode="auto">
            <a:xfrm>
              <a:off x="3168" y="307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95" name="Oval 82"/>
            <p:cNvSpPr>
              <a:spLocks noChangeArrowheads="1"/>
            </p:cNvSpPr>
            <p:nvPr/>
          </p:nvSpPr>
          <p:spPr bwMode="auto">
            <a:xfrm>
              <a:off x="3264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96" name="Oval 83"/>
            <p:cNvSpPr>
              <a:spLocks noChangeArrowheads="1"/>
            </p:cNvSpPr>
            <p:nvPr/>
          </p:nvSpPr>
          <p:spPr bwMode="auto">
            <a:xfrm>
              <a:off x="3360" y="326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2597" name="Line 84"/>
            <p:cNvSpPr>
              <a:spLocks noChangeShapeType="1"/>
            </p:cNvSpPr>
            <p:nvPr/>
          </p:nvSpPr>
          <p:spPr bwMode="auto">
            <a:xfrm flipV="1">
              <a:off x="1200" y="1200"/>
              <a:ext cx="0" cy="25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2598" name="Line 85"/>
            <p:cNvSpPr>
              <a:spLocks noChangeShapeType="1"/>
            </p:cNvSpPr>
            <p:nvPr/>
          </p:nvSpPr>
          <p:spPr bwMode="auto">
            <a:xfrm>
              <a:off x="1104" y="3552"/>
              <a:ext cx="35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2599" name="Text Box 86"/>
            <p:cNvSpPr txBox="1">
              <a:spLocks noChangeArrowheads="1"/>
            </p:cNvSpPr>
            <p:nvPr/>
          </p:nvSpPr>
          <p:spPr bwMode="auto">
            <a:xfrm>
              <a:off x="4598" y="3239"/>
              <a:ext cx="2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>
                  <a:latin typeface="Arial" panose="020B0604020202020204" pitchFamily="34" charset="0"/>
                </a:rPr>
                <a:t>X1</a:t>
              </a:r>
            </a:p>
          </p:txBody>
        </p:sp>
        <p:sp>
          <p:nvSpPr>
            <p:cNvPr id="22600" name="Text Box 87"/>
            <p:cNvSpPr txBox="1">
              <a:spLocks noChangeArrowheads="1"/>
            </p:cNvSpPr>
            <p:nvPr/>
          </p:nvSpPr>
          <p:spPr bwMode="auto">
            <a:xfrm>
              <a:off x="854" y="1079"/>
              <a:ext cx="2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>
                  <a:latin typeface="Arial" panose="020B0604020202020204" pitchFamily="34" charset="0"/>
                </a:rPr>
                <a:t>X2</a:t>
              </a:r>
            </a:p>
          </p:txBody>
        </p:sp>
        <p:sp>
          <p:nvSpPr>
            <p:cNvPr id="22601" name="Text Box 88"/>
            <p:cNvSpPr txBox="1">
              <a:spLocks noChangeArrowheads="1"/>
            </p:cNvSpPr>
            <p:nvPr/>
          </p:nvSpPr>
          <p:spPr bwMode="auto">
            <a:xfrm>
              <a:off x="3504" y="278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2400" b="1" i="0">
                  <a:solidFill>
                    <a:srgbClr val="063DE8"/>
                  </a:solidFill>
                  <a:latin typeface="Arial" panose="020B0604020202020204" pitchFamily="34" charset="0"/>
                  <a:sym typeface="Marlett" pitchFamily="2" charset="2"/>
                </a:rPr>
                <a:t></a:t>
              </a:r>
              <a:endParaRPr lang="es-ES_tradnl" altLang="es-ES" sz="2400" b="1" i="0">
                <a:solidFill>
                  <a:srgbClr val="063DE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602" name="Text Box 89"/>
            <p:cNvSpPr txBox="1">
              <a:spLocks noChangeArrowheads="1"/>
            </p:cNvSpPr>
            <p:nvPr/>
          </p:nvSpPr>
          <p:spPr bwMode="auto">
            <a:xfrm>
              <a:off x="2448" y="283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2400" b="1" i="0">
                  <a:solidFill>
                    <a:schemeClr val="hlink"/>
                  </a:solidFill>
                  <a:latin typeface="Arial" panose="020B0604020202020204" pitchFamily="34" charset="0"/>
                  <a:sym typeface="Marlett" pitchFamily="2" charset="2"/>
                </a:rPr>
                <a:t></a:t>
              </a:r>
              <a:endParaRPr lang="es-ES_tradnl" altLang="es-ES" sz="2400" b="1" i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603" name="Line 91"/>
            <p:cNvSpPr>
              <a:spLocks noChangeShapeType="1"/>
            </p:cNvSpPr>
            <p:nvPr/>
          </p:nvSpPr>
          <p:spPr bwMode="auto">
            <a:xfrm flipH="1" flipV="1">
              <a:off x="2256" y="1968"/>
              <a:ext cx="1536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2604" name="Line 92"/>
            <p:cNvSpPr>
              <a:spLocks noChangeShapeType="1"/>
            </p:cNvSpPr>
            <p:nvPr/>
          </p:nvSpPr>
          <p:spPr bwMode="auto">
            <a:xfrm flipH="1">
              <a:off x="2688" y="2160"/>
              <a:ext cx="1104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2605" name="Line 93"/>
            <p:cNvSpPr>
              <a:spLocks noChangeShapeType="1"/>
            </p:cNvSpPr>
            <p:nvPr/>
          </p:nvSpPr>
          <p:spPr bwMode="auto">
            <a:xfrm flipH="1">
              <a:off x="3696" y="2208"/>
              <a:ext cx="96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2606" name="Text Box 94"/>
            <p:cNvSpPr txBox="1">
              <a:spLocks noChangeArrowheads="1"/>
            </p:cNvSpPr>
            <p:nvPr/>
          </p:nvSpPr>
          <p:spPr bwMode="auto">
            <a:xfrm>
              <a:off x="3744" y="2064"/>
              <a:ext cx="22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400" b="1" i="0">
                  <a:solidFill>
                    <a:schemeClr val="bg2"/>
                  </a:solidFill>
                  <a:latin typeface="Arial" panose="020B0604020202020204" pitchFamily="34" charset="0"/>
                  <a:sym typeface="Marlett" pitchFamily="2" charset="2"/>
                </a:rPr>
                <a:t></a:t>
              </a:r>
              <a:endParaRPr lang="es-ES_tradnl" altLang="es-ES" sz="1400" b="1" i="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607" name="Text Box 95"/>
            <p:cNvSpPr txBox="1">
              <a:spLocks noChangeArrowheads="1"/>
            </p:cNvSpPr>
            <p:nvPr/>
          </p:nvSpPr>
          <p:spPr bwMode="auto">
            <a:xfrm>
              <a:off x="3878" y="1914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2800" i="0"/>
                <a:t>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Clasificación</a:t>
            </a:r>
            <a:br>
              <a:rPr lang="es-ES_tradnl" altLang="es-ES" smtClean="0"/>
            </a:br>
            <a:r>
              <a:rPr lang="es-ES_tradnl" altLang="es-ES" sz="3600" smtClean="0"/>
              <a:t>Método de la distancia mínima</a:t>
            </a:r>
            <a:endParaRPr lang="es-ES_tradnl" altLang="es-ES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rgbClr val="8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_tradnl" altLang="es-ES" sz="2800" smtClean="0"/>
              <a:t>Define un </a:t>
            </a:r>
            <a:r>
              <a:rPr lang="es-ES_tradnl" altLang="es-ES" sz="2800" smtClean="0">
                <a:solidFill>
                  <a:schemeClr val="hlink"/>
                </a:solidFill>
              </a:rPr>
              <a:t>prototipo</a:t>
            </a:r>
            <a:r>
              <a:rPr lang="es-ES_tradnl" altLang="es-ES" sz="2800" smtClean="0"/>
              <a:t> para cada clase </a:t>
            </a:r>
            <a:r>
              <a:rPr lang="es-ES_tradnl" altLang="es-ES" sz="2800" b="1" smtClean="0"/>
              <a:t>m</a:t>
            </a:r>
            <a:r>
              <a:rPr lang="es-ES_tradnl" altLang="es-ES" sz="2800" b="1" baseline="-25000" smtClean="0"/>
              <a:t>k</a:t>
            </a:r>
            <a:endParaRPr lang="es-ES_tradnl" altLang="es-ES" sz="2800" smtClean="0"/>
          </a:p>
          <a:p>
            <a:r>
              <a:rPr lang="es-ES_tradnl" altLang="es-ES" sz="2800" smtClean="0"/>
              <a:t>Calcula la </a:t>
            </a:r>
            <a:r>
              <a:rPr lang="es-ES_tradnl" altLang="es-ES" sz="2800" smtClean="0">
                <a:solidFill>
                  <a:schemeClr val="hlink"/>
                </a:solidFill>
              </a:rPr>
              <a:t>distancia</a:t>
            </a:r>
            <a:r>
              <a:rPr lang="es-ES_tradnl" altLang="es-ES" sz="2800" smtClean="0"/>
              <a:t> del patrón</a:t>
            </a:r>
            <a:r>
              <a:rPr lang="es-ES_tradnl" altLang="es-ES" sz="2800" b="1" smtClean="0"/>
              <a:t> x</a:t>
            </a:r>
            <a:r>
              <a:rPr lang="es-ES_tradnl" altLang="es-ES" sz="2800" smtClean="0"/>
              <a:t> a cada </a:t>
            </a:r>
            <a:r>
              <a:rPr lang="es-ES_tradnl" altLang="es-ES" sz="2800" b="1" smtClean="0"/>
              <a:t>m</a:t>
            </a:r>
            <a:r>
              <a:rPr lang="es-ES_tradnl" altLang="es-ES" sz="2800" b="1" baseline="-25000" smtClean="0"/>
              <a:t>k</a:t>
            </a:r>
            <a:endParaRPr lang="es-ES_tradnl" altLang="es-ES" sz="2800" smtClean="0"/>
          </a:p>
          <a:p>
            <a:r>
              <a:rPr lang="es-ES_tradnl" altLang="es-ES" sz="2800" smtClean="0"/>
              <a:t>Selecciona la clase cuyo prototipo está más cercano a x</a:t>
            </a:r>
          </a:p>
        </p:txBody>
      </p:sp>
      <p:grpSp>
        <p:nvGrpSpPr>
          <p:cNvPr id="23556" name="Group 25"/>
          <p:cNvGrpSpPr>
            <a:grpSpLocks/>
          </p:cNvGrpSpPr>
          <p:nvPr/>
        </p:nvGrpSpPr>
        <p:grpSpPr bwMode="auto">
          <a:xfrm>
            <a:off x="2362200" y="4114800"/>
            <a:ext cx="4937125" cy="2306638"/>
            <a:chOff x="1382" y="2400"/>
            <a:chExt cx="3110" cy="1453"/>
          </a:xfrm>
        </p:grpSpPr>
        <p:sp>
          <p:nvSpPr>
            <p:cNvPr id="23557" name="Line 4"/>
            <p:cNvSpPr>
              <a:spLocks noChangeShapeType="1"/>
            </p:cNvSpPr>
            <p:nvPr/>
          </p:nvSpPr>
          <p:spPr bwMode="auto">
            <a:xfrm>
              <a:off x="1824" y="264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3558" name="Rectangle 5"/>
            <p:cNvSpPr>
              <a:spLocks noChangeArrowheads="1"/>
            </p:cNvSpPr>
            <p:nvPr/>
          </p:nvSpPr>
          <p:spPr bwMode="auto">
            <a:xfrm>
              <a:off x="2074" y="2425"/>
              <a:ext cx="672" cy="2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3559" name="Text Box 6"/>
            <p:cNvSpPr txBox="1">
              <a:spLocks noChangeArrowheads="1"/>
            </p:cNvSpPr>
            <p:nvPr/>
          </p:nvSpPr>
          <p:spPr bwMode="auto">
            <a:xfrm>
              <a:off x="2112" y="2449"/>
              <a:ext cx="5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/>
                <a:t>d(x,m</a:t>
              </a:r>
              <a:r>
                <a:rPr lang="es-ES_tradnl" altLang="es-ES" sz="1800" i="0" baseline="-25000"/>
                <a:t>1</a:t>
              </a:r>
              <a:r>
                <a:rPr lang="es-ES_tradnl" altLang="es-ES" sz="1800" i="0"/>
                <a:t>)</a:t>
              </a:r>
            </a:p>
          </p:txBody>
        </p:sp>
        <p:sp>
          <p:nvSpPr>
            <p:cNvPr id="23560" name="Line 7"/>
            <p:cNvSpPr>
              <a:spLocks noChangeShapeType="1"/>
            </p:cNvSpPr>
            <p:nvPr/>
          </p:nvSpPr>
          <p:spPr bwMode="auto">
            <a:xfrm>
              <a:off x="1824" y="302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3561" name="Rectangle 8"/>
            <p:cNvSpPr>
              <a:spLocks noChangeArrowheads="1"/>
            </p:cNvSpPr>
            <p:nvPr/>
          </p:nvSpPr>
          <p:spPr bwMode="auto">
            <a:xfrm>
              <a:off x="2074" y="2809"/>
              <a:ext cx="672" cy="2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3562" name="Line 9"/>
            <p:cNvSpPr>
              <a:spLocks noChangeShapeType="1"/>
            </p:cNvSpPr>
            <p:nvPr/>
          </p:nvSpPr>
          <p:spPr bwMode="auto">
            <a:xfrm>
              <a:off x="1824" y="374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3563" name="Rectangle 10"/>
            <p:cNvSpPr>
              <a:spLocks noChangeArrowheads="1"/>
            </p:cNvSpPr>
            <p:nvPr/>
          </p:nvSpPr>
          <p:spPr bwMode="auto">
            <a:xfrm>
              <a:off x="2074" y="3529"/>
              <a:ext cx="672" cy="2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3564" name="Rectangle 11"/>
            <p:cNvSpPr>
              <a:spLocks noChangeArrowheads="1"/>
            </p:cNvSpPr>
            <p:nvPr/>
          </p:nvSpPr>
          <p:spPr bwMode="auto">
            <a:xfrm>
              <a:off x="3072" y="2400"/>
              <a:ext cx="288" cy="14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3565" name="Text Box 12"/>
            <p:cNvSpPr txBox="1">
              <a:spLocks noChangeArrowheads="1"/>
            </p:cNvSpPr>
            <p:nvPr/>
          </p:nvSpPr>
          <p:spPr bwMode="auto">
            <a:xfrm rot="-5400000">
              <a:off x="2558" y="3082"/>
              <a:ext cx="133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600" i="0">
                  <a:latin typeface="Arial" panose="020B0604020202020204" pitchFamily="34" charset="0"/>
                </a:rPr>
                <a:t>Selección del mínimo</a:t>
              </a:r>
            </a:p>
          </p:txBody>
        </p:sp>
        <p:sp>
          <p:nvSpPr>
            <p:cNvPr id="23566" name="Line 13"/>
            <p:cNvSpPr>
              <a:spLocks noChangeShapeType="1"/>
            </p:cNvSpPr>
            <p:nvPr/>
          </p:nvSpPr>
          <p:spPr bwMode="auto">
            <a:xfrm>
              <a:off x="1824" y="2640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3567" name="Line 14"/>
            <p:cNvSpPr>
              <a:spLocks noChangeShapeType="1"/>
            </p:cNvSpPr>
            <p:nvPr/>
          </p:nvSpPr>
          <p:spPr bwMode="auto">
            <a:xfrm>
              <a:off x="1824" y="355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3568" name="Line 15"/>
            <p:cNvSpPr>
              <a:spLocks noChangeShapeType="1"/>
            </p:cNvSpPr>
            <p:nvPr/>
          </p:nvSpPr>
          <p:spPr bwMode="auto">
            <a:xfrm>
              <a:off x="1488" y="2640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3569" name="Line 16"/>
            <p:cNvSpPr>
              <a:spLocks noChangeShapeType="1"/>
            </p:cNvSpPr>
            <p:nvPr/>
          </p:nvSpPr>
          <p:spPr bwMode="auto">
            <a:xfrm>
              <a:off x="3360" y="3120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3570" name="Line 17"/>
            <p:cNvSpPr>
              <a:spLocks noChangeShapeType="1"/>
            </p:cNvSpPr>
            <p:nvPr/>
          </p:nvSpPr>
          <p:spPr bwMode="auto">
            <a:xfrm>
              <a:off x="1488" y="2640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3571" name="Line 18"/>
            <p:cNvSpPr>
              <a:spLocks noChangeShapeType="1"/>
            </p:cNvSpPr>
            <p:nvPr/>
          </p:nvSpPr>
          <p:spPr bwMode="auto">
            <a:xfrm>
              <a:off x="1824" y="3024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3572" name="Line 19"/>
            <p:cNvSpPr>
              <a:spLocks noChangeShapeType="1"/>
            </p:cNvSpPr>
            <p:nvPr/>
          </p:nvSpPr>
          <p:spPr bwMode="auto">
            <a:xfrm>
              <a:off x="1824" y="3744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3573" name="Text Box 20"/>
            <p:cNvSpPr txBox="1">
              <a:spLocks noChangeArrowheads="1"/>
            </p:cNvSpPr>
            <p:nvPr/>
          </p:nvSpPr>
          <p:spPr bwMode="auto">
            <a:xfrm>
              <a:off x="1382" y="242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23574" name="Text Box 21"/>
            <p:cNvSpPr txBox="1">
              <a:spLocks noChangeArrowheads="1"/>
            </p:cNvSpPr>
            <p:nvPr/>
          </p:nvSpPr>
          <p:spPr bwMode="auto">
            <a:xfrm>
              <a:off x="3696" y="3024"/>
              <a:ext cx="7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>
                  <a:latin typeface="Arial" panose="020B0604020202020204" pitchFamily="34" charset="0"/>
                </a:rPr>
                <a:t>Clase de x</a:t>
              </a:r>
            </a:p>
          </p:txBody>
        </p:sp>
        <p:sp>
          <p:nvSpPr>
            <p:cNvPr id="23575" name="Line 22"/>
            <p:cNvSpPr>
              <a:spLocks noChangeShapeType="1"/>
            </p:cNvSpPr>
            <p:nvPr/>
          </p:nvSpPr>
          <p:spPr bwMode="auto">
            <a:xfrm>
              <a:off x="1824" y="3120"/>
              <a:ext cx="0" cy="48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3576" name="Text Box 23"/>
            <p:cNvSpPr txBox="1">
              <a:spLocks noChangeArrowheads="1"/>
            </p:cNvSpPr>
            <p:nvPr/>
          </p:nvSpPr>
          <p:spPr bwMode="auto">
            <a:xfrm>
              <a:off x="2160" y="2832"/>
              <a:ext cx="5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/>
                <a:t>d(x,m</a:t>
              </a:r>
              <a:r>
                <a:rPr lang="es-ES_tradnl" altLang="es-ES" sz="1800" i="0" baseline="-25000"/>
                <a:t>2</a:t>
              </a:r>
              <a:r>
                <a:rPr lang="es-ES_tradnl" altLang="es-ES" sz="1800" i="0"/>
                <a:t>)</a:t>
              </a:r>
            </a:p>
          </p:txBody>
        </p:sp>
        <p:sp>
          <p:nvSpPr>
            <p:cNvPr id="23577" name="Text Box 24"/>
            <p:cNvSpPr txBox="1">
              <a:spLocks noChangeArrowheads="1"/>
            </p:cNvSpPr>
            <p:nvPr/>
          </p:nvSpPr>
          <p:spPr bwMode="auto">
            <a:xfrm>
              <a:off x="2160" y="3552"/>
              <a:ext cx="5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i="0"/>
                <a:t>d(x,m</a:t>
              </a:r>
              <a:r>
                <a:rPr lang="es-ES_tradnl" altLang="es-ES" sz="1800" i="0" baseline="-25000"/>
                <a:t>n</a:t>
              </a:r>
              <a:r>
                <a:rPr lang="es-ES_tradnl" altLang="es-ES" sz="1800" i="0"/>
                <a:t>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Ejemplo iris</a:t>
            </a:r>
          </a:p>
        </p:txBody>
      </p:sp>
      <p:sp>
        <p:nvSpPr>
          <p:cNvPr id="24579" name="Marcador de contenido 2"/>
          <p:cNvSpPr>
            <a:spLocks noGrp="1"/>
          </p:cNvSpPr>
          <p:nvPr>
            <p:ph idx="1"/>
          </p:nvPr>
        </p:nvSpPr>
        <p:spPr>
          <a:xfrm>
            <a:off x="685800" y="1628775"/>
            <a:ext cx="7772400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s-ES" sz="1600" i="0" dirty="0" err="1" smtClean="0">
                <a:latin typeface="Consolas" panose="020B0609020204030204" pitchFamily="49" charset="0"/>
              </a:rPr>
              <a:t>clc</a:t>
            </a:r>
            <a:r>
              <a:rPr lang="en-US" altLang="es-ES" sz="1600" i="0" dirty="0" smtClean="0">
                <a:latin typeface="Consolas" panose="020B0609020204030204" pitchFamily="49" charset="0"/>
              </a:rPr>
              <a:t>, clear all, close all</a:t>
            </a:r>
          </a:p>
          <a:p>
            <a:pPr marL="0" indent="0">
              <a:buFontTx/>
              <a:buNone/>
            </a:pPr>
            <a:r>
              <a:rPr lang="es-ES" altLang="es-ES" sz="1600" i="0" dirty="0" smtClean="0">
                <a:latin typeface="Consolas" panose="020B0609020204030204" pitchFamily="49" charset="0"/>
              </a:rPr>
              <a:t> </a:t>
            </a:r>
          </a:p>
          <a:p>
            <a:pPr marL="0" indent="0">
              <a:buFontTx/>
              <a:buNone/>
            </a:pPr>
            <a:r>
              <a:rPr lang="es-ES" altLang="es-ES" sz="1600" i="0" dirty="0" smtClean="0">
                <a:latin typeface="Consolas" panose="020B0609020204030204" pitchFamily="49" charset="0"/>
              </a:rPr>
              <a:t>load iris</a:t>
            </a:r>
          </a:p>
          <a:p>
            <a:pPr marL="0" indent="0">
              <a:buFontTx/>
              <a:buNone/>
            </a:pPr>
            <a:r>
              <a:rPr lang="es-ES" altLang="es-ES" sz="1600" i="0" dirty="0" smtClean="0">
                <a:latin typeface="Consolas" panose="020B0609020204030204" pitchFamily="49" charset="0"/>
              </a:rPr>
              <a:t>y = y+1;</a:t>
            </a:r>
          </a:p>
          <a:p>
            <a:pPr marL="0" indent="0">
              <a:buFontTx/>
              <a:buNone/>
            </a:pPr>
            <a:r>
              <a:rPr lang="es-ES" altLang="es-ES" sz="1600" i="0" dirty="0" smtClean="0">
                <a:latin typeface="Consolas" panose="020B0609020204030204" pitchFamily="49" charset="0"/>
              </a:rPr>
              <a:t> </a:t>
            </a:r>
          </a:p>
          <a:p>
            <a:pPr marL="0" indent="0">
              <a:buFontTx/>
              <a:buNone/>
            </a:pPr>
            <a:r>
              <a:rPr lang="es-ES" altLang="es-ES" sz="1600" i="0" dirty="0" smtClean="0">
                <a:latin typeface="Consolas" panose="020B0609020204030204" pitchFamily="49" charset="0"/>
              </a:rPr>
              <a:t>% Calcular la media de cada clase - Entrenar</a:t>
            </a:r>
          </a:p>
          <a:p>
            <a:pPr marL="0" indent="0">
              <a:buFontTx/>
              <a:buNone/>
            </a:pPr>
            <a:r>
              <a:rPr lang="es-ES" altLang="es-ES" sz="1600" i="0" dirty="0" err="1" smtClean="0">
                <a:latin typeface="Consolas" panose="020B0609020204030204" pitchFamily="49" charset="0"/>
              </a:rPr>
              <a:t>for</a:t>
            </a:r>
            <a:r>
              <a:rPr lang="es-ES" altLang="es-ES" sz="1600" i="0" dirty="0" smtClean="0">
                <a:latin typeface="Consolas" panose="020B0609020204030204" pitchFamily="49" charset="0"/>
              </a:rPr>
              <a:t> i=1:3</a:t>
            </a:r>
          </a:p>
          <a:p>
            <a:pPr marL="0" indent="0">
              <a:buFontTx/>
              <a:buNone/>
            </a:pPr>
            <a:r>
              <a:rPr lang="es-ES" altLang="es-ES" sz="1600" i="0" dirty="0" smtClean="0">
                <a:latin typeface="Consolas" panose="020B0609020204030204" pitchFamily="49" charset="0"/>
              </a:rPr>
              <a:t>    </a:t>
            </a:r>
            <a:r>
              <a:rPr lang="es-ES" altLang="es-ES" sz="1600" i="0" dirty="0" err="1" smtClean="0">
                <a:latin typeface="Consolas" panose="020B0609020204030204" pitchFamily="49" charset="0"/>
              </a:rPr>
              <a:t>ind</a:t>
            </a:r>
            <a:r>
              <a:rPr lang="es-ES" altLang="es-ES" sz="1600" i="0" dirty="0" smtClean="0">
                <a:latin typeface="Consolas" panose="020B0609020204030204" pitchFamily="49" charset="0"/>
              </a:rPr>
              <a:t> = </a:t>
            </a:r>
            <a:r>
              <a:rPr lang="es-ES" altLang="es-ES" sz="1600" i="0" dirty="0" err="1" smtClean="0">
                <a:latin typeface="Consolas" panose="020B0609020204030204" pitchFamily="49" charset="0"/>
              </a:rPr>
              <a:t>find</a:t>
            </a:r>
            <a:r>
              <a:rPr lang="es-ES" altLang="es-ES" sz="1600" i="0" dirty="0" smtClean="0">
                <a:latin typeface="Consolas" panose="020B0609020204030204" pitchFamily="49" charset="0"/>
              </a:rPr>
              <a:t>(y==i);</a:t>
            </a:r>
          </a:p>
          <a:p>
            <a:pPr marL="0" indent="0">
              <a:buFontTx/>
              <a:buNone/>
            </a:pPr>
            <a:r>
              <a:rPr lang="es-ES" altLang="es-ES" sz="1600" i="0" dirty="0" smtClean="0">
                <a:latin typeface="Consolas" panose="020B0609020204030204" pitchFamily="49" charset="0"/>
              </a:rPr>
              <a:t>    m{i} = </a:t>
            </a:r>
            <a:r>
              <a:rPr lang="es-ES" altLang="es-ES" sz="1600" i="0" dirty="0" err="1" smtClean="0">
                <a:latin typeface="Consolas" panose="020B0609020204030204" pitchFamily="49" charset="0"/>
              </a:rPr>
              <a:t>meanpat</a:t>
            </a:r>
            <a:r>
              <a:rPr lang="es-ES" altLang="es-ES" sz="1600" i="0" dirty="0" smtClean="0">
                <a:latin typeface="Consolas" panose="020B0609020204030204" pitchFamily="49" charset="0"/>
              </a:rPr>
              <a:t>(x(:,</a:t>
            </a:r>
            <a:r>
              <a:rPr lang="es-ES" altLang="es-ES" sz="1600" i="0" dirty="0" err="1" smtClean="0">
                <a:latin typeface="Consolas" panose="020B0609020204030204" pitchFamily="49" charset="0"/>
              </a:rPr>
              <a:t>ind</a:t>
            </a:r>
            <a:r>
              <a:rPr lang="es-ES" altLang="es-ES" sz="1600" i="0" dirty="0" smtClean="0">
                <a:latin typeface="Consolas" panose="020B0609020204030204" pitchFamily="49" charset="0"/>
              </a:rPr>
              <a:t>));</a:t>
            </a:r>
          </a:p>
          <a:p>
            <a:pPr marL="0" indent="0">
              <a:buFontTx/>
              <a:buNone/>
            </a:pPr>
            <a:r>
              <a:rPr lang="es-ES" altLang="es-ES" sz="1600" i="0" dirty="0" err="1" smtClean="0">
                <a:latin typeface="Consolas" panose="020B0609020204030204" pitchFamily="49" charset="0"/>
              </a:rPr>
              <a:t>end</a:t>
            </a:r>
            <a:endParaRPr lang="es-ES" altLang="es-ES" sz="1600" i="0" dirty="0" smtClean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600" i="0" dirty="0" smtClean="0">
                <a:latin typeface="Consolas" panose="020B0609020204030204" pitchFamily="49" charset="0"/>
              </a:rPr>
              <a:t> </a:t>
            </a:r>
          </a:p>
          <a:p>
            <a:pPr marL="0" indent="0">
              <a:buFontTx/>
              <a:buNone/>
            </a:pPr>
            <a:r>
              <a:rPr lang="es-ES" altLang="es-ES" sz="1600" i="0" dirty="0" smtClean="0">
                <a:latin typeface="Consolas" panose="020B0609020204030204" pitchFamily="49" charset="0"/>
              </a:rPr>
              <a:t>% </a:t>
            </a:r>
            <a:r>
              <a:rPr lang="es-ES" altLang="es-ES" sz="1600" i="0" dirty="0" err="1" smtClean="0">
                <a:latin typeface="Consolas" panose="020B0609020204030204" pitchFamily="49" charset="0"/>
              </a:rPr>
              <a:t>Clasificacion</a:t>
            </a:r>
            <a:r>
              <a:rPr lang="es-ES" altLang="es-ES" sz="1600" i="0" dirty="0" smtClean="0">
                <a:latin typeface="Consolas" panose="020B0609020204030204" pitchFamily="49" charset="0"/>
              </a:rPr>
              <a:t> - Reconocer</a:t>
            </a:r>
          </a:p>
          <a:p>
            <a:pPr marL="0" indent="0">
              <a:buFontTx/>
              <a:buNone/>
            </a:pPr>
            <a:r>
              <a:rPr lang="es-ES" altLang="es-ES" sz="1600" i="0" dirty="0" smtClean="0">
                <a:latin typeface="Consolas" panose="020B0609020204030204" pitchFamily="49" charset="0"/>
              </a:rPr>
              <a:t>x=[5 3.5 1.5 0.3]';</a:t>
            </a:r>
          </a:p>
          <a:p>
            <a:pPr marL="0" indent="0">
              <a:buFontTx/>
              <a:buNone/>
            </a:pPr>
            <a:r>
              <a:rPr lang="es-ES" altLang="es-ES" sz="1600" i="0" dirty="0" err="1" smtClean="0">
                <a:latin typeface="Consolas" panose="020B0609020204030204" pitchFamily="49" charset="0"/>
              </a:rPr>
              <a:t>for</a:t>
            </a:r>
            <a:r>
              <a:rPr lang="es-ES" altLang="es-ES" sz="1600" i="0" dirty="0" smtClean="0">
                <a:latin typeface="Consolas" panose="020B0609020204030204" pitchFamily="49" charset="0"/>
              </a:rPr>
              <a:t> i=1:3</a:t>
            </a:r>
          </a:p>
          <a:p>
            <a:pPr marL="0" indent="0">
              <a:buFontTx/>
              <a:buNone/>
            </a:pPr>
            <a:r>
              <a:rPr lang="es-ES" altLang="es-ES" sz="1600" i="0" dirty="0" smtClean="0">
                <a:latin typeface="Consolas" panose="020B0609020204030204" pitchFamily="49" charset="0"/>
              </a:rPr>
              <a:t>  d(i) = sum((x-m{i}).^2)</a:t>
            </a:r>
          </a:p>
          <a:p>
            <a:pPr marL="0" indent="0">
              <a:buFontTx/>
              <a:buNone/>
            </a:pPr>
            <a:r>
              <a:rPr lang="es-ES" altLang="es-ES" sz="1600" i="0" dirty="0" err="1" smtClean="0">
                <a:latin typeface="Consolas" panose="020B0609020204030204" pitchFamily="49" charset="0"/>
              </a:rPr>
              <a:t>end</a:t>
            </a:r>
            <a:endParaRPr lang="es-ES" altLang="es-ES" sz="1600" i="0" dirty="0" smtClean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600" i="0" dirty="0" smtClean="0">
                <a:latin typeface="Consolas" panose="020B0609020204030204" pitchFamily="49" charset="0"/>
              </a:rPr>
              <a:t>[~,clase]=min(d)</a:t>
            </a:r>
          </a:p>
          <a:p>
            <a:pPr marL="0" indent="0">
              <a:buFontTx/>
              <a:buNone/>
            </a:pPr>
            <a:endParaRPr lang="es-ES" altLang="es-ES" sz="1600" i="0" dirty="0" smtClean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endParaRPr lang="es-ES" altLang="es-ES" sz="1600" dirty="0" smtClean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/>
          <p:cNvSpPr>
            <a:spLocks noGrp="1"/>
          </p:cNvSpPr>
          <p:nvPr>
            <p:ph type="title"/>
          </p:nvPr>
        </p:nvSpPr>
        <p:spPr>
          <a:xfrm>
            <a:off x="685800" y="14288"/>
            <a:ext cx="7772400" cy="1143000"/>
          </a:xfrm>
        </p:spPr>
        <p:txBody>
          <a:bodyPr/>
          <a:lstStyle/>
          <a:p>
            <a:r>
              <a:rPr lang="es-ES" altLang="es-ES" sz="2800" smtClean="0"/>
              <a:t>Estimacion error </a:t>
            </a:r>
            <a:br>
              <a:rPr lang="es-ES" altLang="es-ES" sz="2800" smtClean="0"/>
            </a:br>
            <a:r>
              <a:rPr lang="es-ES" altLang="es-ES" sz="2800" smtClean="0"/>
              <a:t>Método: distancia mínima (euclidea)</a:t>
            </a:r>
            <a:br>
              <a:rPr lang="es-ES" altLang="es-ES" sz="2800" smtClean="0"/>
            </a:br>
            <a:r>
              <a:rPr lang="es-ES" altLang="es-ES" sz="2800" smtClean="0"/>
              <a:t>Validación: CV10+random sampling</a:t>
            </a:r>
          </a:p>
        </p:txBody>
      </p:sp>
      <p:sp>
        <p:nvSpPr>
          <p:cNvPr id="25603" name="Marcador de contenido 2"/>
          <p:cNvSpPr>
            <a:spLocks noGrp="1"/>
          </p:cNvSpPr>
          <p:nvPr>
            <p:ph idx="1"/>
          </p:nvPr>
        </p:nvSpPr>
        <p:spPr>
          <a:xfrm>
            <a:off x="685800" y="1412875"/>
            <a:ext cx="7772400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clc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endParaRPr lang="es-ES" altLang="es-ES" sz="11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load iris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 = y+1;</a:t>
            </a:r>
          </a:p>
          <a:p>
            <a:pPr marL="0" indent="0">
              <a:buFontTx/>
              <a:buNone/>
            </a:pP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n=1:1000</a:t>
            </a:r>
          </a:p>
          <a:p>
            <a:pPr marL="0" indent="0">
              <a:buFontTx/>
              <a:buNone/>
            </a:pPr>
            <a:endParaRPr lang="es-ES" altLang="es-ES" sz="11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[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shuffle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numerrores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k=1:10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[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xtrn,xtst,ytrn,ytst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crossval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(x,y,10,k);</a:t>
            </a:r>
          </a:p>
          <a:p>
            <a:pPr marL="0" indent="0">
              <a:buFontTx/>
              <a:buNone/>
            </a:pPr>
            <a:endParaRPr lang="es-ES" altLang="es-ES" sz="11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% Calcular la media de cada clase - Entrenar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i=1:3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ytrn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==i);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m{i} =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meanpat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xtrn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(:,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s-ES" altLang="es-ES" sz="11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%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Clasificacion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- Reconocer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i=1:3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d(i,:)=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d_euclid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xtst,m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{i});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s-ES" altLang="es-ES" sz="11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[~,clase]=min(d);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numerrores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numerrores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ytst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~=clase));</a:t>
            </a: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s-ES" altLang="es-ES" sz="11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E(n) = 100-100*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numerrores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(y);</a:t>
            </a:r>
          </a:p>
          <a:p>
            <a:pPr marL="0" indent="0">
              <a:buFontTx/>
              <a:buNone/>
            </a:pPr>
            <a:r>
              <a:rPr lang="es-ES" altLang="es-ES" sz="11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s-ES" altLang="es-ES" sz="11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1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mean(E)</a:t>
            </a:r>
          </a:p>
          <a:p>
            <a:pPr marL="0" indent="0">
              <a:buFontTx/>
              <a:buNone/>
            </a:pPr>
            <a:endParaRPr lang="es-ES" altLang="es-ES" sz="1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Clasificación </a:t>
            </a:r>
            <a:br>
              <a:rPr lang="es-ES_tradnl" altLang="es-ES" smtClean="0"/>
            </a:br>
            <a:r>
              <a:rPr lang="es-ES_tradnl" altLang="es-ES" sz="3600" smtClean="0"/>
              <a:t>Selección del prototipo</a:t>
            </a:r>
            <a:endParaRPr lang="es-ES_tradnl" altLang="es-ES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r>
              <a:rPr lang="es-ES_tradnl" altLang="es-ES" smtClean="0"/>
              <a:t>Si es posible, seleccionar el prototipo no ruidoso del que proceden los datos</a:t>
            </a:r>
          </a:p>
          <a:p>
            <a:r>
              <a:rPr lang="es-ES_tradnl" altLang="es-ES" smtClean="0"/>
              <a:t>Si no, se suele aproximar el prototipo como la media de los patrones disponibles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1600200" y="4191000"/>
          <a:ext cx="6400800" cy="207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5" name="Foto de Photo Editor" r:id="rId3" imgW="2409524" imgH="781159" progId="MSPhotoEd.3">
                  <p:embed/>
                </p:oleObj>
              </mc:Choice>
              <mc:Fallback>
                <p:oleObj name="Foto de Photo Editor" r:id="rId3" imgW="2409524" imgH="781159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6400800" cy="207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2717800"/>
            <a:ext cx="3313112" cy="1143000"/>
          </a:xfrm>
        </p:spPr>
        <p:txBody>
          <a:bodyPr/>
          <a:lstStyle/>
          <a:p>
            <a:r>
              <a:rPr lang="es-ES_tradnl" altLang="es-ES" sz="3600" smtClean="0"/>
              <a:t>6. Clasificación </a:t>
            </a:r>
            <a:br>
              <a:rPr lang="es-ES_tradnl" altLang="es-ES" sz="3600" smtClean="0"/>
            </a:br>
            <a:r>
              <a:rPr lang="es-ES_tradnl" altLang="es-ES" sz="2800" smtClean="0"/>
              <a:t>Selección del prototipo</a:t>
            </a:r>
          </a:p>
        </p:txBody>
      </p:sp>
      <p:pic>
        <p:nvPicPr>
          <p:cNvPr id="27651" name="Picture 3" descr="[ Image ]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25838" y="133350"/>
            <a:ext cx="5510212" cy="668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Clasificación </a:t>
            </a:r>
            <a:br>
              <a:rPr lang="es-ES_tradnl" altLang="es-ES" smtClean="0"/>
            </a:br>
            <a:r>
              <a:rPr lang="es-ES_tradnl" altLang="es-ES" smtClean="0"/>
              <a:t>Selección del prototipo</a:t>
            </a:r>
          </a:p>
        </p:txBody>
      </p:sp>
      <p:sp>
        <p:nvSpPr>
          <p:cNvPr id="2867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z="2800" smtClean="0"/>
              <a:t>Enfoque intuitivo : comparar el patrón desconocido con un patrón estándar de cada clase (¿la media?), y elegir la clase que más se acerca.</a:t>
            </a:r>
          </a:p>
          <a:p>
            <a:pPr lvl="2"/>
            <a:r>
              <a:rPr lang="es-ES_tradnl" altLang="es-ES" sz="2000" smtClean="0"/>
              <a:t>¿ Cómo comparar ?</a:t>
            </a:r>
          </a:p>
          <a:p>
            <a:pPr lvl="2"/>
            <a:r>
              <a:rPr lang="es-ES_tradnl" altLang="es-ES" sz="2000" smtClean="0"/>
              <a:t>¿ Cómo seleccionar el patrón estándar ? </a:t>
            </a:r>
          </a:p>
          <a:p>
            <a:pPr lvl="2"/>
            <a:r>
              <a:rPr lang="es-ES_tradnl" altLang="es-ES" sz="2000" smtClean="0"/>
              <a:t>¿ Cómo medir el grado de cercanía ? </a:t>
            </a:r>
          </a:p>
          <a:p>
            <a:endParaRPr lang="es-ES_tradnl" altLang="es-ES" smtClean="0"/>
          </a:p>
        </p:txBody>
      </p:sp>
      <p:graphicFrame>
        <p:nvGraphicFramePr>
          <p:cNvPr id="28676" name="Object 1028"/>
          <p:cNvGraphicFramePr>
            <a:graphicFrameLocks noChangeAspect="1"/>
          </p:cNvGraphicFramePr>
          <p:nvPr/>
        </p:nvGraphicFramePr>
        <p:xfrm>
          <a:off x="2286000" y="4648200"/>
          <a:ext cx="4572000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name="Foto de Photo Editor" r:id="rId3" imgW="2152951" imgH="905001" progId="MSPhotoEd.3">
                  <p:embed/>
                </p:oleObj>
              </mc:Choice>
              <mc:Fallback>
                <p:oleObj name="Foto de Photo Editor" r:id="rId3" imgW="2152951" imgH="905001" progId="MSPhotoEd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648200"/>
                        <a:ext cx="4572000" cy="192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Clasificación </a:t>
            </a:r>
            <a:br>
              <a:rPr lang="es-ES_tradnl" altLang="es-ES" smtClean="0"/>
            </a:br>
            <a:r>
              <a:rPr lang="es-ES_tradnl" altLang="es-ES" sz="3600" smtClean="0"/>
              <a:t>Selección de la distancia</a:t>
            </a:r>
            <a:endParaRPr lang="es-ES_tradnl" altLang="es-ES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772400" cy="41148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s-ES_tradnl" altLang="es-ES" sz="2800" smtClean="0"/>
              <a:t>Euclídea : 	</a:t>
            </a:r>
          </a:p>
          <a:p>
            <a:pPr>
              <a:lnSpc>
                <a:spcPct val="120000"/>
              </a:lnSpc>
            </a:pPr>
            <a:r>
              <a:rPr lang="es-ES_tradnl" altLang="es-ES" sz="2800" smtClean="0"/>
              <a:t>Manhattan : 	</a:t>
            </a:r>
          </a:p>
          <a:p>
            <a:pPr>
              <a:lnSpc>
                <a:spcPct val="120000"/>
              </a:lnSpc>
            </a:pPr>
            <a:r>
              <a:rPr lang="es-ES_tradnl" altLang="es-ES" sz="2800" smtClean="0"/>
              <a:t>Mahalanobis : 	d(x,m,C) = (x-m)’ * C</a:t>
            </a:r>
            <a:r>
              <a:rPr lang="es-ES_tradnl" altLang="es-ES" sz="2400" baseline="30000" smtClean="0"/>
              <a:t>-1</a:t>
            </a:r>
            <a:r>
              <a:rPr lang="es-ES_tradnl" altLang="es-ES" sz="2400" smtClean="0"/>
              <a:t> * (x-m) </a:t>
            </a:r>
          </a:p>
        </p:txBody>
      </p:sp>
      <p:sp>
        <p:nvSpPr>
          <p:cNvPr id="29700" name="Oval 4"/>
          <p:cNvSpPr>
            <a:spLocks noChangeArrowheads="1"/>
          </p:cNvSpPr>
          <p:nvPr/>
        </p:nvSpPr>
        <p:spPr bwMode="auto">
          <a:xfrm>
            <a:off x="1752600" y="4300538"/>
            <a:ext cx="1611313" cy="16097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29701" name="Oval 5"/>
          <p:cNvSpPr>
            <a:spLocks noChangeArrowheads="1"/>
          </p:cNvSpPr>
          <p:nvPr/>
        </p:nvSpPr>
        <p:spPr bwMode="auto">
          <a:xfrm>
            <a:off x="2009775" y="4557713"/>
            <a:ext cx="1095375" cy="10953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29702" name="Oval 6"/>
          <p:cNvSpPr>
            <a:spLocks noChangeArrowheads="1"/>
          </p:cNvSpPr>
          <p:nvPr/>
        </p:nvSpPr>
        <p:spPr bwMode="auto">
          <a:xfrm>
            <a:off x="2268538" y="4814888"/>
            <a:ext cx="579437" cy="5810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2397125" y="494506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b="1" i="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 rot="-2722694">
            <a:off x="3878262" y="4429126"/>
            <a:ext cx="1482725" cy="13525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 rot="-2719741">
            <a:off x="4072731" y="4622007"/>
            <a:ext cx="1095375" cy="9667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 rot="-2726155">
            <a:off x="4264820" y="4815681"/>
            <a:ext cx="709612" cy="644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4459288" y="494506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b="1" i="0">
                <a:latin typeface="Arial" panose="020B0604020202020204" pitchFamily="34" charset="0"/>
              </a:rPr>
              <a:t>X</a:t>
            </a:r>
          </a:p>
        </p:txBody>
      </p:sp>
      <p:grpSp>
        <p:nvGrpSpPr>
          <p:cNvPr id="29708" name="Group 12"/>
          <p:cNvGrpSpPr>
            <a:grpSpLocks/>
          </p:cNvGrpSpPr>
          <p:nvPr/>
        </p:nvGrpSpPr>
        <p:grpSpPr bwMode="auto">
          <a:xfrm>
            <a:off x="6400800" y="3733800"/>
            <a:ext cx="1039813" cy="2520950"/>
            <a:chOff x="3727" y="2544"/>
            <a:chExt cx="1073" cy="1252"/>
          </a:xfrm>
        </p:grpSpPr>
        <p:sp>
          <p:nvSpPr>
            <p:cNvPr id="29712" name="Oval 13"/>
            <p:cNvSpPr>
              <a:spLocks noChangeArrowheads="1"/>
            </p:cNvSpPr>
            <p:nvPr/>
          </p:nvSpPr>
          <p:spPr bwMode="auto">
            <a:xfrm rot="2488133">
              <a:off x="3727" y="2544"/>
              <a:ext cx="1073" cy="125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9713" name="Oval 14"/>
            <p:cNvSpPr>
              <a:spLocks noChangeArrowheads="1"/>
            </p:cNvSpPr>
            <p:nvPr/>
          </p:nvSpPr>
          <p:spPr bwMode="auto">
            <a:xfrm rot="2490428">
              <a:off x="3853" y="2654"/>
              <a:ext cx="812" cy="101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9714" name="Oval 15"/>
            <p:cNvSpPr>
              <a:spLocks noChangeArrowheads="1"/>
            </p:cNvSpPr>
            <p:nvPr/>
          </p:nvSpPr>
          <p:spPr bwMode="auto">
            <a:xfrm rot="2488282">
              <a:off x="3935" y="2774"/>
              <a:ext cx="627" cy="76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9715" name="Oval 16"/>
            <p:cNvSpPr>
              <a:spLocks noChangeArrowheads="1"/>
            </p:cNvSpPr>
            <p:nvPr/>
          </p:nvSpPr>
          <p:spPr bwMode="auto">
            <a:xfrm rot="2486296">
              <a:off x="4018" y="2851"/>
              <a:ext cx="450" cy="6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29716" name="Text Box 17"/>
            <p:cNvSpPr txBox="1">
              <a:spLocks noChangeArrowheads="1"/>
            </p:cNvSpPr>
            <p:nvPr/>
          </p:nvSpPr>
          <p:spPr bwMode="auto">
            <a:xfrm>
              <a:off x="4140" y="3053"/>
              <a:ext cx="347" cy="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b="1" i="0">
                  <a:latin typeface="Arial" panose="020B0604020202020204" pitchFamily="34" charset="0"/>
                </a:rPr>
                <a:t>X</a:t>
              </a:r>
            </a:p>
          </p:txBody>
        </p:sp>
      </p:grpSp>
      <p:sp>
        <p:nvSpPr>
          <p:cNvPr id="29709" name="Text Box 18"/>
          <p:cNvSpPr txBox="1">
            <a:spLocks noChangeArrowheads="1"/>
          </p:cNvSpPr>
          <p:nvPr/>
        </p:nvSpPr>
        <p:spPr bwMode="auto">
          <a:xfrm>
            <a:off x="1812925" y="6134100"/>
            <a:ext cx="5924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/>
              <a:t>   D. Euclídea             D. Manhattan             D. Mahalanobis     </a:t>
            </a:r>
          </a:p>
        </p:txBody>
      </p:sp>
      <p:graphicFrame>
        <p:nvGraphicFramePr>
          <p:cNvPr id="29710" name="Object 19"/>
          <p:cNvGraphicFramePr>
            <a:graphicFrameLocks noChangeAspect="1"/>
          </p:cNvGraphicFramePr>
          <p:nvPr/>
        </p:nvGraphicFramePr>
        <p:xfrm>
          <a:off x="2895600" y="1701800"/>
          <a:ext cx="28194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9" name="Ecuación" r:id="rId3" imgW="1459866" imgH="482391" progId="Equation.3">
                  <p:embed/>
                </p:oleObj>
              </mc:Choice>
              <mc:Fallback>
                <p:oleObj name="Ecuación" r:id="rId3" imgW="1459866" imgH="48239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701800"/>
                        <a:ext cx="281940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1" name="Object 20"/>
          <p:cNvGraphicFramePr>
            <a:graphicFrameLocks noChangeAspect="1"/>
          </p:cNvGraphicFramePr>
          <p:nvPr/>
        </p:nvGraphicFramePr>
        <p:xfrm>
          <a:off x="2971800" y="2514600"/>
          <a:ext cx="24384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0" name="Ecuación" r:id="rId5" imgW="1218671" imgH="342751" progId="Equation.3">
                  <p:embed/>
                </p:oleObj>
              </mc:Choice>
              <mc:Fallback>
                <p:oleObj name="Ecuación" r:id="rId5" imgW="1218671" imgH="34275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514600"/>
                        <a:ext cx="2438400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lipse 3"/>
          <p:cNvSpPr>
            <a:spLocks noChangeArrowheads="1"/>
          </p:cNvSpPr>
          <p:nvPr/>
        </p:nvSpPr>
        <p:spPr bwMode="auto">
          <a:xfrm>
            <a:off x="1187450" y="3500438"/>
            <a:ext cx="288925" cy="2889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23" name="Elipse 4"/>
          <p:cNvSpPr>
            <a:spLocks noChangeArrowheads="1"/>
          </p:cNvSpPr>
          <p:nvPr/>
        </p:nvSpPr>
        <p:spPr bwMode="auto">
          <a:xfrm>
            <a:off x="1509713" y="3451225"/>
            <a:ext cx="287337" cy="287338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24" name="Elipse 5"/>
          <p:cNvSpPr>
            <a:spLocks noChangeArrowheads="1"/>
          </p:cNvSpPr>
          <p:nvPr/>
        </p:nvSpPr>
        <p:spPr bwMode="auto">
          <a:xfrm>
            <a:off x="1136650" y="3844925"/>
            <a:ext cx="287338" cy="2889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25" name="Elipse 6"/>
          <p:cNvSpPr>
            <a:spLocks noChangeArrowheads="1"/>
          </p:cNvSpPr>
          <p:nvPr/>
        </p:nvSpPr>
        <p:spPr bwMode="auto">
          <a:xfrm>
            <a:off x="1509713" y="3822700"/>
            <a:ext cx="287337" cy="287338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26" name="Elipse 7"/>
          <p:cNvSpPr>
            <a:spLocks noChangeArrowheads="1"/>
          </p:cNvSpPr>
          <p:nvPr/>
        </p:nvSpPr>
        <p:spPr bwMode="auto">
          <a:xfrm>
            <a:off x="1966913" y="3400425"/>
            <a:ext cx="287337" cy="2889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27" name="Elipse 8"/>
          <p:cNvSpPr>
            <a:spLocks noChangeArrowheads="1"/>
          </p:cNvSpPr>
          <p:nvPr/>
        </p:nvSpPr>
        <p:spPr bwMode="auto">
          <a:xfrm>
            <a:off x="1871663" y="3908425"/>
            <a:ext cx="287337" cy="2889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28" name="Elipse 9"/>
          <p:cNvSpPr>
            <a:spLocks noChangeArrowheads="1"/>
          </p:cNvSpPr>
          <p:nvPr/>
        </p:nvSpPr>
        <p:spPr bwMode="auto">
          <a:xfrm>
            <a:off x="1431925" y="4424363"/>
            <a:ext cx="287338" cy="287337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29" name="Elipse 10"/>
          <p:cNvSpPr>
            <a:spLocks noChangeArrowheads="1"/>
          </p:cNvSpPr>
          <p:nvPr/>
        </p:nvSpPr>
        <p:spPr bwMode="auto">
          <a:xfrm>
            <a:off x="1966913" y="4314825"/>
            <a:ext cx="287337" cy="287338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30" name="Elipse 11"/>
          <p:cNvSpPr>
            <a:spLocks noChangeArrowheads="1"/>
          </p:cNvSpPr>
          <p:nvPr/>
        </p:nvSpPr>
        <p:spPr bwMode="auto">
          <a:xfrm>
            <a:off x="2262188" y="3706813"/>
            <a:ext cx="287337" cy="287337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cxnSp>
        <p:nvCxnSpPr>
          <p:cNvPr id="30731" name="Conector recto de flecha 13"/>
          <p:cNvCxnSpPr>
            <a:cxnSpLocks noChangeShapeType="1"/>
          </p:cNvCxnSpPr>
          <p:nvPr/>
        </p:nvCxnSpPr>
        <p:spPr bwMode="auto">
          <a:xfrm>
            <a:off x="684213" y="5876925"/>
            <a:ext cx="748823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2" name="Conector recto de flecha 14"/>
          <p:cNvCxnSpPr>
            <a:cxnSpLocks noChangeShapeType="1"/>
          </p:cNvCxnSpPr>
          <p:nvPr/>
        </p:nvCxnSpPr>
        <p:spPr bwMode="auto">
          <a:xfrm flipH="1" flipV="1">
            <a:off x="827088" y="981075"/>
            <a:ext cx="9525" cy="50482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33" name="Elipse 16"/>
          <p:cNvSpPr>
            <a:spLocks noChangeArrowheads="1"/>
          </p:cNvSpPr>
          <p:nvPr/>
        </p:nvSpPr>
        <p:spPr bwMode="auto">
          <a:xfrm>
            <a:off x="2281238" y="4814888"/>
            <a:ext cx="287337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34" name="Elipse 17"/>
          <p:cNvSpPr>
            <a:spLocks noChangeArrowheads="1"/>
          </p:cNvSpPr>
          <p:nvPr/>
        </p:nvSpPr>
        <p:spPr bwMode="auto">
          <a:xfrm>
            <a:off x="2601913" y="4765675"/>
            <a:ext cx="288925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35" name="Elipse 18"/>
          <p:cNvSpPr>
            <a:spLocks noChangeArrowheads="1"/>
          </p:cNvSpPr>
          <p:nvPr/>
        </p:nvSpPr>
        <p:spPr bwMode="auto">
          <a:xfrm>
            <a:off x="2228850" y="5159375"/>
            <a:ext cx="288925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36" name="Elipse 19"/>
          <p:cNvSpPr>
            <a:spLocks noChangeArrowheads="1"/>
          </p:cNvSpPr>
          <p:nvPr/>
        </p:nvSpPr>
        <p:spPr bwMode="auto">
          <a:xfrm>
            <a:off x="2601913" y="5137150"/>
            <a:ext cx="288925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37" name="Elipse 20"/>
          <p:cNvSpPr>
            <a:spLocks noChangeArrowheads="1"/>
          </p:cNvSpPr>
          <p:nvPr/>
        </p:nvSpPr>
        <p:spPr bwMode="auto">
          <a:xfrm>
            <a:off x="3059113" y="4714875"/>
            <a:ext cx="288925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38" name="Elipse 21"/>
          <p:cNvSpPr>
            <a:spLocks noChangeArrowheads="1"/>
          </p:cNvSpPr>
          <p:nvPr/>
        </p:nvSpPr>
        <p:spPr bwMode="auto">
          <a:xfrm>
            <a:off x="2963863" y="5222875"/>
            <a:ext cx="288925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39" name="Elipse 22"/>
          <p:cNvSpPr>
            <a:spLocks noChangeArrowheads="1"/>
          </p:cNvSpPr>
          <p:nvPr/>
        </p:nvSpPr>
        <p:spPr bwMode="auto">
          <a:xfrm>
            <a:off x="2524125" y="5738813"/>
            <a:ext cx="288925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40" name="Elipse 23"/>
          <p:cNvSpPr>
            <a:spLocks noChangeArrowheads="1"/>
          </p:cNvSpPr>
          <p:nvPr/>
        </p:nvSpPr>
        <p:spPr bwMode="auto">
          <a:xfrm>
            <a:off x="3059113" y="5629275"/>
            <a:ext cx="288925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41" name="Elipse 24"/>
          <p:cNvSpPr>
            <a:spLocks noChangeArrowheads="1"/>
          </p:cNvSpPr>
          <p:nvPr/>
        </p:nvSpPr>
        <p:spPr bwMode="auto">
          <a:xfrm>
            <a:off x="3354388" y="5021263"/>
            <a:ext cx="288925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42" name="Elipse 25"/>
          <p:cNvSpPr>
            <a:spLocks noChangeArrowheads="1"/>
          </p:cNvSpPr>
          <p:nvPr/>
        </p:nvSpPr>
        <p:spPr bwMode="auto">
          <a:xfrm>
            <a:off x="3746500" y="4603750"/>
            <a:ext cx="288925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43" name="Elipse 26"/>
          <p:cNvSpPr>
            <a:spLocks noChangeArrowheads="1"/>
          </p:cNvSpPr>
          <p:nvPr/>
        </p:nvSpPr>
        <p:spPr bwMode="auto">
          <a:xfrm>
            <a:off x="4068763" y="4554538"/>
            <a:ext cx="287337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44" name="Elipse 27"/>
          <p:cNvSpPr>
            <a:spLocks noChangeArrowheads="1"/>
          </p:cNvSpPr>
          <p:nvPr/>
        </p:nvSpPr>
        <p:spPr bwMode="auto">
          <a:xfrm>
            <a:off x="3695700" y="4948238"/>
            <a:ext cx="288925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45" name="Elipse 28"/>
          <p:cNvSpPr>
            <a:spLocks noChangeArrowheads="1"/>
          </p:cNvSpPr>
          <p:nvPr/>
        </p:nvSpPr>
        <p:spPr bwMode="auto">
          <a:xfrm>
            <a:off x="4068763" y="4926013"/>
            <a:ext cx="287337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46" name="Elipse 29"/>
          <p:cNvSpPr>
            <a:spLocks noChangeArrowheads="1"/>
          </p:cNvSpPr>
          <p:nvPr/>
        </p:nvSpPr>
        <p:spPr bwMode="auto">
          <a:xfrm>
            <a:off x="4525963" y="4503738"/>
            <a:ext cx="287337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47" name="Elipse 30"/>
          <p:cNvSpPr>
            <a:spLocks noChangeArrowheads="1"/>
          </p:cNvSpPr>
          <p:nvPr/>
        </p:nvSpPr>
        <p:spPr bwMode="auto">
          <a:xfrm>
            <a:off x="4430713" y="5013325"/>
            <a:ext cx="287337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48" name="Elipse 31"/>
          <p:cNvSpPr>
            <a:spLocks noChangeArrowheads="1"/>
          </p:cNvSpPr>
          <p:nvPr/>
        </p:nvSpPr>
        <p:spPr bwMode="auto">
          <a:xfrm>
            <a:off x="3990975" y="5527675"/>
            <a:ext cx="287338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49" name="Elipse 32"/>
          <p:cNvSpPr>
            <a:spLocks noChangeArrowheads="1"/>
          </p:cNvSpPr>
          <p:nvPr/>
        </p:nvSpPr>
        <p:spPr bwMode="auto">
          <a:xfrm>
            <a:off x="4525963" y="5418138"/>
            <a:ext cx="287337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50" name="Elipse 33"/>
          <p:cNvSpPr>
            <a:spLocks noChangeArrowheads="1"/>
          </p:cNvSpPr>
          <p:nvPr/>
        </p:nvSpPr>
        <p:spPr bwMode="auto">
          <a:xfrm>
            <a:off x="4821238" y="4810125"/>
            <a:ext cx="288925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51" name="Elipse 34"/>
          <p:cNvSpPr>
            <a:spLocks noChangeArrowheads="1"/>
          </p:cNvSpPr>
          <p:nvPr/>
        </p:nvSpPr>
        <p:spPr bwMode="auto">
          <a:xfrm>
            <a:off x="4970463" y="5243513"/>
            <a:ext cx="287337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52" name="Elipse 35"/>
          <p:cNvSpPr>
            <a:spLocks noChangeArrowheads="1"/>
          </p:cNvSpPr>
          <p:nvPr/>
        </p:nvSpPr>
        <p:spPr bwMode="auto">
          <a:xfrm>
            <a:off x="5292725" y="5192713"/>
            <a:ext cx="287338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53" name="Elipse 36"/>
          <p:cNvSpPr>
            <a:spLocks noChangeArrowheads="1"/>
          </p:cNvSpPr>
          <p:nvPr/>
        </p:nvSpPr>
        <p:spPr bwMode="auto">
          <a:xfrm>
            <a:off x="4919663" y="5586413"/>
            <a:ext cx="287337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54" name="Elipse 37"/>
          <p:cNvSpPr>
            <a:spLocks noChangeArrowheads="1"/>
          </p:cNvSpPr>
          <p:nvPr/>
        </p:nvSpPr>
        <p:spPr bwMode="auto">
          <a:xfrm>
            <a:off x="5292725" y="5564188"/>
            <a:ext cx="287338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55" name="Elipse 38"/>
          <p:cNvSpPr>
            <a:spLocks noChangeArrowheads="1"/>
          </p:cNvSpPr>
          <p:nvPr/>
        </p:nvSpPr>
        <p:spPr bwMode="auto">
          <a:xfrm>
            <a:off x="5749925" y="5141913"/>
            <a:ext cx="287338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56" name="Elipse 39"/>
          <p:cNvSpPr>
            <a:spLocks noChangeArrowheads="1"/>
          </p:cNvSpPr>
          <p:nvPr/>
        </p:nvSpPr>
        <p:spPr bwMode="auto">
          <a:xfrm>
            <a:off x="5654675" y="5651500"/>
            <a:ext cx="287338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57" name="Elipse 40"/>
          <p:cNvSpPr>
            <a:spLocks noChangeArrowheads="1"/>
          </p:cNvSpPr>
          <p:nvPr/>
        </p:nvSpPr>
        <p:spPr bwMode="auto">
          <a:xfrm>
            <a:off x="5214938" y="6165850"/>
            <a:ext cx="287337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58" name="Elipse 41"/>
          <p:cNvSpPr>
            <a:spLocks noChangeArrowheads="1"/>
          </p:cNvSpPr>
          <p:nvPr/>
        </p:nvSpPr>
        <p:spPr bwMode="auto">
          <a:xfrm>
            <a:off x="5749925" y="6056313"/>
            <a:ext cx="287338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59" name="Elipse 42"/>
          <p:cNvSpPr>
            <a:spLocks noChangeArrowheads="1"/>
          </p:cNvSpPr>
          <p:nvPr/>
        </p:nvSpPr>
        <p:spPr bwMode="auto">
          <a:xfrm>
            <a:off x="6045200" y="5448300"/>
            <a:ext cx="287338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60" name="Elipse 43"/>
          <p:cNvSpPr>
            <a:spLocks noChangeArrowheads="1"/>
          </p:cNvSpPr>
          <p:nvPr/>
        </p:nvSpPr>
        <p:spPr bwMode="auto">
          <a:xfrm>
            <a:off x="6380163" y="4460875"/>
            <a:ext cx="287337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61" name="Elipse 44"/>
          <p:cNvSpPr>
            <a:spLocks noChangeArrowheads="1"/>
          </p:cNvSpPr>
          <p:nvPr/>
        </p:nvSpPr>
        <p:spPr bwMode="auto">
          <a:xfrm>
            <a:off x="6700838" y="4410075"/>
            <a:ext cx="288925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62" name="Elipse 45"/>
          <p:cNvSpPr>
            <a:spLocks noChangeArrowheads="1"/>
          </p:cNvSpPr>
          <p:nvPr/>
        </p:nvSpPr>
        <p:spPr bwMode="auto">
          <a:xfrm>
            <a:off x="6329363" y="4805363"/>
            <a:ext cx="287337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63" name="Elipse 46"/>
          <p:cNvSpPr>
            <a:spLocks noChangeArrowheads="1"/>
          </p:cNvSpPr>
          <p:nvPr/>
        </p:nvSpPr>
        <p:spPr bwMode="auto">
          <a:xfrm>
            <a:off x="6700838" y="4781550"/>
            <a:ext cx="288925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64" name="Elipse 47"/>
          <p:cNvSpPr>
            <a:spLocks noChangeArrowheads="1"/>
          </p:cNvSpPr>
          <p:nvPr/>
        </p:nvSpPr>
        <p:spPr bwMode="auto">
          <a:xfrm>
            <a:off x="7158038" y="4360863"/>
            <a:ext cx="288925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65" name="Elipse 48"/>
          <p:cNvSpPr>
            <a:spLocks noChangeArrowheads="1"/>
          </p:cNvSpPr>
          <p:nvPr/>
        </p:nvSpPr>
        <p:spPr bwMode="auto">
          <a:xfrm>
            <a:off x="7064375" y="4868863"/>
            <a:ext cx="287338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66" name="Elipse 49"/>
          <p:cNvSpPr>
            <a:spLocks noChangeArrowheads="1"/>
          </p:cNvSpPr>
          <p:nvPr/>
        </p:nvSpPr>
        <p:spPr bwMode="auto">
          <a:xfrm>
            <a:off x="6624638" y="5383213"/>
            <a:ext cx="287337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67" name="Elipse 50"/>
          <p:cNvSpPr>
            <a:spLocks noChangeArrowheads="1"/>
          </p:cNvSpPr>
          <p:nvPr/>
        </p:nvSpPr>
        <p:spPr bwMode="auto">
          <a:xfrm>
            <a:off x="7158038" y="5273675"/>
            <a:ext cx="288925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68" name="Elipse 51"/>
          <p:cNvSpPr>
            <a:spLocks noChangeArrowheads="1"/>
          </p:cNvSpPr>
          <p:nvPr/>
        </p:nvSpPr>
        <p:spPr bwMode="auto">
          <a:xfrm>
            <a:off x="7454900" y="4665663"/>
            <a:ext cx="287338" cy="287337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69" name="Elipse 61"/>
          <p:cNvSpPr>
            <a:spLocks noChangeArrowheads="1"/>
          </p:cNvSpPr>
          <p:nvPr/>
        </p:nvSpPr>
        <p:spPr bwMode="auto">
          <a:xfrm>
            <a:off x="4851400" y="4257675"/>
            <a:ext cx="287338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70" name="Elipse 62"/>
          <p:cNvSpPr>
            <a:spLocks noChangeArrowheads="1"/>
          </p:cNvSpPr>
          <p:nvPr/>
        </p:nvSpPr>
        <p:spPr bwMode="auto">
          <a:xfrm>
            <a:off x="5222875" y="4235450"/>
            <a:ext cx="288925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71" name="Elipse 63"/>
          <p:cNvSpPr>
            <a:spLocks noChangeArrowheads="1"/>
          </p:cNvSpPr>
          <p:nvPr/>
        </p:nvSpPr>
        <p:spPr bwMode="auto">
          <a:xfrm>
            <a:off x="5584825" y="4321175"/>
            <a:ext cx="288925" cy="287338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72" name="Elipse 64"/>
          <p:cNvSpPr>
            <a:spLocks noChangeArrowheads="1"/>
          </p:cNvSpPr>
          <p:nvPr/>
        </p:nvSpPr>
        <p:spPr bwMode="auto">
          <a:xfrm>
            <a:off x="5680075" y="4725988"/>
            <a:ext cx="288925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73" name="Elipse 65"/>
          <p:cNvSpPr>
            <a:spLocks noChangeArrowheads="1"/>
          </p:cNvSpPr>
          <p:nvPr/>
        </p:nvSpPr>
        <p:spPr bwMode="auto">
          <a:xfrm>
            <a:off x="5976938" y="4117975"/>
            <a:ext cx="287337" cy="28892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74" name="CuadroTexto 66"/>
          <p:cNvSpPr txBox="1">
            <a:spLocks noChangeArrowheads="1"/>
          </p:cNvSpPr>
          <p:nvPr/>
        </p:nvSpPr>
        <p:spPr bwMode="auto">
          <a:xfrm>
            <a:off x="2149475" y="5367338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X</a:t>
            </a:r>
          </a:p>
        </p:txBody>
      </p:sp>
      <p:sp>
        <p:nvSpPr>
          <p:cNvPr id="68" name="Elipse 67"/>
          <p:cNvSpPr/>
          <p:nvPr/>
        </p:nvSpPr>
        <p:spPr bwMode="auto">
          <a:xfrm>
            <a:off x="1652588" y="3844925"/>
            <a:ext cx="361950" cy="352425"/>
          </a:xfrm>
          <a:prstGeom prst="ellipse">
            <a:avLst/>
          </a:prstGeom>
          <a:solidFill>
            <a:srgbClr val="002060"/>
          </a:solidFill>
          <a:ln w="127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30776" name="Elipse 68"/>
          <p:cNvSpPr>
            <a:spLocks noChangeArrowheads="1"/>
          </p:cNvSpPr>
          <p:nvPr/>
        </p:nvSpPr>
        <p:spPr bwMode="auto">
          <a:xfrm>
            <a:off x="5200650" y="5089525"/>
            <a:ext cx="361950" cy="352425"/>
          </a:xfrm>
          <a:prstGeom prst="ellipse">
            <a:avLst/>
          </a:prstGeom>
          <a:solidFill>
            <a:srgbClr val="C00000"/>
          </a:solidFill>
          <a:ln w="12700" algn="ctr">
            <a:solidFill>
              <a:srgbClr val="C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77" name="Elipse 70"/>
          <p:cNvSpPr>
            <a:spLocks noChangeArrowheads="1"/>
          </p:cNvSpPr>
          <p:nvPr/>
        </p:nvSpPr>
        <p:spPr bwMode="auto">
          <a:xfrm>
            <a:off x="1387475" y="3605213"/>
            <a:ext cx="828675" cy="790575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78" name="Elipse 71"/>
          <p:cNvSpPr>
            <a:spLocks noChangeArrowheads="1"/>
          </p:cNvSpPr>
          <p:nvPr/>
        </p:nvSpPr>
        <p:spPr bwMode="auto">
          <a:xfrm>
            <a:off x="1173163" y="3332163"/>
            <a:ext cx="1293812" cy="1290637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79" name="Elipse 72"/>
          <p:cNvSpPr>
            <a:spLocks noChangeArrowheads="1"/>
          </p:cNvSpPr>
          <p:nvPr/>
        </p:nvSpPr>
        <p:spPr bwMode="auto">
          <a:xfrm>
            <a:off x="895350" y="3098800"/>
            <a:ext cx="1847850" cy="170656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0780" name="Elipse 73"/>
          <p:cNvSpPr>
            <a:spLocks noChangeArrowheads="1"/>
          </p:cNvSpPr>
          <p:nvPr/>
        </p:nvSpPr>
        <p:spPr bwMode="auto">
          <a:xfrm>
            <a:off x="668338" y="2894013"/>
            <a:ext cx="2287587" cy="2103437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grpSp>
        <p:nvGrpSpPr>
          <p:cNvPr id="30781" name="Grupo 78"/>
          <p:cNvGrpSpPr>
            <a:grpSpLocks/>
          </p:cNvGrpSpPr>
          <p:nvPr/>
        </p:nvGrpSpPr>
        <p:grpSpPr bwMode="auto">
          <a:xfrm rot="-623357">
            <a:off x="2144713" y="4170363"/>
            <a:ext cx="6473825" cy="2103437"/>
            <a:chOff x="979983" y="721818"/>
            <a:chExt cx="6474603" cy="2104117"/>
          </a:xfrm>
        </p:grpSpPr>
        <p:sp>
          <p:nvSpPr>
            <p:cNvPr id="30782" name="Elipse 74"/>
            <p:cNvSpPr>
              <a:spLocks noChangeArrowheads="1"/>
            </p:cNvSpPr>
            <p:nvPr/>
          </p:nvSpPr>
          <p:spPr bwMode="auto">
            <a:xfrm>
              <a:off x="3026377" y="1432868"/>
              <a:ext cx="2344202" cy="792088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0783" name="Elipse 75"/>
            <p:cNvSpPr>
              <a:spLocks noChangeArrowheads="1"/>
            </p:cNvSpPr>
            <p:nvPr/>
          </p:nvSpPr>
          <p:spPr bwMode="auto">
            <a:xfrm>
              <a:off x="2389430" y="1160949"/>
              <a:ext cx="3659325" cy="1290607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0784" name="Elipse 76"/>
            <p:cNvSpPr>
              <a:spLocks noChangeArrowheads="1"/>
            </p:cNvSpPr>
            <p:nvPr/>
          </p:nvSpPr>
          <p:spPr bwMode="auto">
            <a:xfrm>
              <a:off x="1606363" y="926467"/>
              <a:ext cx="5230762" cy="1706591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0785" name="Elipse 77"/>
            <p:cNvSpPr>
              <a:spLocks noChangeArrowheads="1"/>
            </p:cNvSpPr>
            <p:nvPr/>
          </p:nvSpPr>
          <p:spPr bwMode="auto">
            <a:xfrm>
              <a:off x="979983" y="721818"/>
              <a:ext cx="6474603" cy="2104117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746" name="Conector recto de flecha 3"/>
          <p:cNvCxnSpPr>
            <a:cxnSpLocks noChangeShapeType="1"/>
          </p:cNvCxnSpPr>
          <p:nvPr/>
        </p:nvCxnSpPr>
        <p:spPr bwMode="auto">
          <a:xfrm>
            <a:off x="684213" y="5876925"/>
            <a:ext cx="748823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47" name="Conector recto de flecha 4"/>
          <p:cNvCxnSpPr>
            <a:cxnSpLocks noChangeShapeType="1"/>
          </p:cNvCxnSpPr>
          <p:nvPr/>
        </p:nvCxnSpPr>
        <p:spPr bwMode="auto">
          <a:xfrm flipH="1" flipV="1">
            <a:off x="827088" y="981075"/>
            <a:ext cx="9525" cy="50482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48" name="CuadroTexto 5"/>
          <p:cNvSpPr txBox="1">
            <a:spLocks noChangeArrowheads="1"/>
          </p:cNvSpPr>
          <p:nvPr/>
        </p:nvSpPr>
        <p:spPr bwMode="auto">
          <a:xfrm>
            <a:off x="2149475" y="5367338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X</a:t>
            </a:r>
          </a:p>
        </p:txBody>
      </p:sp>
      <p:sp>
        <p:nvSpPr>
          <p:cNvPr id="7" name="Elipse 6"/>
          <p:cNvSpPr/>
          <p:nvPr/>
        </p:nvSpPr>
        <p:spPr bwMode="auto">
          <a:xfrm>
            <a:off x="1652588" y="3844925"/>
            <a:ext cx="361950" cy="352425"/>
          </a:xfrm>
          <a:prstGeom prst="ellipse">
            <a:avLst/>
          </a:prstGeom>
          <a:solidFill>
            <a:srgbClr val="002060"/>
          </a:solidFill>
          <a:ln w="127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31750" name="Elipse 7"/>
          <p:cNvSpPr>
            <a:spLocks noChangeArrowheads="1"/>
          </p:cNvSpPr>
          <p:nvPr/>
        </p:nvSpPr>
        <p:spPr bwMode="auto">
          <a:xfrm>
            <a:off x="5200650" y="5089525"/>
            <a:ext cx="361950" cy="352425"/>
          </a:xfrm>
          <a:prstGeom prst="ellipse">
            <a:avLst/>
          </a:prstGeom>
          <a:solidFill>
            <a:srgbClr val="C00000"/>
          </a:solidFill>
          <a:ln w="12700" algn="ctr">
            <a:solidFill>
              <a:srgbClr val="C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cxnSp>
        <p:nvCxnSpPr>
          <p:cNvPr id="31751" name="Conector recto 9"/>
          <p:cNvCxnSpPr>
            <a:cxnSpLocks noChangeShapeType="1"/>
          </p:cNvCxnSpPr>
          <p:nvPr/>
        </p:nvCxnSpPr>
        <p:spPr bwMode="auto">
          <a:xfrm>
            <a:off x="1835150" y="4076700"/>
            <a:ext cx="3529013" cy="115252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2" name="Conector recto 10"/>
          <p:cNvCxnSpPr>
            <a:cxnSpLocks noChangeShapeType="1"/>
          </p:cNvCxnSpPr>
          <p:nvPr/>
        </p:nvCxnSpPr>
        <p:spPr bwMode="auto">
          <a:xfrm flipH="1">
            <a:off x="2833688" y="2349500"/>
            <a:ext cx="1647825" cy="4400550"/>
          </a:xfrm>
          <a:prstGeom prst="line">
            <a:avLst/>
          </a:prstGeom>
          <a:noFill/>
          <a:ln w="762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Clasificación </a:t>
            </a:r>
            <a:br>
              <a:rPr lang="es-ES_tradnl" altLang="es-ES" smtClean="0"/>
            </a:br>
            <a:r>
              <a:rPr lang="es-ES_tradnl" altLang="es-ES" sz="3600" smtClean="0"/>
              <a:t>La covarianza</a:t>
            </a:r>
            <a:endParaRPr lang="es-ES_tradnl" altLang="es-ES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z="2800" smtClean="0"/>
              <a:t>Se define como </a:t>
            </a:r>
          </a:p>
          <a:p>
            <a:endParaRPr lang="es-ES_tradnl" altLang="es-ES" sz="2800" smtClean="0"/>
          </a:p>
          <a:p>
            <a:r>
              <a:rPr lang="es-ES_tradnl" altLang="es-ES" sz="2800" smtClean="0"/>
              <a:t>Los posibles valores de c(i,j) son :</a:t>
            </a:r>
          </a:p>
          <a:p>
            <a:pPr lvl="1"/>
            <a:r>
              <a:rPr lang="es-ES_tradnl" altLang="es-ES" sz="2400" i="1" smtClean="0"/>
              <a:t>Si c (i,j)&gt;0, ambas características tienden a crecer o decrecer juntas</a:t>
            </a:r>
          </a:p>
          <a:p>
            <a:pPr lvl="1"/>
            <a:r>
              <a:rPr lang="es-ES_tradnl" altLang="es-ES" sz="2400" i="1" smtClean="0"/>
              <a:t>Si c (i,j)&lt;0, cuando una característica crece, la otra decrece (y viceversa)</a:t>
            </a:r>
          </a:p>
          <a:p>
            <a:pPr lvl="1"/>
            <a:r>
              <a:rPr lang="es-ES_tradnl" altLang="es-ES" sz="2400" i="1" smtClean="0"/>
              <a:t>Si c (i,j)=0, ambas características se dice que son independientes</a:t>
            </a:r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3581400" y="1828800"/>
          <a:ext cx="44450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9" name="Ecuación" r:id="rId3" imgW="2222500" imgH="431800" progId="Equation.3">
                  <p:embed/>
                </p:oleObj>
              </mc:Choice>
              <mc:Fallback>
                <p:oleObj name="Ecuación" r:id="rId3" imgW="22225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828800"/>
                        <a:ext cx="44450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Clasificación </a:t>
            </a:r>
            <a:br>
              <a:rPr lang="es-ES_tradnl" altLang="es-ES" smtClean="0"/>
            </a:br>
            <a:r>
              <a:rPr lang="es-ES_tradnl" altLang="es-ES" sz="3600" smtClean="0"/>
              <a:t>La distancia de Mahalanobis</a:t>
            </a:r>
            <a:endParaRPr lang="es-ES_tradnl" altLang="es-ES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114800"/>
          </a:xfrm>
        </p:spPr>
        <p:txBody>
          <a:bodyPr/>
          <a:lstStyle/>
          <a:p>
            <a:r>
              <a:rPr lang="es-ES_tradnl" altLang="es-ES" sz="2800" smtClean="0"/>
              <a:t>La distancia de Mahalanobis se define como 		d(x,y) = x’ * C</a:t>
            </a:r>
            <a:r>
              <a:rPr lang="es-ES_tradnl" altLang="es-ES" sz="2800" baseline="30000" smtClean="0"/>
              <a:t>-1</a:t>
            </a:r>
            <a:r>
              <a:rPr lang="es-ES_tradnl" altLang="es-ES" sz="2800" smtClean="0"/>
              <a:t> * y </a:t>
            </a:r>
          </a:p>
          <a:p>
            <a:pPr lvl="1">
              <a:buFontTx/>
              <a:buNone/>
            </a:pPr>
            <a:r>
              <a:rPr lang="es-ES_tradnl" altLang="es-ES" sz="2400" smtClean="0"/>
              <a:t>donde C es la matriz de covarianza</a:t>
            </a:r>
          </a:p>
          <a:p>
            <a:r>
              <a:rPr lang="es-ES_tradnl" altLang="es-ES" sz="2800" smtClean="0"/>
              <a:t>El clasificador de mínima distancia de Mahalanobis utiliza para cada clase una media, y su matriz de covarianza</a:t>
            </a:r>
          </a:p>
          <a:p>
            <a:r>
              <a:rPr lang="es-ES_tradnl" altLang="es-ES" sz="2800" smtClean="0"/>
              <a:t>Propiedades</a:t>
            </a:r>
          </a:p>
          <a:p>
            <a:pPr lvl="1"/>
            <a:r>
              <a:rPr lang="es-ES_tradnl" altLang="es-ES" sz="2400" smtClean="0"/>
              <a:t>Escalado</a:t>
            </a:r>
          </a:p>
          <a:p>
            <a:pPr lvl="1"/>
            <a:r>
              <a:rPr lang="es-ES_tradnl" altLang="es-ES" sz="2400" smtClean="0"/>
              <a:t>Correlación</a:t>
            </a:r>
          </a:p>
          <a:p>
            <a:pPr lvl="1"/>
            <a:r>
              <a:rPr lang="es-ES_tradnl" altLang="es-ES" sz="2400" smtClean="0"/>
              <a:t>Límites no lineales entre clases</a:t>
            </a:r>
          </a:p>
        </p:txBody>
      </p:sp>
      <p:grpSp>
        <p:nvGrpSpPr>
          <p:cNvPr id="33796" name="Group 4"/>
          <p:cNvGrpSpPr>
            <a:grpSpLocks/>
          </p:cNvGrpSpPr>
          <p:nvPr/>
        </p:nvGrpSpPr>
        <p:grpSpPr bwMode="auto">
          <a:xfrm>
            <a:off x="6629400" y="3886200"/>
            <a:ext cx="1039813" cy="2520950"/>
            <a:chOff x="3727" y="2544"/>
            <a:chExt cx="1073" cy="1252"/>
          </a:xfrm>
        </p:grpSpPr>
        <p:sp>
          <p:nvSpPr>
            <p:cNvPr id="33797" name="Oval 5"/>
            <p:cNvSpPr>
              <a:spLocks noChangeArrowheads="1"/>
            </p:cNvSpPr>
            <p:nvPr/>
          </p:nvSpPr>
          <p:spPr bwMode="auto">
            <a:xfrm rot="2488133">
              <a:off x="3727" y="2544"/>
              <a:ext cx="1073" cy="125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3798" name="Oval 6"/>
            <p:cNvSpPr>
              <a:spLocks noChangeArrowheads="1"/>
            </p:cNvSpPr>
            <p:nvPr/>
          </p:nvSpPr>
          <p:spPr bwMode="auto">
            <a:xfrm rot="2490428">
              <a:off x="3853" y="2654"/>
              <a:ext cx="812" cy="101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3799" name="Oval 7"/>
            <p:cNvSpPr>
              <a:spLocks noChangeArrowheads="1"/>
            </p:cNvSpPr>
            <p:nvPr/>
          </p:nvSpPr>
          <p:spPr bwMode="auto">
            <a:xfrm rot="2488282">
              <a:off x="3935" y="2774"/>
              <a:ext cx="627" cy="76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3800" name="Oval 8"/>
            <p:cNvSpPr>
              <a:spLocks noChangeArrowheads="1"/>
            </p:cNvSpPr>
            <p:nvPr/>
          </p:nvSpPr>
          <p:spPr bwMode="auto">
            <a:xfrm rot="2486296">
              <a:off x="4018" y="2851"/>
              <a:ext cx="450" cy="6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3801" name="Text Box 9"/>
            <p:cNvSpPr txBox="1">
              <a:spLocks noChangeArrowheads="1"/>
            </p:cNvSpPr>
            <p:nvPr/>
          </p:nvSpPr>
          <p:spPr bwMode="auto">
            <a:xfrm>
              <a:off x="4140" y="3053"/>
              <a:ext cx="347" cy="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s-ES_tradnl" altLang="es-ES" sz="1800" b="1" i="0">
                  <a:latin typeface="Arial" panose="020B0604020202020204" pitchFamily="34" charset="0"/>
                </a:rPr>
                <a:t>X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95936" y="609600"/>
            <a:ext cx="5148064" cy="1143000"/>
          </a:xfrm>
        </p:spPr>
        <p:txBody>
          <a:bodyPr/>
          <a:lstStyle/>
          <a:p>
            <a:r>
              <a:rPr lang="es-ES" dirty="0" smtClean="0"/>
              <a:t>Ejemplo </a:t>
            </a:r>
            <a:br>
              <a:rPr lang="es-ES" dirty="0" smtClean="0"/>
            </a:br>
            <a:r>
              <a:rPr lang="es-ES" dirty="0" err="1" smtClean="0"/>
              <a:t>d_euclid</a:t>
            </a:r>
            <a:r>
              <a:rPr lang="es-ES" dirty="0" smtClean="0"/>
              <a:t> vs </a:t>
            </a:r>
            <a:r>
              <a:rPr lang="es-ES" dirty="0" err="1" smtClean="0"/>
              <a:t>d_mahal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116632"/>
            <a:ext cx="7772400" cy="5979368"/>
          </a:xfrm>
        </p:spPr>
        <p:txBody>
          <a:bodyPr/>
          <a:lstStyle/>
          <a:p>
            <a:pPr marL="0" indent="0">
              <a:buNone/>
            </a:pPr>
            <a:r>
              <a:rPr lang="es-ES" sz="1100" i="0" dirty="0" err="1">
                <a:latin typeface="Consolas" panose="020B0609020204030204" pitchFamily="49" charset="0"/>
              </a:rPr>
              <a:t>clc</a:t>
            </a:r>
            <a:r>
              <a:rPr lang="es-ES" sz="1100" i="0" dirty="0">
                <a:latin typeface="Consolas" panose="020B0609020204030204" pitchFamily="49" charset="0"/>
              </a:rPr>
              <a:t>, </a:t>
            </a:r>
            <a:r>
              <a:rPr lang="es-ES" sz="1100" i="0" dirty="0" err="1">
                <a:latin typeface="Consolas" panose="020B0609020204030204" pitchFamily="49" charset="0"/>
              </a:rPr>
              <a:t>clear</a:t>
            </a:r>
            <a:r>
              <a:rPr lang="es-ES" sz="1100" i="0" dirty="0">
                <a:latin typeface="Consolas" panose="020B0609020204030204" pitchFamily="49" charset="0"/>
              </a:rPr>
              <a:t> </a:t>
            </a:r>
            <a:r>
              <a:rPr lang="es-ES" sz="1100" i="0" dirty="0" err="1">
                <a:latin typeface="Consolas" panose="020B0609020204030204" pitchFamily="49" charset="0"/>
              </a:rPr>
              <a:t>all</a:t>
            </a:r>
            <a:r>
              <a:rPr lang="es-ES" sz="1100" i="0" dirty="0">
                <a:latin typeface="Consolas" panose="020B0609020204030204" pitchFamily="49" charset="0"/>
              </a:rPr>
              <a:t>, </a:t>
            </a:r>
            <a:r>
              <a:rPr lang="es-ES" sz="1100" i="0" dirty="0" err="1">
                <a:latin typeface="Consolas" panose="020B0609020204030204" pitchFamily="49" charset="0"/>
              </a:rPr>
              <a:t>close</a:t>
            </a:r>
            <a:r>
              <a:rPr lang="es-ES" sz="1100" i="0" dirty="0">
                <a:latin typeface="Consolas" panose="020B0609020204030204" pitchFamily="49" charset="0"/>
              </a:rPr>
              <a:t> </a:t>
            </a:r>
            <a:r>
              <a:rPr lang="es-ES" sz="1100" i="0" dirty="0" err="1">
                <a:latin typeface="Consolas" panose="020B0609020204030204" pitchFamily="49" charset="0"/>
              </a:rPr>
              <a:t>all</a:t>
            </a:r>
            <a:endParaRPr lang="es-ES" sz="1100" i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>
                <a:latin typeface="Consolas" panose="020B0609020204030204" pitchFamily="49" charset="0"/>
              </a:rPr>
              <a:t>load iris</a:t>
            </a:r>
          </a:p>
          <a:p>
            <a:pPr marL="0" indent="0">
              <a:buNone/>
            </a:pPr>
            <a:r>
              <a:rPr lang="es-ES" sz="1100" i="0" dirty="0">
                <a:latin typeface="Consolas" panose="020B0609020204030204" pitchFamily="49" charset="0"/>
              </a:rPr>
              <a:t>y = y+1;</a:t>
            </a:r>
          </a:p>
          <a:p>
            <a:pPr marL="0" indent="0">
              <a:buNone/>
            </a:pPr>
            <a:endParaRPr lang="es-ES" sz="1100" i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 err="1">
                <a:latin typeface="Consolas" panose="020B0609020204030204" pitchFamily="49" charset="0"/>
              </a:rPr>
              <a:t>for</a:t>
            </a:r>
            <a:r>
              <a:rPr lang="es-ES" sz="1100" i="0" dirty="0">
                <a:latin typeface="Consolas" panose="020B0609020204030204" pitchFamily="49" charset="0"/>
              </a:rPr>
              <a:t> </a:t>
            </a:r>
            <a:r>
              <a:rPr lang="es-ES" sz="1100" i="0" dirty="0" err="1">
                <a:latin typeface="Consolas" panose="020B0609020204030204" pitchFamily="49" charset="0"/>
              </a:rPr>
              <a:t>it</a:t>
            </a:r>
            <a:r>
              <a:rPr lang="es-ES" sz="1100" i="0" dirty="0">
                <a:latin typeface="Consolas" panose="020B0609020204030204" pitchFamily="49" charset="0"/>
              </a:rPr>
              <a:t>=1:1000</a:t>
            </a: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[</a:t>
            </a:r>
            <a:r>
              <a:rPr lang="es-ES" sz="1100" i="0" dirty="0" err="1">
                <a:latin typeface="Consolas" panose="020B0609020204030204" pitchFamily="49" charset="0"/>
              </a:rPr>
              <a:t>x,y</a:t>
            </a:r>
            <a:r>
              <a:rPr lang="es-ES" sz="1100" i="0" dirty="0">
                <a:latin typeface="Consolas" panose="020B0609020204030204" pitchFamily="49" charset="0"/>
              </a:rPr>
              <a:t>] = </a:t>
            </a:r>
            <a:r>
              <a:rPr lang="es-ES" sz="1100" i="0" dirty="0" err="1">
                <a:latin typeface="Consolas" panose="020B0609020204030204" pitchFamily="49" charset="0"/>
              </a:rPr>
              <a:t>shuffle</a:t>
            </a:r>
            <a:r>
              <a:rPr lang="es-ES" sz="1100" i="0" dirty="0">
                <a:latin typeface="Consolas" panose="020B0609020204030204" pitchFamily="49" charset="0"/>
              </a:rPr>
              <a:t>(</a:t>
            </a:r>
            <a:r>
              <a:rPr lang="es-ES" sz="1100" i="0" dirty="0" err="1">
                <a:latin typeface="Consolas" panose="020B0609020204030204" pitchFamily="49" charset="0"/>
              </a:rPr>
              <a:t>x,y</a:t>
            </a:r>
            <a:r>
              <a:rPr lang="es-ES" sz="1100" i="0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</a:t>
            </a:r>
            <a:r>
              <a:rPr lang="es-ES" sz="1100" i="0" dirty="0" err="1" smtClean="0">
                <a:latin typeface="Consolas" panose="020B0609020204030204" pitchFamily="49" charset="0"/>
              </a:rPr>
              <a:t>xtrn</a:t>
            </a:r>
            <a:r>
              <a:rPr lang="es-ES" sz="1100" i="0" dirty="0" smtClean="0">
                <a:latin typeface="Consolas" panose="020B0609020204030204" pitchFamily="49" charset="0"/>
              </a:rPr>
              <a:t> </a:t>
            </a:r>
            <a:r>
              <a:rPr lang="es-ES" sz="1100" i="0" dirty="0">
                <a:latin typeface="Consolas" panose="020B0609020204030204" pitchFamily="49" charset="0"/>
              </a:rPr>
              <a:t>= x(:,1:100); </a:t>
            </a:r>
            <a:r>
              <a:rPr lang="es-ES" sz="1100" i="0" dirty="0" err="1">
                <a:latin typeface="Consolas" panose="020B0609020204030204" pitchFamily="49" charset="0"/>
              </a:rPr>
              <a:t>ytrn</a:t>
            </a:r>
            <a:r>
              <a:rPr lang="es-ES" sz="1100" i="0" dirty="0">
                <a:latin typeface="Consolas" panose="020B0609020204030204" pitchFamily="49" charset="0"/>
              </a:rPr>
              <a:t>=y(1:100);</a:t>
            </a: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</a:t>
            </a:r>
            <a:r>
              <a:rPr lang="es-ES" sz="1100" i="0" dirty="0" err="1" smtClean="0">
                <a:latin typeface="Consolas" panose="020B0609020204030204" pitchFamily="49" charset="0"/>
              </a:rPr>
              <a:t>xtst</a:t>
            </a:r>
            <a:r>
              <a:rPr lang="es-ES" sz="1100" i="0" dirty="0" smtClean="0">
                <a:latin typeface="Consolas" panose="020B0609020204030204" pitchFamily="49" charset="0"/>
              </a:rPr>
              <a:t> </a:t>
            </a:r>
            <a:r>
              <a:rPr lang="es-ES" sz="1100" i="0" dirty="0">
                <a:latin typeface="Consolas" panose="020B0609020204030204" pitchFamily="49" charset="0"/>
              </a:rPr>
              <a:t>= x(:,101:150); </a:t>
            </a:r>
            <a:r>
              <a:rPr lang="es-ES" sz="1100" i="0" dirty="0" err="1">
                <a:latin typeface="Consolas" panose="020B0609020204030204" pitchFamily="49" charset="0"/>
              </a:rPr>
              <a:t>ytst</a:t>
            </a:r>
            <a:r>
              <a:rPr lang="es-ES" sz="1100" i="0" dirty="0">
                <a:latin typeface="Consolas" panose="020B0609020204030204" pitchFamily="49" charset="0"/>
              </a:rPr>
              <a:t>=y(101:150);</a:t>
            </a: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</a:t>
            </a:r>
            <a:r>
              <a:rPr lang="es-ES" sz="1100" i="0" dirty="0" err="1" smtClean="0">
                <a:latin typeface="Consolas" panose="020B0609020204030204" pitchFamily="49" charset="0"/>
              </a:rPr>
              <a:t>for</a:t>
            </a:r>
            <a:r>
              <a:rPr lang="es-ES" sz="1100" i="0" dirty="0" smtClean="0">
                <a:latin typeface="Consolas" panose="020B0609020204030204" pitchFamily="49" charset="0"/>
              </a:rPr>
              <a:t> i=1:3</a:t>
            </a: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  </a:t>
            </a:r>
            <a:r>
              <a:rPr lang="es-ES" sz="1100" i="0" dirty="0" err="1" smtClean="0">
                <a:latin typeface="Consolas" panose="020B0609020204030204" pitchFamily="49" charset="0"/>
              </a:rPr>
              <a:t>ind</a:t>
            </a:r>
            <a:r>
              <a:rPr lang="es-ES" sz="1100" i="0" dirty="0" smtClean="0">
                <a:latin typeface="Consolas" panose="020B0609020204030204" pitchFamily="49" charset="0"/>
              </a:rPr>
              <a:t> = </a:t>
            </a:r>
            <a:r>
              <a:rPr lang="es-ES" sz="1100" i="0" dirty="0" err="1" smtClean="0">
                <a:latin typeface="Consolas" panose="020B0609020204030204" pitchFamily="49" charset="0"/>
              </a:rPr>
              <a:t>find</a:t>
            </a:r>
            <a:r>
              <a:rPr lang="es-ES" sz="1100" i="0" dirty="0" smtClean="0">
                <a:latin typeface="Consolas" panose="020B0609020204030204" pitchFamily="49" charset="0"/>
              </a:rPr>
              <a:t>(</a:t>
            </a:r>
            <a:r>
              <a:rPr lang="es-ES" sz="1100" i="0" dirty="0" err="1" smtClean="0">
                <a:latin typeface="Consolas" panose="020B0609020204030204" pitchFamily="49" charset="0"/>
              </a:rPr>
              <a:t>ytrn</a:t>
            </a:r>
            <a:r>
              <a:rPr lang="es-ES" sz="1100" i="0" dirty="0" smtClean="0">
                <a:latin typeface="Consolas" panose="020B0609020204030204" pitchFamily="49" charset="0"/>
              </a:rPr>
              <a:t>==i);</a:t>
            </a: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  m{i} = </a:t>
            </a:r>
            <a:r>
              <a:rPr lang="es-ES" sz="1100" i="0" dirty="0" err="1" smtClean="0">
                <a:latin typeface="Consolas" panose="020B0609020204030204" pitchFamily="49" charset="0"/>
              </a:rPr>
              <a:t>meanpat</a:t>
            </a:r>
            <a:r>
              <a:rPr lang="es-ES" sz="1100" i="0" dirty="0" smtClean="0">
                <a:latin typeface="Consolas" panose="020B0609020204030204" pitchFamily="49" charset="0"/>
              </a:rPr>
              <a:t>(</a:t>
            </a:r>
            <a:r>
              <a:rPr lang="es-ES" sz="1100" i="0" dirty="0" err="1" smtClean="0">
                <a:latin typeface="Consolas" panose="020B0609020204030204" pitchFamily="49" charset="0"/>
              </a:rPr>
              <a:t>xtrn</a:t>
            </a:r>
            <a:r>
              <a:rPr lang="es-ES" sz="1100" i="0" dirty="0" smtClean="0">
                <a:latin typeface="Consolas" panose="020B0609020204030204" pitchFamily="49" charset="0"/>
              </a:rPr>
              <a:t>(:,</a:t>
            </a:r>
            <a:r>
              <a:rPr lang="es-ES" sz="1100" i="0" dirty="0" err="1" smtClean="0">
                <a:latin typeface="Consolas" panose="020B0609020204030204" pitchFamily="49" charset="0"/>
              </a:rPr>
              <a:t>ind</a:t>
            </a:r>
            <a:r>
              <a:rPr lang="es-ES" sz="1100" i="0" dirty="0" smtClean="0"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  C{i} = </a:t>
            </a:r>
            <a:r>
              <a:rPr lang="es-ES" sz="1100" i="0" dirty="0" err="1" smtClean="0">
                <a:latin typeface="Consolas" panose="020B0609020204030204" pitchFamily="49" charset="0"/>
              </a:rPr>
              <a:t>covpat</a:t>
            </a:r>
            <a:r>
              <a:rPr lang="es-ES" sz="1100" i="0" dirty="0" smtClean="0">
                <a:latin typeface="Consolas" panose="020B0609020204030204" pitchFamily="49" charset="0"/>
              </a:rPr>
              <a:t>(</a:t>
            </a:r>
            <a:r>
              <a:rPr lang="es-ES" sz="1100" i="0" dirty="0" err="1" smtClean="0">
                <a:latin typeface="Consolas" panose="020B0609020204030204" pitchFamily="49" charset="0"/>
              </a:rPr>
              <a:t>xtrn</a:t>
            </a:r>
            <a:r>
              <a:rPr lang="es-ES" sz="1100" i="0" dirty="0" smtClean="0">
                <a:latin typeface="Consolas" panose="020B0609020204030204" pitchFamily="49" charset="0"/>
              </a:rPr>
              <a:t>(:,</a:t>
            </a:r>
            <a:r>
              <a:rPr lang="es-ES" sz="1100" i="0" dirty="0" err="1" smtClean="0">
                <a:latin typeface="Consolas" panose="020B0609020204030204" pitchFamily="49" charset="0"/>
              </a:rPr>
              <a:t>ind</a:t>
            </a:r>
            <a:r>
              <a:rPr lang="es-ES" sz="1100" i="0" dirty="0" smtClean="0">
                <a:latin typeface="Consolas" panose="020B0609020204030204" pitchFamily="49" charset="0"/>
              </a:rPr>
              <a:t>)); </a:t>
            </a: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</a:t>
            </a:r>
            <a:r>
              <a:rPr lang="es-ES" sz="1100" i="0" dirty="0" err="1" smtClean="0">
                <a:latin typeface="Consolas" panose="020B0609020204030204" pitchFamily="49" charset="0"/>
              </a:rPr>
              <a:t>end</a:t>
            </a:r>
            <a:endParaRPr lang="es-ES" sz="1100" i="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% CLASIFICADOR MINIMA DISTANCIA USANDO DISTANCIA EUCLIDEA</a:t>
            </a:r>
            <a:endParaRPr lang="es-ES" sz="1100" i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</a:t>
            </a:r>
            <a:r>
              <a:rPr lang="es-ES" sz="1100" i="0" dirty="0" err="1" smtClean="0">
                <a:latin typeface="Consolas" panose="020B0609020204030204" pitchFamily="49" charset="0"/>
              </a:rPr>
              <a:t>for</a:t>
            </a:r>
            <a:r>
              <a:rPr lang="es-ES" sz="1100" i="0" dirty="0" smtClean="0">
                <a:latin typeface="Consolas" panose="020B0609020204030204" pitchFamily="49" charset="0"/>
              </a:rPr>
              <a:t> i=1:3    </a:t>
            </a:r>
            <a:endParaRPr lang="es-ES" sz="1100" i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  d1(i</a:t>
            </a:r>
            <a:r>
              <a:rPr lang="es-ES" sz="1100" i="0" dirty="0">
                <a:latin typeface="Consolas" panose="020B0609020204030204" pitchFamily="49" charset="0"/>
              </a:rPr>
              <a:t>,:)=</a:t>
            </a:r>
            <a:r>
              <a:rPr lang="es-ES" sz="1100" i="0" dirty="0" err="1">
                <a:latin typeface="Consolas" panose="020B0609020204030204" pitchFamily="49" charset="0"/>
              </a:rPr>
              <a:t>d_euclid</a:t>
            </a:r>
            <a:r>
              <a:rPr lang="es-ES" sz="1100" i="0" dirty="0">
                <a:latin typeface="Consolas" panose="020B0609020204030204" pitchFamily="49" charset="0"/>
              </a:rPr>
              <a:t>(</a:t>
            </a:r>
            <a:r>
              <a:rPr lang="es-ES" sz="1100" i="0" dirty="0" err="1">
                <a:latin typeface="Consolas" panose="020B0609020204030204" pitchFamily="49" charset="0"/>
              </a:rPr>
              <a:t>xtst,m</a:t>
            </a:r>
            <a:r>
              <a:rPr lang="es-ES" sz="1100" i="0" dirty="0">
                <a:latin typeface="Consolas" panose="020B0609020204030204" pitchFamily="49" charset="0"/>
              </a:rPr>
              <a:t>{i</a:t>
            </a:r>
            <a:r>
              <a:rPr lang="es-ES" sz="1100" i="0" dirty="0" smtClean="0">
                <a:latin typeface="Consolas" panose="020B0609020204030204" pitchFamily="49" charset="0"/>
              </a:rPr>
              <a:t>}); </a:t>
            </a:r>
          </a:p>
          <a:p>
            <a:pPr marL="0" indent="0">
              <a:buNone/>
            </a:pPr>
            <a:r>
              <a:rPr lang="es-ES" sz="1100" i="0" dirty="0">
                <a:latin typeface="Consolas" panose="020B0609020204030204" pitchFamily="49" charset="0"/>
              </a:rPr>
              <a:t> </a:t>
            </a:r>
            <a:r>
              <a:rPr lang="es-ES" sz="1100" i="0" dirty="0" smtClean="0">
                <a:latin typeface="Consolas" panose="020B0609020204030204" pitchFamily="49" charset="0"/>
              </a:rPr>
              <a:t> </a:t>
            </a:r>
            <a:r>
              <a:rPr lang="es-ES" sz="1100" i="0" dirty="0" err="1" smtClean="0">
                <a:latin typeface="Consolas" panose="020B0609020204030204" pitchFamily="49" charset="0"/>
              </a:rPr>
              <a:t>end</a:t>
            </a:r>
            <a:endParaRPr lang="es-ES" sz="1100" i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[~,</a:t>
            </a:r>
            <a:r>
              <a:rPr lang="es-ES" sz="1100" i="0" dirty="0">
                <a:latin typeface="Consolas" panose="020B0609020204030204" pitchFamily="49" charset="0"/>
              </a:rPr>
              <a:t>clase]=</a:t>
            </a:r>
            <a:r>
              <a:rPr lang="es-ES" sz="1100" i="0" dirty="0" smtClean="0">
                <a:latin typeface="Consolas" panose="020B0609020204030204" pitchFamily="49" charset="0"/>
              </a:rPr>
              <a:t>min(d1);</a:t>
            </a:r>
            <a:endParaRPr lang="es-ES" sz="1100" i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</a:t>
            </a:r>
            <a:r>
              <a:rPr lang="es-ES" sz="1100" i="0" dirty="0" err="1" smtClean="0">
                <a:latin typeface="Consolas" panose="020B0609020204030204" pitchFamily="49" charset="0"/>
              </a:rPr>
              <a:t>num_errores</a:t>
            </a:r>
            <a:r>
              <a:rPr lang="es-ES" sz="1100" i="0" dirty="0" smtClean="0">
                <a:latin typeface="Consolas" panose="020B0609020204030204" pitchFamily="49" charset="0"/>
              </a:rPr>
              <a:t> </a:t>
            </a:r>
            <a:r>
              <a:rPr lang="es-ES" sz="1100" i="0" dirty="0">
                <a:latin typeface="Consolas" panose="020B0609020204030204" pitchFamily="49" charset="0"/>
              </a:rPr>
              <a:t>= </a:t>
            </a:r>
            <a:r>
              <a:rPr lang="es-ES" sz="1100" i="0" dirty="0" err="1">
                <a:latin typeface="Consolas" panose="020B0609020204030204" pitchFamily="49" charset="0"/>
              </a:rPr>
              <a:t>length</a:t>
            </a:r>
            <a:r>
              <a:rPr lang="es-ES" sz="1100" i="0" dirty="0">
                <a:latin typeface="Consolas" panose="020B0609020204030204" pitchFamily="49" charset="0"/>
              </a:rPr>
              <a:t>(</a:t>
            </a:r>
            <a:r>
              <a:rPr lang="es-ES" sz="1100" i="0" dirty="0" err="1">
                <a:latin typeface="Consolas" panose="020B0609020204030204" pitchFamily="49" charset="0"/>
              </a:rPr>
              <a:t>find</a:t>
            </a:r>
            <a:r>
              <a:rPr lang="es-ES" sz="1100" i="0" dirty="0">
                <a:latin typeface="Consolas" panose="020B0609020204030204" pitchFamily="49" charset="0"/>
              </a:rPr>
              <a:t>(</a:t>
            </a:r>
            <a:r>
              <a:rPr lang="es-ES" sz="1100" i="0" dirty="0" err="1">
                <a:latin typeface="Consolas" panose="020B0609020204030204" pitchFamily="49" charset="0"/>
              </a:rPr>
              <a:t>ytst</a:t>
            </a:r>
            <a:r>
              <a:rPr lang="es-ES" sz="1100" i="0" dirty="0">
                <a:latin typeface="Consolas" panose="020B0609020204030204" pitchFamily="49" charset="0"/>
              </a:rPr>
              <a:t>~=clase));</a:t>
            </a: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tasa_error1(</a:t>
            </a:r>
            <a:r>
              <a:rPr lang="es-ES" sz="1100" i="0" dirty="0" err="1" smtClean="0">
                <a:latin typeface="Consolas" panose="020B0609020204030204" pitchFamily="49" charset="0"/>
              </a:rPr>
              <a:t>it</a:t>
            </a:r>
            <a:r>
              <a:rPr lang="es-ES" sz="1100" i="0" dirty="0">
                <a:latin typeface="Consolas" panose="020B0609020204030204" pitchFamily="49" charset="0"/>
              </a:rPr>
              <a:t>) = </a:t>
            </a:r>
            <a:r>
              <a:rPr lang="es-ES" sz="1100" i="0" dirty="0" err="1">
                <a:latin typeface="Consolas" panose="020B0609020204030204" pitchFamily="49" charset="0"/>
              </a:rPr>
              <a:t>num_errores</a:t>
            </a:r>
            <a:r>
              <a:rPr lang="es-ES" sz="1100" i="0" dirty="0">
                <a:latin typeface="Consolas" panose="020B0609020204030204" pitchFamily="49" charset="0"/>
              </a:rPr>
              <a:t>/</a:t>
            </a:r>
            <a:r>
              <a:rPr lang="es-ES" sz="1100" i="0" dirty="0" err="1">
                <a:latin typeface="Consolas" panose="020B0609020204030204" pitchFamily="49" charset="0"/>
              </a:rPr>
              <a:t>length</a:t>
            </a:r>
            <a:r>
              <a:rPr lang="es-ES" sz="1100" i="0" dirty="0">
                <a:latin typeface="Consolas" panose="020B0609020204030204" pitchFamily="49" charset="0"/>
              </a:rPr>
              <a:t>(</a:t>
            </a:r>
            <a:r>
              <a:rPr lang="es-ES" sz="1100" i="0" dirty="0" err="1">
                <a:latin typeface="Consolas" panose="020B0609020204030204" pitchFamily="49" charset="0"/>
              </a:rPr>
              <a:t>ytst</a:t>
            </a:r>
            <a:r>
              <a:rPr lang="es-ES" sz="1100" i="0" dirty="0">
                <a:latin typeface="Consolas" panose="020B0609020204030204" pitchFamily="49" charset="0"/>
              </a:rPr>
              <a:t>)*100</a:t>
            </a:r>
            <a:r>
              <a:rPr lang="es-ES" sz="1100" i="0" dirty="0" smtClean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s-ES" sz="1100" i="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>
                <a:latin typeface="Consolas" panose="020B0609020204030204" pitchFamily="49" charset="0"/>
              </a:rPr>
              <a:t> </a:t>
            </a:r>
            <a:r>
              <a:rPr lang="es-ES" sz="1100" i="0" dirty="0" smtClean="0">
                <a:latin typeface="Consolas" panose="020B0609020204030204" pitchFamily="49" charset="0"/>
              </a:rPr>
              <a:t> % CLASIFICADOR MINIMA DISTANCIA USANDO DISTANCIA MAHALANOBIS</a:t>
            </a:r>
            <a:endParaRPr lang="es-ES" sz="1100" i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</a:t>
            </a:r>
            <a:r>
              <a:rPr lang="es-ES" sz="1100" i="0" dirty="0" err="1" smtClean="0">
                <a:latin typeface="Consolas" panose="020B0609020204030204" pitchFamily="49" charset="0"/>
              </a:rPr>
              <a:t>for</a:t>
            </a:r>
            <a:r>
              <a:rPr lang="es-ES" sz="1100" i="0" dirty="0" smtClean="0">
                <a:latin typeface="Consolas" panose="020B0609020204030204" pitchFamily="49" charset="0"/>
              </a:rPr>
              <a:t> </a:t>
            </a:r>
            <a:r>
              <a:rPr lang="es-ES" sz="1100" i="0" dirty="0">
                <a:latin typeface="Consolas" panose="020B0609020204030204" pitchFamily="49" charset="0"/>
              </a:rPr>
              <a:t>i=1:3</a:t>
            </a: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  d2(i</a:t>
            </a:r>
            <a:r>
              <a:rPr lang="es-ES" sz="1100" i="0" dirty="0">
                <a:latin typeface="Consolas" panose="020B0609020204030204" pitchFamily="49" charset="0"/>
              </a:rPr>
              <a:t>,:)=</a:t>
            </a:r>
            <a:r>
              <a:rPr lang="es-ES" sz="1100" i="0" dirty="0" err="1">
                <a:latin typeface="Consolas" panose="020B0609020204030204" pitchFamily="49" charset="0"/>
              </a:rPr>
              <a:t>d_mahal</a:t>
            </a:r>
            <a:r>
              <a:rPr lang="es-ES" sz="1100" i="0" dirty="0">
                <a:latin typeface="Consolas" panose="020B0609020204030204" pitchFamily="49" charset="0"/>
              </a:rPr>
              <a:t>(</a:t>
            </a:r>
            <a:r>
              <a:rPr lang="es-ES" sz="1100" i="0" dirty="0" err="1">
                <a:latin typeface="Consolas" panose="020B0609020204030204" pitchFamily="49" charset="0"/>
              </a:rPr>
              <a:t>xtst,m</a:t>
            </a:r>
            <a:r>
              <a:rPr lang="es-ES" sz="1100" i="0" dirty="0">
                <a:latin typeface="Consolas" panose="020B0609020204030204" pitchFamily="49" charset="0"/>
              </a:rPr>
              <a:t>{i},C{i});</a:t>
            </a: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</a:t>
            </a:r>
            <a:r>
              <a:rPr lang="es-ES" sz="1100" i="0" dirty="0" err="1" smtClean="0">
                <a:latin typeface="Consolas" panose="020B0609020204030204" pitchFamily="49" charset="0"/>
              </a:rPr>
              <a:t>end</a:t>
            </a:r>
            <a:endParaRPr lang="es-ES" sz="1100" i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[~,</a:t>
            </a:r>
            <a:r>
              <a:rPr lang="es-ES" sz="1100" i="0" dirty="0">
                <a:latin typeface="Consolas" panose="020B0609020204030204" pitchFamily="49" charset="0"/>
              </a:rPr>
              <a:t>clase]=</a:t>
            </a:r>
            <a:r>
              <a:rPr lang="es-ES" sz="1100" i="0" dirty="0" smtClean="0">
                <a:latin typeface="Consolas" panose="020B0609020204030204" pitchFamily="49" charset="0"/>
              </a:rPr>
              <a:t>min(d2);</a:t>
            </a:r>
            <a:endParaRPr lang="es-ES" sz="1100" i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</a:t>
            </a:r>
            <a:r>
              <a:rPr lang="es-ES" sz="1100" i="0" dirty="0" err="1" smtClean="0">
                <a:latin typeface="Consolas" panose="020B0609020204030204" pitchFamily="49" charset="0"/>
              </a:rPr>
              <a:t>num_errores</a:t>
            </a:r>
            <a:r>
              <a:rPr lang="es-ES" sz="1100" i="0" dirty="0" smtClean="0">
                <a:latin typeface="Consolas" panose="020B0609020204030204" pitchFamily="49" charset="0"/>
              </a:rPr>
              <a:t> </a:t>
            </a:r>
            <a:r>
              <a:rPr lang="es-ES" sz="1100" i="0" dirty="0">
                <a:latin typeface="Consolas" panose="020B0609020204030204" pitchFamily="49" charset="0"/>
              </a:rPr>
              <a:t>= </a:t>
            </a:r>
            <a:r>
              <a:rPr lang="es-ES" sz="1100" i="0" dirty="0" err="1">
                <a:latin typeface="Consolas" panose="020B0609020204030204" pitchFamily="49" charset="0"/>
              </a:rPr>
              <a:t>length</a:t>
            </a:r>
            <a:r>
              <a:rPr lang="es-ES" sz="1100" i="0" dirty="0">
                <a:latin typeface="Consolas" panose="020B0609020204030204" pitchFamily="49" charset="0"/>
              </a:rPr>
              <a:t>(</a:t>
            </a:r>
            <a:r>
              <a:rPr lang="es-ES" sz="1100" i="0" dirty="0" err="1">
                <a:latin typeface="Consolas" panose="020B0609020204030204" pitchFamily="49" charset="0"/>
              </a:rPr>
              <a:t>find</a:t>
            </a:r>
            <a:r>
              <a:rPr lang="es-ES" sz="1100" i="0" dirty="0">
                <a:latin typeface="Consolas" panose="020B0609020204030204" pitchFamily="49" charset="0"/>
              </a:rPr>
              <a:t>(</a:t>
            </a:r>
            <a:r>
              <a:rPr lang="es-ES" sz="1100" i="0" dirty="0" err="1">
                <a:latin typeface="Consolas" panose="020B0609020204030204" pitchFamily="49" charset="0"/>
              </a:rPr>
              <a:t>ytst</a:t>
            </a:r>
            <a:r>
              <a:rPr lang="es-ES" sz="1100" i="0" dirty="0">
                <a:latin typeface="Consolas" panose="020B0609020204030204" pitchFamily="49" charset="0"/>
              </a:rPr>
              <a:t>~=clase));</a:t>
            </a:r>
          </a:p>
          <a:p>
            <a:pPr marL="0" indent="0">
              <a:buNone/>
            </a:pPr>
            <a:r>
              <a:rPr lang="es-ES" sz="1100" i="0" dirty="0" smtClean="0">
                <a:latin typeface="Consolas" panose="020B0609020204030204" pitchFamily="49" charset="0"/>
              </a:rPr>
              <a:t>  tasa_error2(</a:t>
            </a:r>
            <a:r>
              <a:rPr lang="es-ES" sz="1100" i="0" dirty="0" err="1" smtClean="0">
                <a:latin typeface="Consolas" panose="020B0609020204030204" pitchFamily="49" charset="0"/>
              </a:rPr>
              <a:t>it</a:t>
            </a:r>
            <a:r>
              <a:rPr lang="es-ES" sz="1100" i="0" dirty="0">
                <a:latin typeface="Consolas" panose="020B0609020204030204" pitchFamily="49" charset="0"/>
              </a:rPr>
              <a:t>) = </a:t>
            </a:r>
            <a:r>
              <a:rPr lang="es-ES" sz="1100" i="0" dirty="0" err="1">
                <a:latin typeface="Consolas" panose="020B0609020204030204" pitchFamily="49" charset="0"/>
              </a:rPr>
              <a:t>num_errores</a:t>
            </a:r>
            <a:r>
              <a:rPr lang="es-ES" sz="1100" i="0" dirty="0">
                <a:latin typeface="Consolas" panose="020B0609020204030204" pitchFamily="49" charset="0"/>
              </a:rPr>
              <a:t>/</a:t>
            </a:r>
            <a:r>
              <a:rPr lang="es-ES" sz="1100" i="0" dirty="0" err="1">
                <a:latin typeface="Consolas" panose="020B0609020204030204" pitchFamily="49" charset="0"/>
              </a:rPr>
              <a:t>length</a:t>
            </a:r>
            <a:r>
              <a:rPr lang="es-ES" sz="1100" i="0" dirty="0">
                <a:latin typeface="Consolas" panose="020B0609020204030204" pitchFamily="49" charset="0"/>
              </a:rPr>
              <a:t>(</a:t>
            </a:r>
            <a:r>
              <a:rPr lang="es-ES" sz="1100" i="0" dirty="0" err="1">
                <a:latin typeface="Consolas" panose="020B0609020204030204" pitchFamily="49" charset="0"/>
              </a:rPr>
              <a:t>ytst</a:t>
            </a:r>
            <a:r>
              <a:rPr lang="es-ES" sz="1100" i="0" dirty="0">
                <a:latin typeface="Consolas" panose="020B0609020204030204" pitchFamily="49" charset="0"/>
              </a:rPr>
              <a:t>)*100</a:t>
            </a:r>
            <a:r>
              <a:rPr lang="es-ES" sz="1100" i="0" dirty="0" smtClean="0">
                <a:latin typeface="Consolas" panose="020B0609020204030204" pitchFamily="49" charset="0"/>
              </a:rPr>
              <a:t>;</a:t>
            </a:r>
            <a:endParaRPr lang="es-ES" sz="1100" i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 err="1" smtClean="0">
                <a:latin typeface="Consolas" panose="020B0609020204030204" pitchFamily="49" charset="0"/>
              </a:rPr>
              <a:t>end</a:t>
            </a:r>
            <a:endParaRPr lang="es-ES" sz="1100" i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i="0" dirty="0" err="1">
                <a:latin typeface="Consolas" panose="020B0609020204030204" pitchFamily="49" charset="0"/>
              </a:rPr>
              <a:t>boxplot</a:t>
            </a:r>
            <a:r>
              <a:rPr lang="es-ES" sz="1100" i="0" dirty="0">
                <a:latin typeface="Consolas" panose="020B0609020204030204" pitchFamily="49" charset="0"/>
              </a:rPr>
              <a:t>([tasa_error1' tasa_error2'])</a:t>
            </a:r>
          </a:p>
          <a:p>
            <a:pPr marL="0" indent="0">
              <a:buNone/>
            </a:pPr>
            <a:r>
              <a:rPr lang="es-ES" sz="1100" i="0" dirty="0">
                <a:latin typeface="Consolas" panose="020B0609020204030204" pitchFamily="49" charset="0"/>
              </a:rPr>
              <a:t/>
            </a:r>
            <a:br>
              <a:rPr lang="es-ES" sz="1100" i="0" dirty="0">
                <a:latin typeface="Consolas" panose="020B0609020204030204" pitchFamily="49" charset="0"/>
              </a:rPr>
            </a:br>
            <a:endParaRPr lang="es-ES" sz="1100" i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650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s-ES" altLang="es-ES" sz="2400" smtClean="0"/>
              <a:t>Estimacion error </a:t>
            </a:r>
            <a:br>
              <a:rPr lang="es-ES" altLang="es-ES" sz="2400" smtClean="0"/>
            </a:br>
            <a:r>
              <a:rPr lang="es-ES" altLang="es-ES" sz="2400" smtClean="0"/>
              <a:t>Método: distancia mínima (Mahalanobis)</a:t>
            </a:r>
            <a:br>
              <a:rPr lang="es-ES" altLang="es-ES" sz="2400" smtClean="0"/>
            </a:br>
            <a:r>
              <a:rPr lang="es-ES" altLang="es-ES" sz="2400" smtClean="0"/>
              <a:t>Validación: CV10+random sampling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1154113"/>
            <a:ext cx="7772400" cy="41148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clc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endParaRPr lang="es-ES" sz="105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load iris</a:t>
            </a: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y = y+1;</a:t>
            </a:r>
          </a:p>
          <a:p>
            <a:pPr marL="0" indent="0">
              <a:buFontTx/>
              <a:buNone/>
              <a:defRPr/>
            </a:pP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 n=1:1000</a:t>
            </a: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s-ES" sz="105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shuffle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indent="0">
              <a:buFontTx/>
              <a:buNone/>
              <a:defRPr/>
            </a:pP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numerrores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FontTx/>
              <a:buNone/>
              <a:defRPr/>
            </a:pP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 k=1:10</a:t>
            </a: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xtrn,xtst,ytrn,ytst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crossval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(x,y,10,k);</a:t>
            </a: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% Calcular la media de cada clase - Entrenar</a:t>
            </a:r>
          </a:p>
          <a:p>
            <a:pPr marL="0" indent="0">
              <a:buFontTx/>
              <a:buNone/>
              <a:defRPr/>
            </a:pP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 i=1:3</a:t>
            </a:r>
          </a:p>
          <a:p>
            <a:pPr marL="0" indent="0">
              <a:buFontTx/>
              <a:buNone/>
              <a:defRPr/>
            </a:pP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ytrn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==i);</a:t>
            </a: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m{i} = 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meanpat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xtrn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(:,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C{i} = 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covpat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xtrn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(:,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</a:p>
          <a:p>
            <a:pPr marL="0" indent="0">
              <a:buFontTx/>
              <a:buNone/>
              <a:defRPr/>
            </a:pP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s-ES" sz="105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Clasificacion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 - Reconocer</a:t>
            </a:r>
          </a:p>
          <a:p>
            <a:pPr marL="0" indent="0">
              <a:buFontTx/>
              <a:buNone/>
              <a:defRPr/>
            </a:pP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 i=1:3</a:t>
            </a: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d(i,:)=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d_mahal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xtst,m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{i},C{i});</a:t>
            </a:r>
          </a:p>
          <a:p>
            <a:pPr marL="0" indent="0">
              <a:buFontTx/>
              <a:buNone/>
              <a:defRPr/>
            </a:pP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s-ES" sz="105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[~,clase]=min(d);</a:t>
            </a:r>
          </a:p>
          <a:p>
            <a:pPr marL="0" indent="0">
              <a:buFontTx/>
              <a:buNone/>
              <a:defRPr/>
            </a:pP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numerrores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numerrores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ytst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~=clase));</a:t>
            </a:r>
          </a:p>
          <a:p>
            <a:pPr marL="0" indent="0">
              <a:buFontTx/>
              <a:buNone/>
              <a:defRPr/>
            </a:pP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s-ES" sz="105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E(n) = 100-100*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numerrores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" sz="105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(y);</a:t>
            </a:r>
          </a:p>
          <a:p>
            <a:pPr marL="0" indent="0">
              <a:buFontTx/>
              <a:buNone/>
              <a:defRPr/>
            </a:pPr>
            <a:endParaRPr lang="es-ES" sz="105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s-ES" sz="105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s-ES" sz="105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s-ES" sz="1050" i="0" dirty="0">
                <a:latin typeface="Courier New" panose="02070309020205020404" pitchFamily="49" charset="0"/>
                <a:cs typeface="Courier New" panose="02070309020205020404" pitchFamily="49" charset="0"/>
              </a:rPr>
              <a:t>mean(E)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0"/>
            <a:ext cx="7772400" cy="1143000"/>
          </a:xfrm>
        </p:spPr>
        <p:txBody>
          <a:bodyPr/>
          <a:lstStyle/>
          <a:p>
            <a:r>
              <a:rPr lang="es-ES_tradnl" altLang="es-ES" smtClean="0"/>
              <a:t>Clasificación </a:t>
            </a:r>
            <a:br>
              <a:rPr lang="es-ES_tradnl" altLang="es-ES" smtClean="0"/>
            </a:br>
            <a:r>
              <a:rPr lang="es-ES" altLang="es-ES" sz="4000" smtClean="0"/>
              <a:t>Medidas de distancia</a:t>
            </a:r>
          </a:p>
        </p:txBody>
      </p:sp>
      <p:pic>
        <p:nvPicPr>
          <p:cNvPr id="35843" name="Picture 1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412875"/>
            <a:ext cx="9144000" cy="5399088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839200" cy="1143000"/>
          </a:xfrm>
        </p:spPr>
        <p:txBody>
          <a:bodyPr/>
          <a:lstStyle/>
          <a:p>
            <a:r>
              <a:rPr lang="es-ES_tradnl" altLang="es-ES" smtClean="0"/>
              <a:t>Clasificación </a:t>
            </a:r>
            <a:br>
              <a:rPr lang="es-ES_tradnl" altLang="es-ES" smtClean="0"/>
            </a:br>
            <a:r>
              <a:rPr lang="es-ES_tradnl" altLang="es-ES" sz="3600" smtClean="0"/>
              <a:t>Problemás del método de la mínima distancia</a:t>
            </a:r>
            <a:endParaRPr lang="es-ES_tradnl" altLang="es-ES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209800"/>
            <a:ext cx="7772400" cy="4114800"/>
          </a:xfrm>
        </p:spPr>
        <p:txBody>
          <a:bodyPr/>
          <a:lstStyle/>
          <a:p>
            <a:r>
              <a:rPr lang="es-ES_tradnl" altLang="es-ES" sz="2400" smtClean="0"/>
              <a:t>Características inadecuadas</a:t>
            </a:r>
          </a:p>
          <a:p>
            <a:r>
              <a:rPr lang="es-ES_tradnl" altLang="es-ES" sz="2400" smtClean="0"/>
              <a:t>Alta correlación</a:t>
            </a:r>
          </a:p>
          <a:p>
            <a:r>
              <a:rPr lang="es-ES_tradnl" altLang="es-ES" sz="2400" smtClean="0"/>
              <a:t>Fronteras de decisión no lineales</a:t>
            </a:r>
          </a:p>
          <a:p>
            <a:r>
              <a:rPr lang="es-ES_tradnl" altLang="es-ES" sz="2400" smtClean="0"/>
              <a:t>Existencia de subcategorías</a:t>
            </a:r>
          </a:p>
          <a:p>
            <a:r>
              <a:rPr lang="es-ES_tradnl" altLang="es-ES" sz="2400" smtClean="0"/>
              <a:t>Separación entre clases muy complejas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1295400" y="4495800"/>
          <a:ext cx="6934200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name="Foto de Photo Editor" r:id="rId3" imgW="2542857" imgH="790476" progId="MSPhotoEd.3">
                  <p:embed/>
                </p:oleObj>
              </mc:Choice>
              <mc:Fallback>
                <p:oleObj name="Foto de Photo Editor" r:id="rId3" imgW="2542857" imgH="790476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495800"/>
                        <a:ext cx="6934200" cy="215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AutoShape 5"/>
          <p:cNvSpPr>
            <a:spLocks/>
          </p:cNvSpPr>
          <p:nvPr/>
        </p:nvSpPr>
        <p:spPr bwMode="auto">
          <a:xfrm>
            <a:off x="6172200" y="2362200"/>
            <a:ext cx="304800" cy="1981200"/>
          </a:xfrm>
          <a:prstGeom prst="rightBrace">
            <a:avLst>
              <a:gd name="adj1" fmla="val 541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6546850" y="2971800"/>
            <a:ext cx="2597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Solución : la extracción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de características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Clasificación </a:t>
            </a:r>
            <a:br>
              <a:rPr lang="es-ES_tradnl" altLang="es-ES" smtClean="0"/>
            </a:br>
            <a:r>
              <a:rPr lang="es-ES_tradnl" altLang="es-ES" smtClean="0"/>
              <a:t>M</a:t>
            </a:r>
            <a:r>
              <a:rPr lang="es-ES" altLang="es-ES" sz="4000" smtClean="0"/>
              <a:t>últiples prototipos =&gt; Clustering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altLang="es-ES" sz="2800" smtClean="0"/>
              <a:t>¿ Y si en vez de un único prototipo por cada clase, seleccionamos varios prototipos ?</a:t>
            </a:r>
          </a:p>
        </p:txBody>
      </p:sp>
      <p:grpSp>
        <p:nvGrpSpPr>
          <p:cNvPr id="37892" name="Group 5"/>
          <p:cNvGrpSpPr>
            <a:grpSpLocks/>
          </p:cNvGrpSpPr>
          <p:nvPr/>
        </p:nvGrpSpPr>
        <p:grpSpPr bwMode="auto">
          <a:xfrm>
            <a:off x="5273675" y="4819650"/>
            <a:ext cx="1066800" cy="838200"/>
            <a:chOff x="3024" y="2064"/>
            <a:chExt cx="672" cy="528"/>
          </a:xfrm>
        </p:grpSpPr>
        <p:sp>
          <p:nvSpPr>
            <p:cNvPr id="37976" name="Oval 6"/>
            <p:cNvSpPr>
              <a:spLocks noChangeArrowheads="1"/>
            </p:cNvSpPr>
            <p:nvPr/>
          </p:nvSpPr>
          <p:spPr bwMode="auto">
            <a:xfrm>
              <a:off x="3264" y="235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77" name="Oval 7"/>
            <p:cNvSpPr>
              <a:spLocks noChangeArrowheads="1"/>
            </p:cNvSpPr>
            <p:nvPr/>
          </p:nvSpPr>
          <p:spPr bwMode="auto">
            <a:xfrm>
              <a:off x="3360" y="244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78" name="Oval 8"/>
            <p:cNvSpPr>
              <a:spLocks noChangeArrowheads="1"/>
            </p:cNvSpPr>
            <p:nvPr/>
          </p:nvSpPr>
          <p:spPr bwMode="auto">
            <a:xfrm>
              <a:off x="3456" y="206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79" name="Oval 9"/>
            <p:cNvSpPr>
              <a:spLocks noChangeArrowheads="1"/>
            </p:cNvSpPr>
            <p:nvPr/>
          </p:nvSpPr>
          <p:spPr bwMode="auto">
            <a:xfrm>
              <a:off x="3552" y="220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80" name="Oval 10"/>
            <p:cNvSpPr>
              <a:spLocks noChangeArrowheads="1"/>
            </p:cNvSpPr>
            <p:nvPr/>
          </p:nvSpPr>
          <p:spPr bwMode="auto">
            <a:xfrm>
              <a:off x="3648" y="230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81" name="Oval 11"/>
            <p:cNvSpPr>
              <a:spLocks noChangeArrowheads="1"/>
            </p:cNvSpPr>
            <p:nvPr/>
          </p:nvSpPr>
          <p:spPr bwMode="auto">
            <a:xfrm>
              <a:off x="3024" y="240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82" name="Oval 12"/>
            <p:cNvSpPr>
              <a:spLocks noChangeArrowheads="1"/>
            </p:cNvSpPr>
            <p:nvPr/>
          </p:nvSpPr>
          <p:spPr bwMode="auto">
            <a:xfrm>
              <a:off x="3120" y="249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83" name="Oval 13"/>
            <p:cNvSpPr>
              <a:spLocks noChangeArrowheads="1"/>
            </p:cNvSpPr>
            <p:nvPr/>
          </p:nvSpPr>
          <p:spPr bwMode="auto">
            <a:xfrm>
              <a:off x="3216" y="211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84" name="Oval 14"/>
            <p:cNvSpPr>
              <a:spLocks noChangeArrowheads="1"/>
            </p:cNvSpPr>
            <p:nvPr/>
          </p:nvSpPr>
          <p:spPr bwMode="auto">
            <a:xfrm>
              <a:off x="3312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85" name="Oval 15"/>
            <p:cNvSpPr>
              <a:spLocks noChangeArrowheads="1"/>
            </p:cNvSpPr>
            <p:nvPr/>
          </p:nvSpPr>
          <p:spPr bwMode="auto">
            <a:xfrm>
              <a:off x="3408" y="235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86" name="Oval 16"/>
            <p:cNvSpPr>
              <a:spLocks noChangeArrowheads="1"/>
            </p:cNvSpPr>
            <p:nvPr/>
          </p:nvSpPr>
          <p:spPr bwMode="auto">
            <a:xfrm>
              <a:off x="3504" y="244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87" name="Oval 17"/>
            <p:cNvSpPr>
              <a:spLocks noChangeArrowheads="1"/>
            </p:cNvSpPr>
            <p:nvPr/>
          </p:nvSpPr>
          <p:spPr bwMode="auto">
            <a:xfrm>
              <a:off x="3600" y="254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88" name="Oval 18"/>
            <p:cNvSpPr>
              <a:spLocks noChangeArrowheads="1"/>
            </p:cNvSpPr>
            <p:nvPr/>
          </p:nvSpPr>
          <p:spPr bwMode="auto">
            <a:xfrm>
              <a:off x="3024" y="216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7989" name="Oval 19"/>
            <p:cNvSpPr>
              <a:spLocks noChangeArrowheads="1"/>
            </p:cNvSpPr>
            <p:nvPr/>
          </p:nvSpPr>
          <p:spPr bwMode="auto">
            <a:xfrm>
              <a:off x="3120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</p:grpSp>
      <p:sp>
        <p:nvSpPr>
          <p:cNvPr id="37893" name="Oval 20"/>
          <p:cNvSpPr>
            <a:spLocks noChangeArrowheads="1"/>
          </p:cNvSpPr>
          <p:nvPr/>
        </p:nvSpPr>
        <p:spPr bwMode="auto">
          <a:xfrm>
            <a:off x="2911475" y="36242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894" name="Oval 21"/>
          <p:cNvSpPr>
            <a:spLocks noChangeArrowheads="1"/>
          </p:cNvSpPr>
          <p:nvPr/>
        </p:nvSpPr>
        <p:spPr bwMode="auto">
          <a:xfrm>
            <a:off x="3063875" y="37766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895" name="Oval 22"/>
          <p:cNvSpPr>
            <a:spLocks noChangeArrowheads="1"/>
          </p:cNvSpPr>
          <p:nvPr/>
        </p:nvSpPr>
        <p:spPr bwMode="auto">
          <a:xfrm>
            <a:off x="3216275" y="31670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896" name="Oval 23"/>
          <p:cNvSpPr>
            <a:spLocks noChangeArrowheads="1"/>
          </p:cNvSpPr>
          <p:nvPr/>
        </p:nvSpPr>
        <p:spPr bwMode="auto">
          <a:xfrm>
            <a:off x="3368675" y="33956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897" name="Oval 24"/>
          <p:cNvSpPr>
            <a:spLocks noChangeArrowheads="1"/>
          </p:cNvSpPr>
          <p:nvPr/>
        </p:nvSpPr>
        <p:spPr bwMode="auto">
          <a:xfrm>
            <a:off x="3521075" y="35480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898" name="Oval 25"/>
          <p:cNvSpPr>
            <a:spLocks noChangeArrowheads="1"/>
          </p:cNvSpPr>
          <p:nvPr/>
        </p:nvSpPr>
        <p:spPr bwMode="auto">
          <a:xfrm>
            <a:off x="2530475" y="37004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899" name="Oval 26"/>
          <p:cNvSpPr>
            <a:spLocks noChangeArrowheads="1"/>
          </p:cNvSpPr>
          <p:nvPr/>
        </p:nvSpPr>
        <p:spPr bwMode="auto">
          <a:xfrm>
            <a:off x="2682875" y="38528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00" name="Oval 27"/>
          <p:cNvSpPr>
            <a:spLocks noChangeArrowheads="1"/>
          </p:cNvSpPr>
          <p:nvPr/>
        </p:nvSpPr>
        <p:spPr bwMode="auto">
          <a:xfrm>
            <a:off x="2835275" y="32432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01" name="Oval 28"/>
          <p:cNvSpPr>
            <a:spLocks noChangeArrowheads="1"/>
          </p:cNvSpPr>
          <p:nvPr/>
        </p:nvSpPr>
        <p:spPr bwMode="auto">
          <a:xfrm>
            <a:off x="2987675" y="34718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02" name="Oval 29"/>
          <p:cNvSpPr>
            <a:spLocks noChangeArrowheads="1"/>
          </p:cNvSpPr>
          <p:nvPr/>
        </p:nvSpPr>
        <p:spPr bwMode="auto">
          <a:xfrm>
            <a:off x="3140075" y="36242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03" name="Oval 30"/>
          <p:cNvSpPr>
            <a:spLocks noChangeArrowheads="1"/>
          </p:cNvSpPr>
          <p:nvPr/>
        </p:nvSpPr>
        <p:spPr bwMode="auto">
          <a:xfrm>
            <a:off x="3292475" y="37766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04" name="Oval 31"/>
          <p:cNvSpPr>
            <a:spLocks noChangeArrowheads="1"/>
          </p:cNvSpPr>
          <p:nvPr/>
        </p:nvSpPr>
        <p:spPr bwMode="auto">
          <a:xfrm>
            <a:off x="3444875" y="39290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05" name="Oval 32"/>
          <p:cNvSpPr>
            <a:spLocks noChangeArrowheads="1"/>
          </p:cNvSpPr>
          <p:nvPr/>
        </p:nvSpPr>
        <p:spPr bwMode="auto">
          <a:xfrm>
            <a:off x="2530475" y="33194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06" name="Oval 33"/>
          <p:cNvSpPr>
            <a:spLocks noChangeArrowheads="1"/>
          </p:cNvSpPr>
          <p:nvPr/>
        </p:nvSpPr>
        <p:spPr bwMode="auto">
          <a:xfrm>
            <a:off x="2682875" y="34718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07" name="Oval 34"/>
          <p:cNvSpPr>
            <a:spLocks noChangeArrowheads="1"/>
          </p:cNvSpPr>
          <p:nvPr/>
        </p:nvSpPr>
        <p:spPr bwMode="auto">
          <a:xfrm>
            <a:off x="3825875" y="58102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08" name="Oval 35"/>
          <p:cNvSpPr>
            <a:spLocks noChangeArrowheads="1"/>
          </p:cNvSpPr>
          <p:nvPr/>
        </p:nvSpPr>
        <p:spPr bwMode="auto">
          <a:xfrm>
            <a:off x="3978275" y="59626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09" name="Oval 36"/>
          <p:cNvSpPr>
            <a:spLocks noChangeArrowheads="1"/>
          </p:cNvSpPr>
          <p:nvPr/>
        </p:nvSpPr>
        <p:spPr bwMode="auto">
          <a:xfrm>
            <a:off x="4130675" y="53530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10" name="Oval 37"/>
          <p:cNvSpPr>
            <a:spLocks noChangeArrowheads="1"/>
          </p:cNvSpPr>
          <p:nvPr/>
        </p:nvSpPr>
        <p:spPr bwMode="auto">
          <a:xfrm>
            <a:off x="4283075" y="55816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11" name="Oval 38"/>
          <p:cNvSpPr>
            <a:spLocks noChangeArrowheads="1"/>
          </p:cNvSpPr>
          <p:nvPr/>
        </p:nvSpPr>
        <p:spPr bwMode="auto">
          <a:xfrm>
            <a:off x="4435475" y="57340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12" name="Oval 39"/>
          <p:cNvSpPr>
            <a:spLocks noChangeArrowheads="1"/>
          </p:cNvSpPr>
          <p:nvPr/>
        </p:nvSpPr>
        <p:spPr bwMode="auto">
          <a:xfrm>
            <a:off x="4283075" y="52768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13" name="Oval 40"/>
          <p:cNvSpPr>
            <a:spLocks noChangeArrowheads="1"/>
          </p:cNvSpPr>
          <p:nvPr/>
        </p:nvSpPr>
        <p:spPr bwMode="auto">
          <a:xfrm>
            <a:off x="4435475" y="54292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14" name="Oval 41"/>
          <p:cNvSpPr>
            <a:spLocks noChangeArrowheads="1"/>
          </p:cNvSpPr>
          <p:nvPr/>
        </p:nvSpPr>
        <p:spPr bwMode="auto">
          <a:xfrm>
            <a:off x="3749675" y="54292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15" name="Oval 42"/>
          <p:cNvSpPr>
            <a:spLocks noChangeArrowheads="1"/>
          </p:cNvSpPr>
          <p:nvPr/>
        </p:nvSpPr>
        <p:spPr bwMode="auto">
          <a:xfrm>
            <a:off x="3902075" y="56578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16" name="Oval 43"/>
          <p:cNvSpPr>
            <a:spLocks noChangeArrowheads="1"/>
          </p:cNvSpPr>
          <p:nvPr/>
        </p:nvSpPr>
        <p:spPr bwMode="auto">
          <a:xfrm>
            <a:off x="4054475" y="58102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17" name="Oval 44"/>
          <p:cNvSpPr>
            <a:spLocks noChangeArrowheads="1"/>
          </p:cNvSpPr>
          <p:nvPr/>
        </p:nvSpPr>
        <p:spPr bwMode="auto">
          <a:xfrm>
            <a:off x="4206875" y="59626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18" name="Oval 45"/>
          <p:cNvSpPr>
            <a:spLocks noChangeArrowheads="1"/>
          </p:cNvSpPr>
          <p:nvPr/>
        </p:nvSpPr>
        <p:spPr bwMode="auto">
          <a:xfrm>
            <a:off x="4359275" y="61150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19" name="Oval 46"/>
          <p:cNvSpPr>
            <a:spLocks noChangeArrowheads="1"/>
          </p:cNvSpPr>
          <p:nvPr/>
        </p:nvSpPr>
        <p:spPr bwMode="auto">
          <a:xfrm>
            <a:off x="3444875" y="55054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20" name="Oval 47"/>
          <p:cNvSpPr>
            <a:spLocks noChangeArrowheads="1"/>
          </p:cNvSpPr>
          <p:nvPr/>
        </p:nvSpPr>
        <p:spPr bwMode="auto">
          <a:xfrm>
            <a:off x="3597275" y="56578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21" name="Oval 48"/>
          <p:cNvSpPr>
            <a:spLocks noChangeArrowheads="1"/>
          </p:cNvSpPr>
          <p:nvPr/>
        </p:nvSpPr>
        <p:spPr bwMode="auto">
          <a:xfrm>
            <a:off x="3978275" y="36242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22" name="Oval 49"/>
          <p:cNvSpPr>
            <a:spLocks noChangeArrowheads="1"/>
          </p:cNvSpPr>
          <p:nvPr/>
        </p:nvSpPr>
        <p:spPr bwMode="auto">
          <a:xfrm>
            <a:off x="4130675" y="37766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23" name="Oval 50"/>
          <p:cNvSpPr>
            <a:spLocks noChangeArrowheads="1"/>
          </p:cNvSpPr>
          <p:nvPr/>
        </p:nvSpPr>
        <p:spPr bwMode="auto">
          <a:xfrm>
            <a:off x="4283075" y="31670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24" name="Oval 51"/>
          <p:cNvSpPr>
            <a:spLocks noChangeArrowheads="1"/>
          </p:cNvSpPr>
          <p:nvPr/>
        </p:nvSpPr>
        <p:spPr bwMode="auto">
          <a:xfrm>
            <a:off x="4435475" y="33956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25" name="Oval 52"/>
          <p:cNvSpPr>
            <a:spLocks noChangeArrowheads="1"/>
          </p:cNvSpPr>
          <p:nvPr/>
        </p:nvSpPr>
        <p:spPr bwMode="auto">
          <a:xfrm>
            <a:off x="4587875" y="35480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26" name="Oval 53"/>
          <p:cNvSpPr>
            <a:spLocks noChangeArrowheads="1"/>
          </p:cNvSpPr>
          <p:nvPr/>
        </p:nvSpPr>
        <p:spPr bwMode="auto">
          <a:xfrm>
            <a:off x="3597275" y="37004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27" name="Oval 54"/>
          <p:cNvSpPr>
            <a:spLocks noChangeArrowheads="1"/>
          </p:cNvSpPr>
          <p:nvPr/>
        </p:nvSpPr>
        <p:spPr bwMode="auto">
          <a:xfrm>
            <a:off x="3749675" y="38528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28" name="Oval 55"/>
          <p:cNvSpPr>
            <a:spLocks noChangeArrowheads="1"/>
          </p:cNvSpPr>
          <p:nvPr/>
        </p:nvSpPr>
        <p:spPr bwMode="auto">
          <a:xfrm>
            <a:off x="3902075" y="32432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29" name="Oval 56"/>
          <p:cNvSpPr>
            <a:spLocks noChangeArrowheads="1"/>
          </p:cNvSpPr>
          <p:nvPr/>
        </p:nvSpPr>
        <p:spPr bwMode="auto">
          <a:xfrm>
            <a:off x="4054475" y="34718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30" name="Oval 57"/>
          <p:cNvSpPr>
            <a:spLocks noChangeArrowheads="1"/>
          </p:cNvSpPr>
          <p:nvPr/>
        </p:nvSpPr>
        <p:spPr bwMode="auto">
          <a:xfrm>
            <a:off x="4206875" y="36242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31" name="Oval 58"/>
          <p:cNvSpPr>
            <a:spLocks noChangeArrowheads="1"/>
          </p:cNvSpPr>
          <p:nvPr/>
        </p:nvSpPr>
        <p:spPr bwMode="auto">
          <a:xfrm>
            <a:off x="4359275" y="37766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32" name="Oval 59"/>
          <p:cNvSpPr>
            <a:spLocks noChangeArrowheads="1"/>
          </p:cNvSpPr>
          <p:nvPr/>
        </p:nvSpPr>
        <p:spPr bwMode="auto">
          <a:xfrm>
            <a:off x="4511675" y="39290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33" name="Oval 60"/>
          <p:cNvSpPr>
            <a:spLocks noChangeArrowheads="1"/>
          </p:cNvSpPr>
          <p:nvPr/>
        </p:nvSpPr>
        <p:spPr bwMode="auto">
          <a:xfrm>
            <a:off x="3597275" y="33194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34" name="Oval 61"/>
          <p:cNvSpPr>
            <a:spLocks noChangeArrowheads="1"/>
          </p:cNvSpPr>
          <p:nvPr/>
        </p:nvSpPr>
        <p:spPr bwMode="auto">
          <a:xfrm>
            <a:off x="3749675" y="34718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35" name="Oval 62"/>
          <p:cNvSpPr>
            <a:spLocks noChangeArrowheads="1"/>
          </p:cNvSpPr>
          <p:nvPr/>
        </p:nvSpPr>
        <p:spPr bwMode="auto">
          <a:xfrm>
            <a:off x="6035675" y="59626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36" name="Oval 63"/>
          <p:cNvSpPr>
            <a:spLocks noChangeArrowheads="1"/>
          </p:cNvSpPr>
          <p:nvPr/>
        </p:nvSpPr>
        <p:spPr bwMode="auto">
          <a:xfrm>
            <a:off x="6188075" y="61150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37" name="Oval 64"/>
          <p:cNvSpPr>
            <a:spLocks noChangeArrowheads="1"/>
          </p:cNvSpPr>
          <p:nvPr/>
        </p:nvSpPr>
        <p:spPr bwMode="auto">
          <a:xfrm>
            <a:off x="6340475" y="55054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38" name="Oval 65"/>
          <p:cNvSpPr>
            <a:spLocks noChangeArrowheads="1"/>
          </p:cNvSpPr>
          <p:nvPr/>
        </p:nvSpPr>
        <p:spPr bwMode="auto">
          <a:xfrm>
            <a:off x="6492875" y="57340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39" name="Oval 66"/>
          <p:cNvSpPr>
            <a:spLocks noChangeArrowheads="1"/>
          </p:cNvSpPr>
          <p:nvPr/>
        </p:nvSpPr>
        <p:spPr bwMode="auto">
          <a:xfrm>
            <a:off x="6645275" y="58864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40" name="Oval 67"/>
          <p:cNvSpPr>
            <a:spLocks noChangeArrowheads="1"/>
          </p:cNvSpPr>
          <p:nvPr/>
        </p:nvSpPr>
        <p:spPr bwMode="auto">
          <a:xfrm>
            <a:off x="5654675" y="60388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41" name="Oval 68"/>
          <p:cNvSpPr>
            <a:spLocks noChangeArrowheads="1"/>
          </p:cNvSpPr>
          <p:nvPr/>
        </p:nvSpPr>
        <p:spPr bwMode="auto">
          <a:xfrm>
            <a:off x="5807075" y="61912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42" name="Oval 69"/>
          <p:cNvSpPr>
            <a:spLocks noChangeArrowheads="1"/>
          </p:cNvSpPr>
          <p:nvPr/>
        </p:nvSpPr>
        <p:spPr bwMode="auto">
          <a:xfrm>
            <a:off x="5959475" y="55816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43" name="Oval 70"/>
          <p:cNvSpPr>
            <a:spLocks noChangeArrowheads="1"/>
          </p:cNvSpPr>
          <p:nvPr/>
        </p:nvSpPr>
        <p:spPr bwMode="auto">
          <a:xfrm>
            <a:off x="6111875" y="58102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44" name="Oval 71"/>
          <p:cNvSpPr>
            <a:spLocks noChangeArrowheads="1"/>
          </p:cNvSpPr>
          <p:nvPr/>
        </p:nvSpPr>
        <p:spPr bwMode="auto">
          <a:xfrm>
            <a:off x="6264275" y="59626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45" name="Oval 72"/>
          <p:cNvSpPr>
            <a:spLocks noChangeArrowheads="1"/>
          </p:cNvSpPr>
          <p:nvPr/>
        </p:nvSpPr>
        <p:spPr bwMode="auto">
          <a:xfrm>
            <a:off x="6416675" y="61150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46" name="Oval 73"/>
          <p:cNvSpPr>
            <a:spLocks noChangeArrowheads="1"/>
          </p:cNvSpPr>
          <p:nvPr/>
        </p:nvSpPr>
        <p:spPr bwMode="auto">
          <a:xfrm>
            <a:off x="6569075" y="62674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47" name="Oval 74"/>
          <p:cNvSpPr>
            <a:spLocks noChangeArrowheads="1"/>
          </p:cNvSpPr>
          <p:nvPr/>
        </p:nvSpPr>
        <p:spPr bwMode="auto">
          <a:xfrm>
            <a:off x="5654675" y="56578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48" name="Oval 75"/>
          <p:cNvSpPr>
            <a:spLocks noChangeArrowheads="1"/>
          </p:cNvSpPr>
          <p:nvPr/>
        </p:nvSpPr>
        <p:spPr bwMode="auto">
          <a:xfrm>
            <a:off x="5807075" y="58102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49" name="Text Box 76"/>
          <p:cNvSpPr txBox="1">
            <a:spLocks noChangeArrowheads="1"/>
          </p:cNvSpPr>
          <p:nvPr/>
        </p:nvSpPr>
        <p:spPr bwMode="auto">
          <a:xfrm>
            <a:off x="2714625" y="33226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400" b="1" i="0">
                <a:solidFill>
                  <a:schemeClr val="accent2"/>
                </a:solidFill>
                <a:latin typeface="Arial" panose="020B0604020202020204" pitchFamily="34" charset="0"/>
                <a:sym typeface="Marlett" pitchFamily="2" charset="2"/>
              </a:rPr>
              <a:t></a:t>
            </a:r>
            <a:endParaRPr lang="es-ES_tradnl" altLang="es-ES" sz="2400" b="1" i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7950" name="Oval 77"/>
          <p:cNvSpPr>
            <a:spLocks noChangeArrowheads="1"/>
          </p:cNvSpPr>
          <p:nvPr/>
        </p:nvSpPr>
        <p:spPr bwMode="auto">
          <a:xfrm>
            <a:off x="4968875" y="60388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51" name="Oval 78"/>
          <p:cNvSpPr>
            <a:spLocks noChangeArrowheads="1"/>
          </p:cNvSpPr>
          <p:nvPr/>
        </p:nvSpPr>
        <p:spPr bwMode="auto">
          <a:xfrm>
            <a:off x="5121275" y="54292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52" name="Oval 79"/>
          <p:cNvSpPr>
            <a:spLocks noChangeArrowheads="1"/>
          </p:cNvSpPr>
          <p:nvPr/>
        </p:nvSpPr>
        <p:spPr bwMode="auto">
          <a:xfrm>
            <a:off x="5273675" y="56578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53" name="Oval 80"/>
          <p:cNvSpPr>
            <a:spLocks noChangeArrowheads="1"/>
          </p:cNvSpPr>
          <p:nvPr/>
        </p:nvSpPr>
        <p:spPr bwMode="auto">
          <a:xfrm>
            <a:off x="5426075" y="58102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54" name="Oval 81"/>
          <p:cNvSpPr>
            <a:spLocks noChangeArrowheads="1"/>
          </p:cNvSpPr>
          <p:nvPr/>
        </p:nvSpPr>
        <p:spPr bwMode="auto">
          <a:xfrm>
            <a:off x="5045075" y="58864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55" name="Oval 82"/>
          <p:cNvSpPr>
            <a:spLocks noChangeArrowheads="1"/>
          </p:cNvSpPr>
          <p:nvPr/>
        </p:nvSpPr>
        <p:spPr bwMode="auto">
          <a:xfrm>
            <a:off x="5197475" y="60388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56" name="Oval 83"/>
          <p:cNvSpPr>
            <a:spLocks noChangeArrowheads="1"/>
          </p:cNvSpPr>
          <p:nvPr/>
        </p:nvSpPr>
        <p:spPr bwMode="auto">
          <a:xfrm>
            <a:off x="5349875" y="61912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37957" name="Line 84"/>
          <p:cNvSpPr>
            <a:spLocks noChangeShapeType="1"/>
          </p:cNvSpPr>
          <p:nvPr/>
        </p:nvSpPr>
        <p:spPr bwMode="auto">
          <a:xfrm flipV="1">
            <a:off x="1920875" y="2914650"/>
            <a:ext cx="0" cy="411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37958" name="Line 85"/>
          <p:cNvSpPr>
            <a:spLocks noChangeShapeType="1"/>
          </p:cNvSpPr>
          <p:nvPr/>
        </p:nvSpPr>
        <p:spPr bwMode="auto">
          <a:xfrm>
            <a:off x="1768475" y="6648450"/>
            <a:ext cx="556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37959" name="Text Box 86"/>
          <p:cNvSpPr txBox="1">
            <a:spLocks noChangeArrowheads="1"/>
          </p:cNvSpPr>
          <p:nvPr/>
        </p:nvSpPr>
        <p:spPr bwMode="auto">
          <a:xfrm>
            <a:off x="7315200" y="615156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37960" name="Text Box 87"/>
          <p:cNvSpPr txBox="1">
            <a:spLocks noChangeArrowheads="1"/>
          </p:cNvSpPr>
          <p:nvPr/>
        </p:nvSpPr>
        <p:spPr bwMode="auto">
          <a:xfrm>
            <a:off x="1371600" y="272256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37961" name="Text Box 88"/>
          <p:cNvSpPr txBox="1">
            <a:spLocks noChangeArrowheads="1"/>
          </p:cNvSpPr>
          <p:nvPr/>
        </p:nvSpPr>
        <p:spPr bwMode="auto">
          <a:xfrm>
            <a:off x="5148263" y="56610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400" b="1" i="0">
                <a:solidFill>
                  <a:srgbClr val="063DE8"/>
                </a:solidFill>
                <a:latin typeface="Arial" panose="020B0604020202020204" pitchFamily="34" charset="0"/>
                <a:sym typeface="Marlett" pitchFamily="2" charset="2"/>
              </a:rPr>
              <a:t></a:t>
            </a:r>
            <a:endParaRPr lang="es-ES_tradnl" altLang="es-ES" sz="2400" b="1" i="0">
              <a:solidFill>
                <a:srgbClr val="063DE8"/>
              </a:solidFill>
              <a:latin typeface="Arial" panose="020B0604020202020204" pitchFamily="34" charset="0"/>
            </a:endParaRPr>
          </a:p>
        </p:txBody>
      </p:sp>
      <p:sp>
        <p:nvSpPr>
          <p:cNvPr id="37962" name="Text Box 89"/>
          <p:cNvSpPr txBox="1">
            <a:spLocks noChangeArrowheads="1"/>
          </p:cNvSpPr>
          <p:nvPr/>
        </p:nvSpPr>
        <p:spPr bwMode="auto">
          <a:xfrm>
            <a:off x="3902075" y="55054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400" b="1" i="0">
                <a:solidFill>
                  <a:schemeClr val="hlink"/>
                </a:solidFill>
                <a:latin typeface="Arial" panose="020B0604020202020204" pitchFamily="34" charset="0"/>
                <a:sym typeface="Marlett" pitchFamily="2" charset="2"/>
              </a:rPr>
              <a:t></a:t>
            </a:r>
            <a:endParaRPr lang="es-ES_tradnl" altLang="es-ES" sz="2400" b="1" i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37963" name="Text Box 93"/>
          <p:cNvSpPr txBox="1">
            <a:spLocks noChangeArrowheads="1"/>
          </p:cNvSpPr>
          <p:nvPr/>
        </p:nvSpPr>
        <p:spPr bwMode="auto">
          <a:xfrm>
            <a:off x="5959475" y="4221163"/>
            <a:ext cx="361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400" b="1" i="0">
                <a:solidFill>
                  <a:schemeClr val="bg2"/>
                </a:solidFill>
                <a:latin typeface="Arial" panose="020B0604020202020204" pitchFamily="34" charset="0"/>
                <a:sym typeface="Marlett" pitchFamily="2" charset="2"/>
              </a:rPr>
              <a:t></a:t>
            </a:r>
            <a:endParaRPr lang="es-ES_tradnl" altLang="es-ES" sz="1400" b="1" i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7964" name="Text Box 94"/>
          <p:cNvSpPr txBox="1">
            <a:spLocks noChangeArrowheads="1"/>
          </p:cNvSpPr>
          <p:nvPr/>
        </p:nvSpPr>
        <p:spPr bwMode="auto">
          <a:xfrm>
            <a:off x="6172200" y="4048125"/>
            <a:ext cx="341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800" i="0"/>
              <a:t>?</a:t>
            </a:r>
          </a:p>
        </p:txBody>
      </p:sp>
      <p:sp>
        <p:nvSpPr>
          <p:cNvPr id="37965" name="Text Box 95"/>
          <p:cNvSpPr txBox="1">
            <a:spLocks noChangeArrowheads="1"/>
          </p:cNvSpPr>
          <p:nvPr/>
        </p:nvSpPr>
        <p:spPr bwMode="auto">
          <a:xfrm>
            <a:off x="3851275" y="33496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400" b="1" i="0">
                <a:solidFill>
                  <a:schemeClr val="accent2"/>
                </a:solidFill>
                <a:latin typeface="Arial" panose="020B0604020202020204" pitchFamily="34" charset="0"/>
                <a:sym typeface="Marlett" pitchFamily="2" charset="2"/>
              </a:rPr>
              <a:t></a:t>
            </a:r>
            <a:endParaRPr lang="es-ES_tradnl" altLang="es-ES" sz="2400" b="1" i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7966" name="Text Box 96"/>
          <p:cNvSpPr txBox="1">
            <a:spLocks noChangeArrowheads="1"/>
          </p:cNvSpPr>
          <p:nvPr/>
        </p:nvSpPr>
        <p:spPr bwMode="auto">
          <a:xfrm>
            <a:off x="6027738" y="57086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400" b="1" i="0">
                <a:solidFill>
                  <a:srgbClr val="063DE8"/>
                </a:solidFill>
                <a:latin typeface="Arial" panose="020B0604020202020204" pitchFamily="34" charset="0"/>
                <a:sym typeface="Marlett" pitchFamily="2" charset="2"/>
              </a:rPr>
              <a:t></a:t>
            </a:r>
            <a:endParaRPr lang="es-ES_tradnl" altLang="es-ES" sz="2400" b="1" i="0">
              <a:solidFill>
                <a:srgbClr val="063DE8"/>
              </a:solidFill>
              <a:latin typeface="Arial" panose="020B0604020202020204" pitchFamily="34" charset="0"/>
            </a:endParaRPr>
          </a:p>
        </p:txBody>
      </p:sp>
      <p:sp>
        <p:nvSpPr>
          <p:cNvPr id="37967" name="Text Box 97"/>
          <p:cNvSpPr txBox="1">
            <a:spLocks noChangeArrowheads="1"/>
          </p:cNvSpPr>
          <p:nvPr/>
        </p:nvSpPr>
        <p:spPr bwMode="auto">
          <a:xfrm>
            <a:off x="5667375" y="51323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400" b="1" i="0">
                <a:solidFill>
                  <a:srgbClr val="063DE8"/>
                </a:solidFill>
                <a:latin typeface="Arial" panose="020B0604020202020204" pitchFamily="34" charset="0"/>
                <a:sym typeface="Marlett" pitchFamily="2" charset="2"/>
              </a:rPr>
              <a:t></a:t>
            </a:r>
            <a:endParaRPr lang="es-ES_tradnl" altLang="es-ES" sz="2400" b="1" i="0">
              <a:solidFill>
                <a:srgbClr val="063DE8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2987675" y="3573463"/>
            <a:ext cx="3313113" cy="2160587"/>
            <a:chOff x="2987675" y="3573463"/>
            <a:chExt cx="3313113" cy="2160587"/>
          </a:xfrm>
        </p:grpSpPr>
        <p:sp>
          <p:nvSpPr>
            <p:cNvPr id="37970" name="Line 90"/>
            <p:cNvSpPr>
              <a:spLocks noChangeShapeType="1"/>
            </p:cNvSpPr>
            <p:nvPr/>
          </p:nvSpPr>
          <p:spPr bwMode="auto">
            <a:xfrm flipH="1" flipV="1">
              <a:off x="4211638" y="3573463"/>
              <a:ext cx="1824037" cy="7889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7971" name="Line 91"/>
            <p:cNvSpPr>
              <a:spLocks noChangeShapeType="1"/>
            </p:cNvSpPr>
            <p:nvPr/>
          </p:nvSpPr>
          <p:spPr bwMode="auto">
            <a:xfrm flipH="1">
              <a:off x="4283075" y="4438650"/>
              <a:ext cx="1752600" cy="1219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7972" name="Line 92"/>
            <p:cNvSpPr>
              <a:spLocks noChangeShapeType="1"/>
            </p:cNvSpPr>
            <p:nvPr/>
          </p:nvSpPr>
          <p:spPr bwMode="auto">
            <a:xfrm flipH="1">
              <a:off x="5940425" y="4514850"/>
              <a:ext cx="95250" cy="6429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7973" name="Line 98"/>
            <p:cNvSpPr>
              <a:spLocks noChangeShapeType="1"/>
            </p:cNvSpPr>
            <p:nvPr/>
          </p:nvSpPr>
          <p:spPr bwMode="auto">
            <a:xfrm flipH="1" flipV="1">
              <a:off x="2987675" y="3573463"/>
              <a:ext cx="2952750" cy="7921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7974" name="Line 99"/>
            <p:cNvSpPr>
              <a:spLocks noChangeShapeType="1"/>
            </p:cNvSpPr>
            <p:nvPr/>
          </p:nvSpPr>
          <p:spPr bwMode="auto">
            <a:xfrm flipH="1">
              <a:off x="5435600" y="4437063"/>
              <a:ext cx="649288" cy="12969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7975" name="Line 100"/>
            <p:cNvSpPr>
              <a:spLocks noChangeShapeType="1"/>
            </p:cNvSpPr>
            <p:nvPr/>
          </p:nvSpPr>
          <p:spPr bwMode="auto">
            <a:xfrm>
              <a:off x="6156325" y="4508500"/>
              <a:ext cx="144463" cy="1225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3" name="Elipse 2"/>
          <p:cNvSpPr>
            <a:spLocks noChangeArrowheads="1"/>
          </p:cNvSpPr>
          <p:nvPr/>
        </p:nvSpPr>
        <p:spPr bwMode="auto">
          <a:xfrm rot="822422">
            <a:off x="5726113" y="4014788"/>
            <a:ext cx="666750" cy="1660525"/>
          </a:xfrm>
          <a:prstGeom prst="ellipse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altLang="es-ES" smtClean="0"/>
              <a:t>Medición del error </a:t>
            </a:r>
            <a:br>
              <a:rPr lang="es-ES" altLang="es-ES" smtClean="0"/>
            </a:br>
            <a:r>
              <a:rPr lang="es-ES" altLang="es-ES" smtClean="0"/>
              <a:t>en clasificación</a:t>
            </a:r>
          </a:p>
        </p:txBody>
      </p:sp>
      <p:sp>
        <p:nvSpPr>
          <p:cNvPr id="3891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457200" y="1973263"/>
            <a:ext cx="8472488" cy="4114800"/>
          </a:xfrm>
          <a:noFill/>
        </p:spPr>
        <p:txBody>
          <a:bodyPr/>
          <a:lstStyle/>
          <a:p>
            <a:r>
              <a:rPr lang="es-ES_tradnl" altLang="es-ES" sz="2800" i="0" smtClean="0"/>
              <a:t>La </a:t>
            </a:r>
            <a:r>
              <a:rPr lang="es-ES_tradnl" altLang="es-ES" sz="2800" b="1" i="0" smtClean="0"/>
              <a:t>tasa de acierto </a:t>
            </a:r>
            <a:r>
              <a:rPr lang="es-ES_tradnl" altLang="es-ES" sz="2800" i="0" smtClean="0"/>
              <a:t>es el nº de aciertos dividido por el nº de datos multiplicado por 100. Da poca información.</a:t>
            </a:r>
          </a:p>
          <a:p>
            <a:r>
              <a:rPr lang="es-ES_tradnl" altLang="es-ES" sz="2800" i="0" smtClean="0"/>
              <a:t>La </a:t>
            </a:r>
            <a:r>
              <a:rPr lang="es-ES_tradnl" altLang="es-ES" sz="2800" b="1" i="0" smtClean="0"/>
              <a:t>matriz de confusión </a:t>
            </a:r>
            <a:r>
              <a:rPr lang="es-ES_tradnl" altLang="es-ES" sz="2800" i="0" smtClean="0"/>
              <a:t>muestra en una matriz los errores y aciertos</a:t>
            </a:r>
          </a:p>
        </p:txBody>
      </p:sp>
      <p:sp>
        <p:nvSpPr>
          <p:cNvPr id="40963" name="Rectangle 2"/>
          <p:cNvSpPr>
            <a:spLocks noChangeArrowheads="1"/>
          </p:cNvSpPr>
          <p:nvPr/>
        </p:nvSpPr>
        <p:spPr bwMode="auto">
          <a:xfrm>
            <a:off x="2667000" y="3886200"/>
            <a:ext cx="17351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900" b="1" i="0">
                <a:solidFill>
                  <a:srgbClr val="000000"/>
                </a:solidFill>
              </a:rPr>
              <a:t>Clases estimadas</a:t>
            </a:r>
            <a:endParaRPr lang="es-ES_tradnl" altLang="es-ES" sz="2400" i="0"/>
          </a:p>
        </p:txBody>
      </p:sp>
      <p:sp>
        <p:nvSpPr>
          <p:cNvPr id="40964" name="Rectangle 3"/>
          <p:cNvSpPr>
            <a:spLocks noChangeArrowheads="1"/>
          </p:cNvSpPr>
          <p:nvPr/>
        </p:nvSpPr>
        <p:spPr bwMode="auto">
          <a:xfrm>
            <a:off x="2438400" y="4286250"/>
            <a:ext cx="796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900" b="1" i="0">
                <a:solidFill>
                  <a:srgbClr val="000000"/>
                </a:solidFill>
              </a:rPr>
              <a:t>Clase A</a:t>
            </a:r>
            <a:endParaRPr lang="es-ES_tradnl" altLang="es-ES" sz="2400" i="0"/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auto">
          <a:xfrm>
            <a:off x="3700463" y="4287838"/>
            <a:ext cx="7826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900" b="1" i="0">
                <a:solidFill>
                  <a:srgbClr val="000000"/>
                </a:solidFill>
              </a:rPr>
              <a:t>Clase B</a:t>
            </a:r>
            <a:endParaRPr lang="es-ES_tradnl" altLang="es-ES" sz="2400" i="0"/>
          </a:p>
        </p:txBody>
      </p:sp>
      <p:sp>
        <p:nvSpPr>
          <p:cNvPr id="40966" name="Rectangle 5"/>
          <p:cNvSpPr>
            <a:spLocks noChangeArrowheads="1"/>
          </p:cNvSpPr>
          <p:nvPr/>
        </p:nvSpPr>
        <p:spPr bwMode="auto">
          <a:xfrm>
            <a:off x="1295400" y="4724400"/>
            <a:ext cx="796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900" b="1" i="0">
                <a:solidFill>
                  <a:srgbClr val="000000"/>
                </a:solidFill>
              </a:rPr>
              <a:t>Clase A</a:t>
            </a:r>
            <a:endParaRPr lang="es-ES_tradnl" altLang="es-ES" sz="2400" i="0"/>
          </a:p>
        </p:txBody>
      </p:sp>
      <p:sp>
        <p:nvSpPr>
          <p:cNvPr id="40967" name="Rectangle 6"/>
          <p:cNvSpPr>
            <a:spLocks noChangeArrowheads="1"/>
          </p:cNvSpPr>
          <p:nvPr/>
        </p:nvSpPr>
        <p:spPr bwMode="auto">
          <a:xfrm>
            <a:off x="2514600" y="4648200"/>
            <a:ext cx="461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400" b="1" i="0"/>
              <a:t>342</a:t>
            </a:r>
          </a:p>
        </p:txBody>
      </p:sp>
      <p:sp>
        <p:nvSpPr>
          <p:cNvPr id="40968" name="Rectangle 7"/>
          <p:cNvSpPr>
            <a:spLocks noChangeArrowheads="1"/>
          </p:cNvSpPr>
          <p:nvPr/>
        </p:nvSpPr>
        <p:spPr bwMode="auto">
          <a:xfrm>
            <a:off x="3810000" y="4648200"/>
            <a:ext cx="307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400" b="1" i="0"/>
              <a:t>37</a:t>
            </a:r>
          </a:p>
        </p:txBody>
      </p:sp>
      <p:sp>
        <p:nvSpPr>
          <p:cNvPr id="40969" name="Rectangle 8"/>
          <p:cNvSpPr>
            <a:spLocks noChangeArrowheads="1"/>
          </p:cNvSpPr>
          <p:nvPr/>
        </p:nvSpPr>
        <p:spPr bwMode="auto">
          <a:xfrm>
            <a:off x="1295400" y="5465763"/>
            <a:ext cx="7826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900" b="1" i="0">
                <a:solidFill>
                  <a:srgbClr val="000000"/>
                </a:solidFill>
              </a:rPr>
              <a:t>Clase B</a:t>
            </a:r>
            <a:endParaRPr lang="es-ES_tradnl" altLang="es-ES" sz="2400" i="0"/>
          </a:p>
        </p:txBody>
      </p:sp>
      <p:sp>
        <p:nvSpPr>
          <p:cNvPr id="40970" name="Rectangle 9"/>
          <p:cNvSpPr>
            <a:spLocks noChangeArrowheads="1"/>
          </p:cNvSpPr>
          <p:nvPr/>
        </p:nvSpPr>
        <p:spPr bwMode="auto">
          <a:xfrm>
            <a:off x="2514600" y="5334000"/>
            <a:ext cx="461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400" b="1" i="0"/>
              <a:t>    3</a:t>
            </a:r>
          </a:p>
        </p:txBody>
      </p:sp>
      <p:sp>
        <p:nvSpPr>
          <p:cNvPr id="40971" name="Rectangle 10"/>
          <p:cNvSpPr>
            <a:spLocks noChangeArrowheads="1"/>
          </p:cNvSpPr>
          <p:nvPr/>
        </p:nvSpPr>
        <p:spPr bwMode="auto">
          <a:xfrm>
            <a:off x="3810000" y="5334000"/>
            <a:ext cx="307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400" b="1" i="0"/>
              <a:t>26</a:t>
            </a:r>
          </a:p>
        </p:txBody>
      </p:sp>
      <p:sp>
        <p:nvSpPr>
          <p:cNvPr id="40972" name="Rectangle 11"/>
          <p:cNvSpPr>
            <a:spLocks noChangeArrowheads="1"/>
          </p:cNvSpPr>
          <p:nvPr/>
        </p:nvSpPr>
        <p:spPr bwMode="auto">
          <a:xfrm>
            <a:off x="5562600" y="4495800"/>
            <a:ext cx="29813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s-ES_tradnl" altLang="es-ES" sz="2400"/>
              <a:t>Matriz de Confusión</a:t>
            </a:r>
          </a:p>
        </p:txBody>
      </p:sp>
      <p:sp>
        <p:nvSpPr>
          <p:cNvPr id="40973" name="Rectangle 12"/>
          <p:cNvSpPr>
            <a:spLocks noChangeArrowheads="1"/>
          </p:cNvSpPr>
          <p:nvPr/>
        </p:nvSpPr>
        <p:spPr bwMode="auto">
          <a:xfrm>
            <a:off x="381000" y="4876800"/>
            <a:ext cx="7540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000" b="1" i="0">
                <a:solidFill>
                  <a:srgbClr val="000000"/>
                </a:solidFill>
              </a:rPr>
              <a:t>Clases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000" b="1" i="0"/>
              <a:t>reales</a:t>
            </a:r>
          </a:p>
        </p:txBody>
      </p:sp>
      <p:sp>
        <p:nvSpPr>
          <p:cNvPr id="40974" name="Line 13"/>
          <p:cNvSpPr>
            <a:spLocks noChangeShapeType="1"/>
          </p:cNvSpPr>
          <p:nvPr/>
        </p:nvSpPr>
        <p:spPr bwMode="auto">
          <a:xfrm>
            <a:off x="2209800" y="4267200"/>
            <a:ext cx="0" cy="1447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0975" name="Line 14"/>
          <p:cNvSpPr>
            <a:spLocks noChangeShapeType="1"/>
          </p:cNvSpPr>
          <p:nvPr/>
        </p:nvSpPr>
        <p:spPr bwMode="auto">
          <a:xfrm>
            <a:off x="2209800" y="4267200"/>
            <a:ext cx="251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0976" name="Line 15"/>
          <p:cNvSpPr>
            <a:spLocks noChangeShapeType="1"/>
          </p:cNvSpPr>
          <p:nvPr/>
        </p:nvSpPr>
        <p:spPr bwMode="auto">
          <a:xfrm>
            <a:off x="1143000" y="45720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0977" name="Line 16"/>
          <p:cNvSpPr>
            <a:spLocks noChangeShapeType="1"/>
          </p:cNvSpPr>
          <p:nvPr/>
        </p:nvSpPr>
        <p:spPr bwMode="auto">
          <a:xfrm>
            <a:off x="1143000" y="457200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0978" name="Rectangle 1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s-ES_tradnl" altLang="es-ES" smtClean="0"/>
              <a:t>Error cometido en </a:t>
            </a:r>
            <a:br>
              <a:rPr lang="es-ES_tradnl" altLang="es-ES" smtClean="0"/>
            </a:br>
            <a:r>
              <a:rPr lang="es-ES_tradnl" altLang="es-ES" smtClean="0"/>
              <a:t>el proceso de clasificación</a:t>
            </a:r>
          </a:p>
        </p:txBody>
      </p:sp>
      <p:sp>
        <p:nvSpPr>
          <p:cNvPr id="40979" name="CuadroTexto 1"/>
          <p:cNvSpPr txBox="1">
            <a:spLocks noChangeArrowheads="1"/>
          </p:cNvSpPr>
          <p:nvPr/>
        </p:nvSpPr>
        <p:spPr bwMode="auto">
          <a:xfrm>
            <a:off x="290513" y="6030913"/>
            <a:ext cx="8639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Tasa de acierto = (342+26)/(342+37+3+26)*100 = 90.20%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ítulo 1"/>
          <p:cNvSpPr>
            <a:spLocks noGrp="1"/>
          </p:cNvSpPr>
          <p:nvPr>
            <p:ph type="title"/>
          </p:nvPr>
        </p:nvSpPr>
        <p:spPr>
          <a:xfrm>
            <a:off x="685800" y="319088"/>
            <a:ext cx="7772400" cy="1143000"/>
          </a:xfrm>
        </p:spPr>
        <p:txBody>
          <a:bodyPr/>
          <a:lstStyle/>
          <a:p>
            <a:r>
              <a:rPr lang="es-ES" altLang="es-ES" smtClean="0"/>
              <a:t>El problema de las </a:t>
            </a:r>
            <a:br>
              <a:rPr lang="es-ES" altLang="es-ES" smtClean="0"/>
            </a:br>
            <a:r>
              <a:rPr lang="es-ES" altLang="es-ES" smtClean="0"/>
              <a:t>clases desbalanceadas</a:t>
            </a:r>
          </a:p>
        </p:txBody>
      </p:sp>
      <p:sp>
        <p:nvSpPr>
          <p:cNvPr id="41987" name="Marcador de contenido 2"/>
          <p:cNvSpPr>
            <a:spLocks noGrp="1"/>
          </p:cNvSpPr>
          <p:nvPr>
            <p:ph idx="1"/>
          </p:nvPr>
        </p:nvSpPr>
        <p:spPr>
          <a:xfrm>
            <a:off x="685800" y="1690688"/>
            <a:ext cx="8350250" cy="4114800"/>
          </a:xfrm>
        </p:spPr>
        <p:txBody>
          <a:bodyPr/>
          <a:lstStyle/>
          <a:p>
            <a:r>
              <a:rPr lang="es-ES" altLang="es-ES" sz="2800" i="0" smtClean="0"/>
              <a:t>Es frecuente que alguna de las clases sea una clase de la que tenemos muy pocas muestras. </a:t>
            </a:r>
          </a:p>
          <a:p>
            <a:r>
              <a:rPr lang="es-ES" altLang="es-ES" sz="2800" i="0" smtClean="0"/>
              <a:t>Esto provoca un </a:t>
            </a:r>
            <a:r>
              <a:rPr lang="es-ES" altLang="es-ES" sz="2800" smtClean="0"/>
              <a:t>desbalanceo</a:t>
            </a:r>
            <a:r>
              <a:rPr lang="es-ES" altLang="es-ES" sz="2800" i="0" smtClean="0"/>
              <a:t> en los datos </a:t>
            </a:r>
          </a:p>
          <a:p>
            <a:pPr lvl="1"/>
            <a:r>
              <a:rPr lang="es-ES" altLang="es-ES" sz="2400" smtClean="0"/>
              <a:t>Ej: Sistema Anti-Spam, Detección COVID, etc.</a:t>
            </a:r>
          </a:p>
          <a:p>
            <a:r>
              <a:rPr lang="es-ES" altLang="es-ES" sz="2800" i="0" smtClean="0"/>
              <a:t>Un sistema que siempre diera como salida la clase mayoritaria daría una alta tasa de acierto </a:t>
            </a:r>
          </a:p>
          <a:p>
            <a:r>
              <a:rPr lang="es-ES" altLang="es-ES" sz="2800" i="0" smtClean="0"/>
              <a:t>Es preciso definir nuevos conceptos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anose="05000000000000000000" pitchFamily="2" charset="2"/>
              <a:buChar char="§"/>
            </a:pPr>
            <a:r>
              <a:rPr lang="en-US" altLang="es-ES" sz="2400" smtClean="0"/>
              <a:t>Recall – fraction of relevant data that is retrieved</a:t>
            </a:r>
            <a:endParaRPr lang="de-DE" altLang="es-ES" smtClean="0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s-ES" sz="2400" smtClean="0"/>
              <a:t>Precision – fraction of retrieved data that is relevant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ítulo 1"/>
          <p:cNvSpPr>
            <a:spLocks noGrp="1"/>
          </p:cNvSpPr>
          <p:nvPr>
            <p:ph type="title"/>
          </p:nvPr>
        </p:nvSpPr>
        <p:spPr>
          <a:xfrm>
            <a:off x="684213" y="115888"/>
            <a:ext cx="7772400" cy="1143000"/>
          </a:xfrm>
        </p:spPr>
        <p:txBody>
          <a:bodyPr/>
          <a:lstStyle/>
          <a:p>
            <a:r>
              <a:rPr lang="es-ES" altLang="es-ES" smtClean="0"/>
              <a:t>Precisión y Recall de cada clase</a:t>
            </a:r>
          </a:p>
        </p:txBody>
      </p:sp>
      <p:pic>
        <p:nvPicPr>
          <p:cNvPr id="43011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123950"/>
            <a:ext cx="7200900" cy="575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Elipse 1"/>
          <p:cNvSpPr>
            <a:spLocks noChangeArrowheads="1"/>
          </p:cNvSpPr>
          <p:nvPr/>
        </p:nvSpPr>
        <p:spPr bwMode="auto">
          <a:xfrm>
            <a:off x="4787900" y="1916113"/>
            <a:ext cx="2160588" cy="1225550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Precisión y Recall</a:t>
            </a:r>
          </a:p>
        </p:txBody>
      </p:sp>
      <p:sp>
        <p:nvSpPr>
          <p:cNvPr id="44035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s-ES" sz="2800" b="1" i="0" smtClean="0"/>
              <a:t>Alta precision y alto recall</a:t>
            </a:r>
            <a:r>
              <a:rPr lang="es-ES" altLang="es-ES" sz="2800" i="0" smtClean="0"/>
              <a:t>: el modelo clasifica perfectamente esa clase</a:t>
            </a:r>
          </a:p>
          <a:p>
            <a:r>
              <a:rPr lang="es-ES" altLang="es-ES" sz="2800" b="1" i="0" smtClean="0"/>
              <a:t>Alta precision y bajo recall</a:t>
            </a:r>
            <a:r>
              <a:rPr lang="es-ES" altLang="es-ES" sz="2800" i="0" smtClean="0"/>
              <a:t>: el modelo no clasifica la clase muy bien, pero cuando lo hace es altamente confiable.</a:t>
            </a:r>
          </a:p>
          <a:p>
            <a:r>
              <a:rPr lang="es-ES" altLang="es-ES" sz="2800" b="1" i="0" smtClean="0"/>
              <a:t>Baja precisión y alto recall</a:t>
            </a:r>
            <a:r>
              <a:rPr lang="es-ES" altLang="es-ES" sz="2800" i="0" smtClean="0"/>
              <a:t>: El modelo clasifica bien esa clase pero también incluye muestras de otras clases.</a:t>
            </a:r>
          </a:p>
          <a:p>
            <a:r>
              <a:rPr lang="es-ES" altLang="es-ES" sz="2800" b="1" i="0" smtClean="0"/>
              <a:t>Baja precisión y bajo recall:</a:t>
            </a:r>
            <a:r>
              <a:rPr lang="es-ES" altLang="es-ES" sz="2800" i="0" smtClean="0"/>
              <a:t> El modelo no logra clasificar esa clase correctamente.</a:t>
            </a:r>
          </a:p>
          <a:p>
            <a:endParaRPr lang="es-ES" altLang="es-ES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La métrica F1</a:t>
            </a:r>
          </a:p>
        </p:txBody>
      </p:sp>
      <p:sp>
        <p:nvSpPr>
          <p:cNvPr id="3" name="Marcador de contenido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395288" y="1619101"/>
            <a:ext cx="8569325" cy="4114800"/>
          </a:xfrm>
          <a:blipFill>
            <a:blip r:embed="rId2"/>
            <a:stretch>
              <a:fillRect l="-1280" t="-1630" b="-22963"/>
            </a:stretch>
          </a:blipFill>
          <a:extLst/>
        </p:spPr>
        <p:txBody>
          <a:bodyPr/>
          <a:lstStyle/>
          <a:p>
            <a:r>
              <a:rPr lang="es-ES">
                <a:noFill/>
              </a:rPr>
              <a:t> </a:t>
            </a:r>
          </a:p>
        </p:txBody>
      </p:sp>
      <p:pic>
        <p:nvPicPr>
          <p:cNvPr id="45060" name="Imagen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86" b="20071"/>
          <a:stretch>
            <a:fillRect/>
          </a:stretch>
        </p:blipFill>
        <p:spPr bwMode="auto">
          <a:xfrm>
            <a:off x="1116013" y="5157788"/>
            <a:ext cx="7554912" cy="8350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624"/>
            <a:ext cx="9144000" cy="1143000"/>
          </a:xfrm>
        </p:spPr>
        <p:txBody>
          <a:bodyPr/>
          <a:lstStyle/>
          <a:p>
            <a:r>
              <a:rPr lang="es-ES" sz="4000" dirty="0" smtClean="0"/>
              <a:t>Media aritmética, geométrica y armónica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4114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dirty="0" smtClean="0"/>
              <a:t>Media aritmética</a:t>
            </a:r>
          </a:p>
          <a:p>
            <a:pPr>
              <a:lnSpc>
                <a:spcPct val="150000"/>
              </a:lnSpc>
            </a:pPr>
            <a:endParaRPr lang="es-ES" dirty="0" smtClean="0"/>
          </a:p>
          <a:p>
            <a:pPr>
              <a:lnSpc>
                <a:spcPct val="150000"/>
              </a:lnSpc>
            </a:pPr>
            <a:r>
              <a:rPr lang="es-ES" dirty="0" smtClean="0"/>
              <a:t>Media geométrica</a:t>
            </a:r>
          </a:p>
          <a:p>
            <a:pPr>
              <a:lnSpc>
                <a:spcPct val="150000"/>
              </a:lnSpc>
            </a:pPr>
            <a:endParaRPr lang="es-ES" dirty="0" smtClean="0"/>
          </a:p>
          <a:p>
            <a:pPr>
              <a:lnSpc>
                <a:spcPct val="150000"/>
              </a:lnSpc>
            </a:pPr>
            <a:r>
              <a:rPr lang="es-ES" dirty="0" smtClean="0"/>
              <a:t>Media armónica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916832"/>
            <a:ext cx="4055416" cy="86555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99416" y="3616798"/>
            <a:ext cx="3414595" cy="93235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71800" y="5111044"/>
            <a:ext cx="3805489" cy="12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5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¿Por qué la media armónica para calcular el F1-score?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5760" y="1981200"/>
            <a:ext cx="3742184" cy="4114800"/>
          </a:xfrm>
        </p:spPr>
        <p:txBody>
          <a:bodyPr/>
          <a:lstStyle/>
          <a:p>
            <a:r>
              <a:rPr lang="es-ES" sz="2400" dirty="0" smtClean="0"/>
              <a:t>Supongamos </a:t>
            </a:r>
            <a:r>
              <a:rPr lang="es-ES" sz="2400" dirty="0" err="1" smtClean="0"/>
              <a:t>recall</a:t>
            </a:r>
            <a:r>
              <a:rPr lang="es-ES" sz="2400" dirty="0" smtClean="0"/>
              <a:t>=1 </a:t>
            </a:r>
          </a:p>
          <a:p>
            <a:r>
              <a:rPr lang="es-ES" sz="2400" dirty="0" smtClean="0"/>
              <a:t>¿cuánto vale F1-score en función de la precisión?</a:t>
            </a:r>
            <a:endParaRPr lang="es-E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23928" y="1981200"/>
            <a:ext cx="5305064" cy="4733558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325760" y="3861049"/>
            <a:ext cx="3886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I = </a:t>
            </a:r>
            <a:r>
              <a:rPr lang="es-ES" sz="1600" dirty="0" err="1"/>
              <a:t>linspace</a:t>
            </a:r>
            <a:r>
              <a:rPr lang="es-ES" sz="1600" dirty="0"/>
              <a:t>(0,1,100);</a:t>
            </a:r>
          </a:p>
          <a:p>
            <a:r>
              <a:rPr lang="es-ES" sz="1600" dirty="0"/>
              <a:t>x=[I </a:t>
            </a:r>
            <a:r>
              <a:rPr lang="es-ES" sz="1600" dirty="0" smtClean="0"/>
              <a:t>;</a:t>
            </a:r>
            <a:r>
              <a:rPr lang="es-ES" sz="1600" dirty="0" err="1" smtClean="0"/>
              <a:t>ones</a:t>
            </a:r>
            <a:r>
              <a:rPr lang="es-ES" sz="1600" dirty="0" smtClean="0"/>
              <a:t>(1,100</a:t>
            </a:r>
            <a:r>
              <a:rPr lang="es-ES" sz="1600" dirty="0"/>
              <a:t>)]</a:t>
            </a:r>
          </a:p>
          <a:p>
            <a:r>
              <a:rPr lang="es-ES" sz="1600" dirty="0"/>
              <a:t>x1 = mean(x);</a:t>
            </a:r>
          </a:p>
          <a:p>
            <a:r>
              <a:rPr lang="es-ES" sz="1600" dirty="0"/>
              <a:t>x2 = </a:t>
            </a:r>
            <a:r>
              <a:rPr lang="es-ES" sz="1600" dirty="0" err="1"/>
              <a:t>prod</a:t>
            </a:r>
            <a:r>
              <a:rPr lang="es-ES" sz="1600" dirty="0"/>
              <a:t>(x).^(1/</a:t>
            </a:r>
            <a:r>
              <a:rPr lang="es-ES" sz="1600" dirty="0" err="1"/>
              <a:t>size</a:t>
            </a:r>
            <a:r>
              <a:rPr lang="es-ES" sz="1600" dirty="0"/>
              <a:t>(x,1));</a:t>
            </a:r>
          </a:p>
          <a:p>
            <a:r>
              <a:rPr lang="es-ES" sz="1600" dirty="0"/>
              <a:t>x3 = </a:t>
            </a:r>
            <a:r>
              <a:rPr lang="es-ES" sz="1600" dirty="0" err="1"/>
              <a:t>size</a:t>
            </a:r>
            <a:r>
              <a:rPr lang="es-ES" sz="1600" dirty="0"/>
              <a:t>(x,1)./sum(1./x);</a:t>
            </a:r>
          </a:p>
          <a:p>
            <a:endParaRPr lang="es-ES" sz="1600" dirty="0"/>
          </a:p>
          <a:p>
            <a:r>
              <a:rPr lang="es-ES" sz="1600" dirty="0" err="1"/>
              <a:t>plot</a:t>
            </a:r>
            <a:r>
              <a:rPr lang="es-ES" sz="1600" dirty="0"/>
              <a:t>(I,x1);</a:t>
            </a:r>
            <a:r>
              <a:rPr lang="es-ES" sz="1600" dirty="0" err="1"/>
              <a:t>hold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 smtClean="0"/>
              <a:t>;</a:t>
            </a:r>
          </a:p>
          <a:p>
            <a:r>
              <a:rPr lang="es-ES" sz="1600" dirty="0" err="1" smtClean="0"/>
              <a:t>plot</a:t>
            </a:r>
            <a:r>
              <a:rPr lang="es-ES" sz="1600" dirty="0" smtClean="0"/>
              <a:t>(I,x2);</a:t>
            </a:r>
          </a:p>
          <a:p>
            <a:r>
              <a:rPr lang="es-ES" sz="1600" dirty="0" err="1" smtClean="0"/>
              <a:t>plot</a:t>
            </a:r>
            <a:r>
              <a:rPr lang="es-ES" sz="1600" dirty="0" smtClean="0"/>
              <a:t>(I,x3)</a:t>
            </a:r>
          </a:p>
          <a:p>
            <a:r>
              <a:rPr lang="es-ES" sz="1600" dirty="0" err="1" smtClean="0"/>
              <a:t>legend</a:t>
            </a:r>
            <a:r>
              <a:rPr lang="es-ES" sz="1600" dirty="0"/>
              <a:t>('</a:t>
            </a:r>
            <a:r>
              <a:rPr lang="es-ES" sz="1600" dirty="0" err="1"/>
              <a:t>aritmetica</a:t>
            </a:r>
            <a:r>
              <a:rPr lang="es-ES" sz="1600" dirty="0"/>
              <a:t>','</a:t>
            </a:r>
            <a:r>
              <a:rPr lang="es-ES" sz="1600" dirty="0" err="1"/>
              <a:t>geometrica</a:t>
            </a:r>
            <a:r>
              <a:rPr lang="es-ES" sz="1600" dirty="0"/>
              <a:t>','</a:t>
            </a:r>
            <a:r>
              <a:rPr lang="es-ES" sz="1600" dirty="0" err="1"/>
              <a:t>armonica</a:t>
            </a:r>
            <a:r>
              <a:rPr lang="es-ES" sz="1600" dirty="0"/>
              <a:t>')</a:t>
            </a:r>
          </a:p>
          <a:p>
            <a:r>
              <a:rPr lang="es-ES" sz="1600" dirty="0" err="1"/>
              <a:t>xlabel</a:t>
            </a:r>
            <a:r>
              <a:rPr lang="es-ES" sz="1600" dirty="0"/>
              <a:t>('</a:t>
            </a:r>
            <a:r>
              <a:rPr lang="es-ES" sz="1600" dirty="0" err="1"/>
              <a:t>Precision</a:t>
            </a:r>
            <a:r>
              <a:rPr lang="es-ES" sz="1600" dirty="0"/>
              <a:t>');</a:t>
            </a:r>
            <a:r>
              <a:rPr lang="es-ES" sz="1600" dirty="0" err="1"/>
              <a:t>ylabel</a:t>
            </a:r>
            <a:r>
              <a:rPr lang="es-ES" sz="1600" dirty="0"/>
              <a:t>('F1-score')</a:t>
            </a:r>
          </a:p>
          <a:p>
            <a:r>
              <a:rPr lang="es-ES" sz="1600" dirty="0"/>
              <a:t/>
            </a:r>
            <a:br>
              <a:rPr lang="es-ES" sz="1600" dirty="0"/>
            </a:br>
            <a:endParaRPr lang="es-ES" sz="1600" dirty="0"/>
          </a:p>
          <a:p>
            <a:endParaRPr lang="es-ES" sz="1600" dirty="0"/>
          </a:p>
        </p:txBody>
      </p:sp>
      <p:sp>
        <p:nvSpPr>
          <p:cNvPr id="7" name="CuadroTexto 6"/>
          <p:cNvSpPr txBox="1"/>
          <p:nvPr/>
        </p:nvSpPr>
        <p:spPr>
          <a:xfrm>
            <a:off x="5292080" y="5030599"/>
            <a:ext cx="3672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La media armónica es la que más penaliza valores bajos de una de las medidas 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18830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ítulo 1"/>
          <p:cNvSpPr>
            <a:spLocks noGrp="1"/>
          </p:cNvSpPr>
          <p:nvPr>
            <p:ph type="title"/>
          </p:nvPr>
        </p:nvSpPr>
        <p:spPr>
          <a:xfrm>
            <a:off x="685800" y="333375"/>
            <a:ext cx="8134350" cy="1143000"/>
          </a:xfrm>
        </p:spPr>
        <p:txBody>
          <a:bodyPr/>
          <a:lstStyle/>
          <a:p>
            <a:r>
              <a:rPr lang="es-ES" altLang="es-ES" smtClean="0"/>
              <a:t>Ejemplo de la métrica de rendimiento F1 global multiclase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79388" y="1844675"/>
            <a:ext cx="10729912" cy="4114800"/>
          </a:xfrm>
        </p:spPr>
        <p:txBody>
          <a:bodyPr/>
          <a:lstStyle/>
          <a:p>
            <a:pPr>
              <a:defRPr/>
            </a:pPr>
            <a:r>
              <a:rPr lang="es-ES" sz="2800" dirty="0" smtClean="0"/>
              <a:t>Sea la matriz de confusión</a:t>
            </a:r>
          </a:p>
          <a:p>
            <a:pPr>
              <a:defRPr/>
            </a:pPr>
            <a:endParaRPr lang="es-ES" sz="2800" dirty="0"/>
          </a:p>
          <a:p>
            <a:pPr>
              <a:defRPr/>
            </a:pPr>
            <a:endParaRPr lang="es-ES" sz="2800" dirty="0" smtClean="0"/>
          </a:p>
          <a:p>
            <a:pPr>
              <a:defRPr/>
            </a:pPr>
            <a:endParaRPr lang="es-ES" sz="2800" dirty="0"/>
          </a:p>
          <a:p>
            <a:pPr marL="0" indent="0">
              <a:buFontTx/>
              <a:buNone/>
              <a:defRPr/>
            </a:pPr>
            <a:endParaRPr lang="es-ES" sz="2000" i="0" dirty="0" smtClean="0">
              <a:latin typeface="Arial Narrow" panose="020B0606020202030204" pitchFamily="34" charset="0"/>
            </a:endParaRPr>
          </a:p>
          <a:p>
            <a:pPr marL="0" indent="0">
              <a:buFontTx/>
              <a:buNone/>
              <a:defRPr/>
            </a:pPr>
            <a:r>
              <a:rPr lang="es-ES" sz="2000" i="0" dirty="0" smtClean="0">
                <a:latin typeface="Arial Narrow" panose="020B0606020202030204" pitchFamily="34" charset="0"/>
              </a:rPr>
              <a:t>Prec</a:t>
            </a:r>
            <a:r>
              <a:rPr lang="es-ES" sz="2000" i="0" baseline="-25000" dirty="0" smtClean="0">
                <a:latin typeface="Arial Narrow" panose="020B0606020202030204" pitchFamily="34" charset="0"/>
              </a:rPr>
              <a:t>1</a:t>
            </a:r>
            <a:r>
              <a:rPr lang="es-ES" sz="2000" i="0" dirty="0" smtClean="0">
                <a:latin typeface="Arial Narrow" panose="020B0606020202030204" pitchFamily="34" charset="0"/>
              </a:rPr>
              <a:t> = 73/79=0.9241	Recall</a:t>
            </a:r>
            <a:r>
              <a:rPr lang="es-ES" sz="2000" i="0" baseline="-25000" dirty="0">
                <a:latin typeface="Arial Narrow" panose="020B0606020202030204" pitchFamily="34" charset="0"/>
              </a:rPr>
              <a:t>1</a:t>
            </a:r>
            <a:r>
              <a:rPr lang="es-ES" sz="2000" i="0" dirty="0" smtClean="0">
                <a:latin typeface="Arial Narrow" panose="020B0606020202030204" pitchFamily="34" charset="0"/>
              </a:rPr>
              <a:t> = 73/80=0.9125	F1</a:t>
            </a:r>
            <a:r>
              <a:rPr lang="es-ES" sz="2000" i="0" baseline="-25000" dirty="0">
                <a:latin typeface="Arial Narrow" panose="020B0606020202030204" pitchFamily="34" charset="0"/>
              </a:rPr>
              <a:t>1</a:t>
            </a:r>
            <a:r>
              <a:rPr lang="es-ES" sz="2000" i="0" dirty="0" smtClean="0">
                <a:latin typeface="Arial Narrow" panose="020B0606020202030204" pitchFamily="34" charset="0"/>
              </a:rPr>
              <a:t>=2/(1/0.9241+1/0.9125)=0.9182</a:t>
            </a:r>
          </a:p>
          <a:p>
            <a:pPr marL="0" indent="0">
              <a:buFontTx/>
              <a:buNone/>
              <a:defRPr/>
            </a:pPr>
            <a:r>
              <a:rPr lang="es-ES" sz="2000" i="0" dirty="0" smtClean="0">
                <a:latin typeface="Arial Narrow" panose="020B0606020202030204" pitchFamily="34" charset="0"/>
              </a:rPr>
              <a:t>Prec</a:t>
            </a:r>
            <a:r>
              <a:rPr lang="es-ES" sz="2000" i="0" baseline="-25000" dirty="0">
                <a:latin typeface="Arial Narrow" panose="020B0606020202030204" pitchFamily="34" charset="0"/>
              </a:rPr>
              <a:t>2</a:t>
            </a:r>
            <a:r>
              <a:rPr lang="es-ES" sz="2000" i="0" dirty="0" smtClean="0">
                <a:latin typeface="Arial Narrow" panose="020B0606020202030204" pitchFamily="34" charset="0"/>
              </a:rPr>
              <a:t> = 56/60=0.9333	Recall</a:t>
            </a:r>
            <a:r>
              <a:rPr lang="es-ES" sz="2000" i="0" baseline="-25000" dirty="0">
                <a:latin typeface="Arial Narrow" panose="020B0606020202030204" pitchFamily="34" charset="0"/>
              </a:rPr>
              <a:t>2</a:t>
            </a:r>
            <a:r>
              <a:rPr lang="es-ES" sz="2000" i="0" dirty="0" smtClean="0">
                <a:latin typeface="Arial Narrow" panose="020B0606020202030204" pitchFamily="34" charset="0"/>
              </a:rPr>
              <a:t> = 56/70=0.80	F1</a:t>
            </a:r>
            <a:r>
              <a:rPr lang="es-ES" sz="2000" i="0" baseline="-25000" dirty="0">
                <a:latin typeface="Arial Narrow" panose="020B0606020202030204" pitchFamily="34" charset="0"/>
              </a:rPr>
              <a:t>2</a:t>
            </a:r>
            <a:r>
              <a:rPr lang="es-ES" sz="2000" i="0" dirty="0" smtClean="0">
                <a:latin typeface="Arial Narrow" panose="020B0606020202030204" pitchFamily="34" charset="0"/>
              </a:rPr>
              <a:t>=2/(1/0.9333+1/0.80)=0.8615</a:t>
            </a:r>
          </a:p>
          <a:p>
            <a:pPr marL="0" indent="0">
              <a:buFontTx/>
              <a:buNone/>
              <a:defRPr/>
            </a:pPr>
            <a:r>
              <a:rPr lang="es-ES" sz="2000" i="0" dirty="0" smtClean="0">
                <a:latin typeface="Arial Narrow" panose="020B0606020202030204" pitchFamily="34" charset="0"/>
              </a:rPr>
              <a:t>Prec</a:t>
            </a:r>
            <a:r>
              <a:rPr lang="es-ES" sz="2000" i="0" baseline="-25000" dirty="0">
                <a:latin typeface="Arial Narrow" panose="020B0606020202030204" pitchFamily="34" charset="0"/>
              </a:rPr>
              <a:t>3</a:t>
            </a:r>
            <a:r>
              <a:rPr lang="es-ES" sz="2000" i="0" dirty="0" smtClean="0">
                <a:latin typeface="Arial Narrow" panose="020B0606020202030204" pitchFamily="34" charset="0"/>
              </a:rPr>
              <a:t> = 7/21=0.3333	Recall</a:t>
            </a:r>
            <a:r>
              <a:rPr lang="es-ES" sz="2000" i="0" baseline="-25000" dirty="0">
                <a:latin typeface="Arial Narrow" panose="020B0606020202030204" pitchFamily="34" charset="0"/>
              </a:rPr>
              <a:t>3</a:t>
            </a:r>
            <a:r>
              <a:rPr lang="es-ES" sz="2000" i="0" dirty="0" smtClean="0">
                <a:latin typeface="Arial Narrow" panose="020B0606020202030204" pitchFamily="34" charset="0"/>
              </a:rPr>
              <a:t> = 7/10=0.70		F1</a:t>
            </a:r>
            <a:r>
              <a:rPr lang="es-ES" sz="2000" i="0" baseline="-25000" dirty="0" smtClean="0">
                <a:latin typeface="Arial Narrow" panose="020B0606020202030204" pitchFamily="34" charset="0"/>
              </a:rPr>
              <a:t>3</a:t>
            </a:r>
            <a:r>
              <a:rPr lang="es-ES" sz="2000" i="0" dirty="0" smtClean="0">
                <a:latin typeface="Arial Narrow" panose="020B0606020202030204" pitchFamily="34" charset="0"/>
              </a:rPr>
              <a:t>=2/(1/0.3333+1/0.70)=0.4516</a:t>
            </a:r>
          </a:p>
          <a:p>
            <a:pPr marL="0" indent="0">
              <a:buFontTx/>
              <a:buNone/>
              <a:defRPr/>
            </a:pPr>
            <a:endParaRPr lang="es-ES" sz="2000" i="0" dirty="0" smtClean="0">
              <a:latin typeface="Arial Narrow" panose="020B0606020202030204" pitchFamily="34" charset="0"/>
            </a:endParaRPr>
          </a:p>
          <a:p>
            <a:pPr>
              <a:defRPr/>
            </a:pPr>
            <a:r>
              <a:rPr lang="es-ES" sz="2800" i="0" dirty="0" smtClean="0">
                <a:latin typeface="Arial Narrow" panose="020B0606020202030204" pitchFamily="34" charset="0"/>
              </a:rPr>
              <a:t>F1 Global  = (0.9182+0.8615+0.4516)/3= 0.7438 </a:t>
            </a:r>
            <a:endParaRPr lang="es-ES" sz="2800" i="0" dirty="0">
              <a:latin typeface="Arial Narrow" panose="020B0606020202030204" pitchFamily="34" charset="0"/>
            </a:endParaRPr>
          </a:p>
        </p:txBody>
      </p:sp>
      <p:graphicFrame>
        <p:nvGraphicFramePr>
          <p:cNvPr id="4" name="Tabla 3"/>
          <p:cNvGraphicFramePr>
            <a:graphicFrameLocks noGrp="1"/>
          </p:cNvGraphicFramePr>
          <p:nvPr/>
        </p:nvGraphicFramePr>
        <p:xfrm>
          <a:off x="1835150" y="2722563"/>
          <a:ext cx="228600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36561818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214165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06210585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s-ES" sz="1800" dirty="0" smtClean="0"/>
                        <a:t>73</a:t>
                      </a:r>
                      <a:endParaRPr lang="es-E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s-ES" sz="1800" dirty="0" smtClean="0"/>
                        <a:t>3</a:t>
                      </a:r>
                      <a:endParaRPr lang="es-E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s-ES" sz="1800" dirty="0" smtClean="0"/>
                        <a:t>4</a:t>
                      </a:r>
                      <a:endParaRPr lang="es-E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3706805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s-ES" sz="1800" dirty="0" smtClean="0"/>
                        <a:t>4</a:t>
                      </a:r>
                      <a:endParaRPr lang="es-E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s-ES" sz="1800" dirty="0" smtClean="0"/>
                        <a:t>56</a:t>
                      </a:r>
                      <a:endParaRPr lang="es-E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s-ES" sz="1800" dirty="0" smtClean="0"/>
                        <a:t>10</a:t>
                      </a:r>
                      <a:endParaRPr lang="es-E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764740007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s-ES" sz="1800" dirty="0" smtClean="0"/>
                        <a:t>2</a:t>
                      </a:r>
                      <a:endParaRPr lang="es-E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s-ES" sz="1800" dirty="0" smtClean="0"/>
                        <a:t>1</a:t>
                      </a:r>
                      <a:endParaRPr lang="es-E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s-ES" sz="1800" dirty="0" smtClean="0"/>
                        <a:t>7</a:t>
                      </a:r>
                      <a:endParaRPr lang="es-E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313103690"/>
                  </a:ext>
                </a:extLst>
              </a:tr>
            </a:tbl>
          </a:graphicData>
        </a:graphic>
      </p:graphicFrame>
      <p:sp>
        <p:nvSpPr>
          <p:cNvPr id="46102" name="CuadroTexto 4"/>
          <p:cNvSpPr txBox="1">
            <a:spLocks noChangeArrowheads="1"/>
          </p:cNvSpPr>
          <p:nvPr/>
        </p:nvSpPr>
        <p:spPr bwMode="auto">
          <a:xfrm>
            <a:off x="2195513" y="2333625"/>
            <a:ext cx="1425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600" i="0"/>
              <a:t>Clase estimada</a:t>
            </a:r>
          </a:p>
        </p:txBody>
      </p:sp>
      <p:sp>
        <p:nvSpPr>
          <p:cNvPr id="46103" name="CuadroTexto 5"/>
          <p:cNvSpPr txBox="1">
            <a:spLocks noChangeArrowheads="1"/>
          </p:cNvSpPr>
          <p:nvPr/>
        </p:nvSpPr>
        <p:spPr bwMode="auto">
          <a:xfrm rot="-5400000">
            <a:off x="1070769" y="3118644"/>
            <a:ext cx="10033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600" i="0"/>
              <a:t>Clase real</a:t>
            </a:r>
          </a:p>
        </p:txBody>
      </p:sp>
      <p:sp>
        <p:nvSpPr>
          <p:cNvPr id="46104" name="CuadroTexto 6"/>
          <p:cNvSpPr txBox="1">
            <a:spLocks noChangeArrowheads="1"/>
          </p:cNvSpPr>
          <p:nvPr/>
        </p:nvSpPr>
        <p:spPr bwMode="auto">
          <a:xfrm>
            <a:off x="4356100" y="3025775"/>
            <a:ext cx="4140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400" i="0">
                <a:latin typeface="Arial Narrow" panose="020B0606020202030204" pitchFamily="34" charset="0"/>
              </a:rPr>
              <a:t>Tasa acierto = (73+56+7)/160=0.85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Precision y Recall en </a:t>
            </a:r>
            <a:br>
              <a:rPr lang="es-ES" altLang="es-ES" smtClean="0"/>
            </a:br>
            <a:r>
              <a:rPr lang="es-ES" altLang="es-ES" smtClean="0"/>
              <a:t>datos no balanceados</a:t>
            </a:r>
          </a:p>
        </p:txBody>
      </p:sp>
      <p:sp>
        <p:nvSpPr>
          <p:cNvPr id="47107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s-ES" i="0" dirty="0" smtClean="0"/>
              <a:t>Si los datos están muy desbalanceados, suele ocurrir que obtenemos </a:t>
            </a:r>
          </a:p>
          <a:p>
            <a:pPr lvl="1"/>
            <a:r>
              <a:rPr lang="es-ES" altLang="es-ES" dirty="0" smtClean="0"/>
              <a:t>Una </a:t>
            </a:r>
            <a:r>
              <a:rPr lang="es-ES" altLang="es-ES" b="1" dirty="0" smtClean="0"/>
              <a:t>alta precisión </a:t>
            </a:r>
            <a:r>
              <a:rPr lang="es-ES" altLang="es-ES" dirty="0" smtClean="0"/>
              <a:t>en la clase </a:t>
            </a:r>
            <a:r>
              <a:rPr lang="es-ES" altLang="es-ES" b="1" dirty="0" smtClean="0"/>
              <a:t>mayoritaria</a:t>
            </a:r>
          </a:p>
          <a:p>
            <a:pPr lvl="1"/>
            <a:r>
              <a:rPr lang="es-ES" altLang="es-ES" dirty="0" smtClean="0"/>
              <a:t>Un </a:t>
            </a:r>
            <a:r>
              <a:rPr lang="es-ES" altLang="es-ES" b="1" dirty="0" smtClean="0"/>
              <a:t>bajo </a:t>
            </a:r>
            <a:r>
              <a:rPr lang="es-ES" altLang="es-ES" b="1" dirty="0" err="1" smtClean="0"/>
              <a:t>recall</a:t>
            </a:r>
            <a:r>
              <a:rPr lang="es-ES" altLang="es-ES" b="1" dirty="0" smtClean="0"/>
              <a:t> </a:t>
            </a:r>
            <a:r>
              <a:rPr lang="es-ES" altLang="es-ES" dirty="0" smtClean="0"/>
              <a:t>en la clase </a:t>
            </a:r>
            <a:r>
              <a:rPr lang="es-ES" altLang="es-ES" b="1" dirty="0" smtClean="0"/>
              <a:t>minoritaria</a:t>
            </a:r>
            <a:r>
              <a:rPr lang="es-ES" altLang="es-ES" dirty="0" smtClean="0"/>
              <a:t>.  </a:t>
            </a:r>
          </a:p>
          <a:p>
            <a:pPr lvl="1"/>
            <a:endParaRPr lang="es-ES" altLang="es-ES" dirty="0" smtClean="0"/>
          </a:p>
          <a:p>
            <a:r>
              <a:rPr lang="es-ES" altLang="es-ES" i="0" dirty="0" smtClean="0"/>
              <a:t>Cuando hay desbalanceo entre las clases (esta circunstancia es muy frecuente) hay que recurrir al </a:t>
            </a:r>
            <a:r>
              <a:rPr lang="es-ES" altLang="es-ES" b="1" i="0" dirty="0" smtClean="0"/>
              <a:t>balanceo de clases</a:t>
            </a:r>
            <a:endParaRPr lang="es-ES" altLang="es-E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/>
          <p:cNvSpPr>
            <a:spLocks noGrp="1"/>
          </p:cNvSpPr>
          <p:nvPr>
            <p:ph type="title"/>
          </p:nvPr>
        </p:nvSpPr>
        <p:spPr>
          <a:xfrm>
            <a:off x="685800" y="188913"/>
            <a:ext cx="7772400" cy="1143000"/>
          </a:xfrm>
        </p:spPr>
        <p:txBody>
          <a:bodyPr/>
          <a:lstStyle/>
          <a:p>
            <a:r>
              <a:rPr lang="es-ES" altLang="es-ES" smtClean="0"/>
              <a:t>Balanceo de clases: soluciones</a:t>
            </a:r>
          </a:p>
        </p:txBody>
      </p:sp>
      <p:sp>
        <p:nvSpPr>
          <p:cNvPr id="48131" name="Marcador de contenido 2"/>
          <p:cNvSpPr>
            <a:spLocks noGrp="1"/>
          </p:cNvSpPr>
          <p:nvPr>
            <p:ph idx="1"/>
          </p:nvPr>
        </p:nvSpPr>
        <p:spPr>
          <a:xfrm>
            <a:off x="684213" y="1208088"/>
            <a:ext cx="7918450" cy="4114800"/>
          </a:xfrm>
        </p:spPr>
        <p:txBody>
          <a:bodyPr/>
          <a:lstStyle/>
          <a:p>
            <a:r>
              <a:rPr lang="es-ES" altLang="es-ES" sz="2800" b="1" i="0" dirty="0" smtClean="0"/>
              <a:t>Penalización</a:t>
            </a:r>
            <a:r>
              <a:rPr lang="es-ES" altLang="es-ES" sz="2800" i="0" dirty="0" smtClean="0"/>
              <a:t>: en el proceso de entrenamiento, se pondera de alguna forma cada clase en función del número de datos disponible de cada clase. No todos los métodos de clasificación lo admiten</a:t>
            </a:r>
          </a:p>
          <a:p>
            <a:endParaRPr lang="es-ES" altLang="es-ES" sz="1400" i="0" dirty="0" smtClean="0"/>
          </a:p>
          <a:p>
            <a:r>
              <a:rPr lang="es-ES" altLang="es-ES" sz="2800" b="1" i="0" dirty="0" err="1" smtClean="0"/>
              <a:t>Subsampling</a:t>
            </a:r>
            <a:r>
              <a:rPr lang="es-ES" altLang="es-ES" sz="2800" i="0" dirty="0" smtClean="0"/>
              <a:t> de clases mayoritarias: se usa solo una parte de los datos de las clases mayoritarias</a:t>
            </a:r>
          </a:p>
          <a:p>
            <a:endParaRPr lang="es-ES" altLang="es-ES" sz="1100" i="0" dirty="0" smtClean="0"/>
          </a:p>
          <a:p>
            <a:r>
              <a:rPr lang="es-ES" altLang="es-ES" sz="2800" b="1" i="0" dirty="0" err="1" smtClean="0"/>
              <a:t>Oversampling</a:t>
            </a:r>
            <a:r>
              <a:rPr lang="es-ES" altLang="es-ES" sz="2800" i="0" dirty="0" smtClean="0"/>
              <a:t> de clases minoritarias: se generan datos sintéticos de las clases minoritarias</a:t>
            </a:r>
          </a:p>
          <a:p>
            <a:pPr lvl="1"/>
            <a:r>
              <a:rPr lang="es-ES" altLang="es-ES" sz="2400" dirty="0" smtClean="0"/>
              <a:t>Por ejemplo, tomando pares de datos de la clase minoritaria cercanos entre sí, y generando un nuevo dato obtenido como el punto medio entre cada par</a:t>
            </a:r>
          </a:p>
          <a:p>
            <a:pPr lvl="1"/>
            <a:endParaRPr lang="es-ES" altLang="es-ES" sz="2400" dirty="0" smtClean="0"/>
          </a:p>
          <a:p>
            <a:endParaRPr lang="es-ES" altLang="es-ES" sz="2800" i="0" dirty="0" smtClean="0"/>
          </a:p>
          <a:p>
            <a:endParaRPr lang="es-ES" altLang="es-ES" sz="2800" i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Matriz de confusión multiclase</a:t>
            </a:r>
          </a:p>
        </p:txBody>
      </p:sp>
      <p:pic>
        <p:nvPicPr>
          <p:cNvPr id="49155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752600"/>
            <a:ext cx="5041900" cy="506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ítulo 1"/>
          <p:cNvSpPr>
            <a:spLocks noGrp="1"/>
          </p:cNvSpPr>
          <p:nvPr>
            <p:ph type="title"/>
          </p:nvPr>
        </p:nvSpPr>
        <p:spPr>
          <a:xfrm>
            <a:off x="323850" y="414338"/>
            <a:ext cx="8496300" cy="1143000"/>
          </a:xfrm>
        </p:spPr>
        <p:txBody>
          <a:bodyPr/>
          <a:lstStyle/>
          <a:p>
            <a:r>
              <a:rPr lang="es-ES" altLang="es-ES" smtClean="0"/>
              <a:t>Métricas de rendimiento multiclase</a:t>
            </a:r>
          </a:p>
        </p:txBody>
      </p:sp>
      <p:sp>
        <p:nvSpPr>
          <p:cNvPr id="50179" name="Marcador de contenido 2"/>
          <p:cNvSpPr>
            <a:spLocks noGrp="1"/>
          </p:cNvSpPr>
          <p:nvPr>
            <p:ph idx="1"/>
          </p:nvPr>
        </p:nvSpPr>
        <p:spPr>
          <a:xfrm>
            <a:off x="685800" y="1835150"/>
            <a:ext cx="7772400" cy="4114800"/>
          </a:xfrm>
        </p:spPr>
        <p:txBody>
          <a:bodyPr/>
          <a:lstStyle/>
          <a:p>
            <a:r>
              <a:rPr lang="es-ES" altLang="es-ES" sz="2800" smtClean="0"/>
              <a:t>Las métricas vistas (precisión, recall, F1) se pueden extender a problemas con más de dos clases</a:t>
            </a:r>
          </a:p>
          <a:p>
            <a:pPr lvl="1"/>
            <a:r>
              <a:rPr lang="es-ES" altLang="es-ES" sz="2400" smtClean="0"/>
              <a:t>Precision: valor en la diagonal/suma columna</a:t>
            </a:r>
          </a:p>
          <a:p>
            <a:pPr lvl="1"/>
            <a:r>
              <a:rPr lang="es-ES" altLang="es-ES" sz="2400" smtClean="0"/>
              <a:t>Recall : valor de la diagonal/suma fila</a:t>
            </a:r>
          </a:p>
          <a:p>
            <a:pPr lvl="1"/>
            <a:r>
              <a:rPr lang="es-ES" altLang="es-ES" sz="2400" smtClean="0"/>
              <a:t>F1: media armónica de precisión y recall</a:t>
            </a:r>
          </a:p>
          <a:p>
            <a:endParaRPr lang="es-ES" altLang="es-ES" sz="2800" smtClean="0"/>
          </a:p>
          <a:p>
            <a:r>
              <a:rPr lang="es-ES" altLang="es-ES" sz="2800" smtClean="0"/>
              <a:t>Métrica de rendimiento F1 global: se calcula la métrica F1 para cada clase, y se calcula la media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altLang="es-ES" smtClean="0"/>
          </a:p>
        </p:txBody>
      </p:sp>
      <p:pic>
        <p:nvPicPr>
          <p:cNvPr id="51203" name="Picture 2" descr="https://miro.medium.com/v2/resize:fit:528/1*GL3ZZOagxnjbsIm334Bws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33375"/>
            <a:ext cx="8642350" cy="554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altLang="es-ES" smtClean="0"/>
          </a:p>
        </p:txBody>
      </p:sp>
      <p:sp>
        <p:nvSpPr>
          <p:cNvPr id="52227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altLang="es-ES" smtClean="0"/>
          </a:p>
        </p:txBody>
      </p:sp>
      <p:pic>
        <p:nvPicPr>
          <p:cNvPr id="52228" name="Picture 2" descr="https://miro.medium.com/v2/resize:fit:528/1*GL3ZZOagxnjbsIm334Bws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33375"/>
            <a:ext cx="8642350" cy="554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2578100" y="922338"/>
            <a:ext cx="1871663" cy="1858962"/>
            <a:chOff x="3347864" y="935009"/>
            <a:chExt cx="1872208" cy="1858387"/>
          </a:xfrm>
        </p:grpSpPr>
        <p:sp>
          <p:nvSpPr>
            <p:cNvPr id="52245" name="CuadroTexto 3"/>
            <p:cNvSpPr txBox="1">
              <a:spLocks noChangeArrowheads="1"/>
            </p:cNvSpPr>
            <p:nvPr/>
          </p:nvSpPr>
          <p:spPr bwMode="auto">
            <a:xfrm>
              <a:off x="3347864" y="935009"/>
              <a:ext cx="1872208" cy="52322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s-ES" altLang="es-ES">
                  <a:solidFill>
                    <a:schemeClr val="bg1"/>
                  </a:solidFill>
                </a:rPr>
                <a:t>4/(4+6+3)</a:t>
              </a:r>
            </a:p>
          </p:txBody>
        </p:sp>
        <p:cxnSp>
          <p:nvCxnSpPr>
            <p:cNvPr id="52246" name="Conector recto de flecha 5"/>
            <p:cNvCxnSpPr>
              <a:cxnSpLocks noChangeShapeType="1"/>
              <a:stCxn id="52245" idx="2"/>
            </p:cNvCxnSpPr>
            <p:nvPr/>
          </p:nvCxnSpPr>
          <p:spPr bwMode="auto">
            <a:xfrm>
              <a:off x="4283968" y="1458229"/>
              <a:ext cx="0" cy="1335167"/>
            </a:xfrm>
            <a:prstGeom prst="straightConnector1">
              <a:avLst/>
            </a:prstGeom>
            <a:noFill/>
            <a:ln w="28575" algn="ctr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4787900" y="922338"/>
            <a:ext cx="1871663" cy="1930400"/>
            <a:chOff x="3347864" y="935009"/>
            <a:chExt cx="1872208" cy="1930395"/>
          </a:xfrm>
        </p:grpSpPr>
        <p:sp>
          <p:nvSpPr>
            <p:cNvPr id="52243" name="CuadroTexto 9"/>
            <p:cNvSpPr txBox="1">
              <a:spLocks noChangeArrowheads="1"/>
            </p:cNvSpPr>
            <p:nvPr/>
          </p:nvSpPr>
          <p:spPr bwMode="auto">
            <a:xfrm>
              <a:off x="3347864" y="935009"/>
              <a:ext cx="1872208" cy="52322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s-ES" altLang="es-ES">
                  <a:solidFill>
                    <a:schemeClr val="bg1"/>
                  </a:solidFill>
                </a:rPr>
                <a:t>4/(4+1+1)</a:t>
              </a:r>
            </a:p>
          </p:txBody>
        </p:sp>
        <p:cxnSp>
          <p:nvCxnSpPr>
            <p:cNvPr id="52244" name="Conector recto de flecha 10"/>
            <p:cNvCxnSpPr>
              <a:cxnSpLocks noChangeShapeType="1"/>
              <a:stCxn id="52243" idx="2"/>
            </p:cNvCxnSpPr>
            <p:nvPr/>
          </p:nvCxnSpPr>
          <p:spPr bwMode="auto">
            <a:xfrm flipH="1">
              <a:off x="3871291" y="1458229"/>
              <a:ext cx="412677" cy="1407175"/>
            </a:xfrm>
            <a:prstGeom prst="straightConnector1">
              <a:avLst/>
            </a:prstGeom>
            <a:noFill/>
            <a:ln w="28575" algn="ctr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" name="Grupo 13"/>
          <p:cNvGrpSpPr>
            <a:grpSpLocks/>
          </p:cNvGrpSpPr>
          <p:nvPr/>
        </p:nvGrpSpPr>
        <p:grpSpPr bwMode="auto">
          <a:xfrm>
            <a:off x="6732588" y="901700"/>
            <a:ext cx="2063750" cy="2022475"/>
            <a:chOff x="3155675" y="935009"/>
            <a:chExt cx="2064397" cy="2022484"/>
          </a:xfrm>
        </p:grpSpPr>
        <p:sp>
          <p:nvSpPr>
            <p:cNvPr id="52241" name="CuadroTexto 14"/>
            <p:cNvSpPr txBox="1">
              <a:spLocks noChangeArrowheads="1"/>
            </p:cNvSpPr>
            <p:nvPr/>
          </p:nvSpPr>
          <p:spPr bwMode="auto">
            <a:xfrm>
              <a:off x="3347864" y="935009"/>
              <a:ext cx="1872208" cy="954107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s-ES" altLang="es-ES">
                  <a:solidFill>
                    <a:schemeClr val="bg1"/>
                  </a:solidFill>
                </a:rPr>
                <a:t>2/(1/0.308+1/0.667)</a:t>
              </a:r>
            </a:p>
          </p:txBody>
        </p:sp>
        <p:cxnSp>
          <p:nvCxnSpPr>
            <p:cNvPr id="52242" name="Conector recto de flecha 15"/>
            <p:cNvCxnSpPr>
              <a:cxnSpLocks noChangeShapeType="1"/>
              <a:stCxn id="52241" idx="2"/>
            </p:cNvCxnSpPr>
            <p:nvPr/>
          </p:nvCxnSpPr>
          <p:spPr bwMode="auto">
            <a:xfrm flipH="1">
              <a:off x="3155675" y="1889116"/>
              <a:ext cx="1128293" cy="1068377"/>
            </a:xfrm>
            <a:prstGeom prst="straightConnector1">
              <a:avLst/>
            </a:prstGeom>
            <a:noFill/>
            <a:ln w="28575" algn="ctr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9" name="Grupo 18"/>
          <p:cNvGrpSpPr>
            <a:grpSpLocks/>
          </p:cNvGrpSpPr>
          <p:nvPr/>
        </p:nvGrpSpPr>
        <p:grpSpPr bwMode="auto">
          <a:xfrm>
            <a:off x="350838" y="2108200"/>
            <a:ext cx="5635625" cy="2298700"/>
            <a:chOff x="3347864" y="935009"/>
            <a:chExt cx="5635738" cy="2298769"/>
          </a:xfrm>
        </p:grpSpPr>
        <p:sp>
          <p:nvSpPr>
            <p:cNvPr id="52239" name="CuadroTexto 19"/>
            <p:cNvSpPr txBox="1">
              <a:spLocks noChangeArrowheads="1"/>
            </p:cNvSpPr>
            <p:nvPr/>
          </p:nvSpPr>
          <p:spPr bwMode="auto">
            <a:xfrm>
              <a:off x="3347864" y="935009"/>
              <a:ext cx="1872208" cy="52322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s-ES" altLang="es-ES">
                  <a:solidFill>
                    <a:schemeClr val="bg1"/>
                  </a:solidFill>
                </a:rPr>
                <a:t>(6+2+4)/25</a:t>
              </a:r>
            </a:p>
          </p:txBody>
        </p:sp>
        <p:cxnSp>
          <p:nvCxnSpPr>
            <p:cNvPr id="52240" name="Conector recto de flecha 20"/>
            <p:cNvCxnSpPr>
              <a:cxnSpLocks noChangeShapeType="1"/>
              <a:stCxn id="52239" idx="2"/>
            </p:cNvCxnSpPr>
            <p:nvPr/>
          </p:nvCxnSpPr>
          <p:spPr bwMode="auto">
            <a:xfrm>
              <a:off x="4283968" y="1458229"/>
              <a:ext cx="4699634" cy="1775549"/>
            </a:xfrm>
            <a:prstGeom prst="straightConnector1">
              <a:avLst/>
            </a:prstGeom>
            <a:noFill/>
            <a:ln w="28575" algn="ctr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6" name="Grupo 35"/>
          <p:cNvGrpSpPr>
            <a:grpSpLocks/>
          </p:cNvGrpSpPr>
          <p:nvPr/>
        </p:nvGrpSpPr>
        <p:grpSpPr bwMode="auto">
          <a:xfrm>
            <a:off x="300038" y="5157788"/>
            <a:ext cx="3381375" cy="654050"/>
            <a:chOff x="299292" y="5157192"/>
            <a:chExt cx="3382144" cy="654152"/>
          </a:xfrm>
        </p:grpSpPr>
        <p:sp>
          <p:nvSpPr>
            <p:cNvPr id="52237" name="CuadroTexto 26"/>
            <p:cNvSpPr txBox="1">
              <a:spLocks noChangeArrowheads="1"/>
            </p:cNvSpPr>
            <p:nvPr/>
          </p:nvSpPr>
          <p:spPr bwMode="auto">
            <a:xfrm>
              <a:off x="299292" y="5442012"/>
              <a:ext cx="3382144" cy="36933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s-ES" altLang="es-ES" sz="1800">
                  <a:solidFill>
                    <a:schemeClr val="bg1"/>
                  </a:solidFill>
                </a:rPr>
                <a:t>(0.308*6+0.667*10+0.667*9)/25</a:t>
              </a:r>
            </a:p>
          </p:txBody>
        </p:sp>
        <p:cxnSp>
          <p:nvCxnSpPr>
            <p:cNvPr id="52238" name="Conector recto de flecha 27"/>
            <p:cNvCxnSpPr>
              <a:cxnSpLocks noChangeShapeType="1"/>
            </p:cNvCxnSpPr>
            <p:nvPr/>
          </p:nvCxnSpPr>
          <p:spPr bwMode="auto">
            <a:xfrm flipV="1">
              <a:off x="2411760" y="5157192"/>
              <a:ext cx="720080" cy="284821"/>
            </a:xfrm>
            <a:prstGeom prst="straightConnector1">
              <a:avLst/>
            </a:prstGeom>
            <a:noFill/>
            <a:ln w="28575" algn="ctr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5" name="Grupo 34"/>
          <p:cNvGrpSpPr>
            <a:grpSpLocks/>
          </p:cNvGrpSpPr>
          <p:nvPr/>
        </p:nvGrpSpPr>
        <p:grpSpPr bwMode="auto">
          <a:xfrm>
            <a:off x="323850" y="3905250"/>
            <a:ext cx="3382963" cy="876300"/>
            <a:chOff x="324241" y="3904597"/>
            <a:chExt cx="3382144" cy="877485"/>
          </a:xfrm>
        </p:grpSpPr>
        <p:sp>
          <p:nvSpPr>
            <p:cNvPr id="52235" name="CuadroTexto 32"/>
            <p:cNvSpPr txBox="1">
              <a:spLocks noChangeArrowheads="1"/>
            </p:cNvSpPr>
            <p:nvPr/>
          </p:nvSpPr>
          <p:spPr bwMode="auto">
            <a:xfrm>
              <a:off x="324241" y="3904597"/>
              <a:ext cx="3382144" cy="36933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s-ES" altLang="es-ES" sz="1800">
                  <a:solidFill>
                    <a:schemeClr val="bg1"/>
                  </a:solidFill>
                </a:rPr>
                <a:t>(0.308+0.667+0.667)/3</a:t>
              </a:r>
            </a:p>
          </p:txBody>
        </p:sp>
        <p:cxnSp>
          <p:nvCxnSpPr>
            <p:cNvPr id="52236" name="Conector recto de flecha 33"/>
            <p:cNvCxnSpPr>
              <a:cxnSpLocks noChangeShapeType="1"/>
            </p:cNvCxnSpPr>
            <p:nvPr/>
          </p:nvCxnSpPr>
          <p:spPr bwMode="auto">
            <a:xfrm>
              <a:off x="2600705" y="4286034"/>
              <a:ext cx="531135" cy="496048"/>
            </a:xfrm>
            <a:prstGeom prst="straightConnector1">
              <a:avLst/>
            </a:prstGeom>
            <a:noFill/>
            <a:ln w="28575" algn="ctr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Métodos básicos de </a:t>
            </a:r>
            <a:br>
              <a:rPr lang="es-ES" altLang="es-ES" smtClean="0"/>
            </a:br>
            <a:r>
              <a:rPr lang="es-ES" altLang="es-ES" smtClean="0"/>
              <a:t>clasificación</a:t>
            </a:r>
          </a:p>
        </p:txBody>
      </p:sp>
      <p:sp>
        <p:nvSpPr>
          <p:cNvPr id="53251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s-ES" smtClean="0"/>
              <a:t>Paramétricos</a:t>
            </a:r>
          </a:p>
          <a:p>
            <a:pPr lvl="1"/>
            <a:r>
              <a:rPr lang="es-ES" altLang="es-ES" smtClean="0"/>
              <a:t>Distancia minima (un centroide por clase)</a:t>
            </a:r>
          </a:p>
          <a:p>
            <a:pPr lvl="2"/>
            <a:r>
              <a:rPr lang="es-ES" altLang="es-ES" smtClean="0"/>
              <a:t>Dist. Euclidea</a:t>
            </a:r>
          </a:p>
          <a:p>
            <a:pPr lvl="2"/>
            <a:r>
              <a:rPr lang="es-ES" altLang="es-ES" smtClean="0"/>
              <a:t>Dist. Mahalanobis</a:t>
            </a:r>
          </a:p>
          <a:p>
            <a:pPr lvl="1"/>
            <a:r>
              <a:rPr lang="es-ES" altLang="es-ES" smtClean="0"/>
              <a:t>Dist. minima (varios centroides por clase)</a:t>
            </a:r>
          </a:p>
          <a:p>
            <a:pPr lvl="2"/>
            <a:r>
              <a:rPr lang="es-ES" altLang="es-ES" smtClean="0"/>
              <a:t>Dist. Euclidea</a:t>
            </a:r>
          </a:p>
          <a:p>
            <a:r>
              <a:rPr lang="es-ES" altLang="es-ES" smtClean="0"/>
              <a:t>No paramétricos</a:t>
            </a:r>
          </a:p>
          <a:p>
            <a:pPr lvl="1"/>
            <a:r>
              <a:rPr lang="es-ES" altLang="es-ES" smtClean="0"/>
              <a:t>1-NN</a:t>
            </a:r>
          </a:p>
          <a:p>
            <a:pPr lvl="1"/>
            <a:r>
              <a:rPr lang="es-ES" altLang="es-ES" smtClean="0"/>
              <a:t>K-NN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458200" cy="1143000"/>
          </a:xfrm>
        </p:spPr>
        <p:txBody>
          <a:bodyPr/>
          <a:lstStyle/>
          <a:p>
            <a:r>
              <a:rPr lang="es-ES_tradnl" altLang="es-ES" smtClean="0"/>
              <a:t>Clasificación no paramétrica </a:t>
            </a:r>
            <a:br>
              <a:rPr lang="es-ES_tradnl" altLang="es-ES" smtClean="0"/>
            </a:br>
            <a:r>
              <a:rPr lang="es-ES_tradnl" altLang="es-ES" sz="4000" smtClean="0"/>
              <a:t>Cada patrón es un </a:t>
            </a:r>
            <a:r>
              <a:rPr lang="es-ES" altLang="es-ES" sz="4000" smtClean="0"/>
              <a:t>prototipo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981200"/>
            <a:ext cx="9036050" cy="4114800"/>
          </a:xfrm>
        </p:spPr>
        <p:txBody>
          <a:bodyPr/>
          <a:lstStyle/>
          <a:p>
            <a:r>
              <a:rPr lang="es-ES" altLang="es-ES" sz="2800" smtClean="0"/>
              <a:t>¿ Y si cada patrón es considerado un prototipo válido ?</a:t>
            </a:r>
          </a:p>
        </p:txBody>
      </p:sp>
      <p:grpSp>
        <p:nvGrpSpPr>
          <p:cNvPr id="54276" name="Group 4"/>
          <p:cNvGrpSpPr>
            <a:grpSpLocks/>
          </p:cNvGrpSpPr>
          <p:nvPr/>
        </p:nvGrpSpPr>
        <p:grpSpPr bwMode="auto">
          <a:xfrm>
            <a:off x="5273675" y="4819650"/>
            <a:ext cx="1066800" cy="838200"/>
            <a:chOff x="3024" y="2064"/>
            <a:chExt cx="672" cy="528"/>
          </a:xfrm>
        </p:grpSpPr>
        <p:sp>
          <p:nvSpPr>
            <p:cNvPr id="54353" name="Oval 5"/>
            <p:cNvSpPr>
              <a:spLocks noChangeArrowheads="1"/>
            </p:cNvSpPr>
            <p:nvPr/>
          </p:nvSpPr>
          <p:spPr bwMode="auto">
            <a:xfrm>
              <a:off x="3264" y="235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54" name="Oval 6"/>
            <p:cNvSpPr>
              <a:spLocks noChangeArrowheads="1"/>
            </p:cNvSpPr>
            <p:nvPr/>
          </p:nvSpPr>
          <p:spPr bwMode="auto">
            <a:xfrm>
              <a:off x="3360" y="244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55" name="Oval 7"/>
            <p:cNvSpPr>
              <a:spLocks noChangeArrowheads="1"/>
            </p:cNvSpPr>
            <p:nvPr/>
          </p:nvSpPr>
          <p:spPr bwMode="auto">
            <a:xfrm>
              <a:off x="3456" y="206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56" name="Oval 8"/>
            <p:cNvSpPr>
              <a:spLocks noChangeArrowheads="1"/>
            </p:cNvSpPr>
            <p:nvPr/>
          </p:nvSpPr>
          <p:spPr bwMode="auto">
            <a:xfrm>
              <a:off x="3552" y="220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57" name="Oval 9"/>
            <p:cNvSpPr>
              <a:spLocks noChangeArrowheads="1"/>
            </p:cNvSpPr>
            <p:nvPr/>
          </p:nvSpPr>
          <p:spPr bwMode="auto">
            <a:xfrm>
              <a:off x="3648" y="230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58" name="Oval 10"/>
            <p:cNvSpPr>
              <a:spLocks noChangeArrowheads="1"/>
            </p:cNvSpPr>
            <p:nvPr/>
          </p:nvSpPr>
          <p:spPr bwMode="auto">
            <a:xfrm>
              <a:off x="3024" y="240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59" name="Oval 11"/>
            <p:cNvSpPr>
              <a:spLocks noChangeArrowheads="1"/>
            </p:cNvSpPr>
            <p:nvPr/>
          </p:nvSpPr>
          <p:spPr bwMode="auto">
            <a:xfrm>
              <a:off x="3120" y="249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60" name="Oval 12"/>
            <p:cNvSpPr>
              <a:spLocks noChangeArrowheads="1"/>
            </p:cNvSpPr>
            <p:nvPr/>
          </p:nvSpPr>
          <p:spPr bwMode="auto">
            <a:xfrm>
              <a:off x="3216" y="211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61" name="Oval 13"/>
            <p:cNvSpPr>
              <a:spLocks noChangeArrowheads="1"/>
            </p:cNvSpPr>
            <p:nvPr/>
          </p:nvSpPr>
          <p:spPr bwMode="auto">
            <a:xfrm>
              <a:off x="3312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62" name="Oval 14"/>
            <p:cNvSpPr>
              <a:spLocks noChangeArrowheads="1"/>
            </p:cNvSpPr>
            <p:nvPr/>
          </p:nvSpPr>
          <p:spPr bwMode="auto">
            <a:xfrm>
              <a:off x="3408" y="235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63" name="Oval 15"/>
            <p:cNvSpPr>
              <a:spLocks noChangeArrowheads="1"/>
            </p:cNvSpPr>
            <p:nvPr/>
          </p:nvSpPr>
          <p:spPr bwMode="auto">
            <a:xfrm>
              <a:off x="3504" y="244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64" name="Oval 16"/>
            <p:cNvSpPr>
              <a:spLocks noChangeArrowheads="1"/>
            </p:cNvSpPr>
            <p:nvPr/>
          </p:nvSpPr>
          <p:spPr bwMode="auto">
            <a:xfrm>
              <a:off x="3600" y="254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65" name="Oval 17"/>
            <p:cNvSpPr>
              <a:spLocks noChangeArrowheads="1"/>
            </p:cNvSpPr>
            <p:nvPr/>
          </p:nvSpPr>
          <p:spPr bwMode="auto">
            <a:xfrm>
              <a:off x="3024" y="216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54366" name="Oval 18"/>
            <p:cNvSpPr>
              <a:spLocks noChangeArrowheads="1"/>
            </p:cNvSpPr>
            <p:nvPr/>
          </p:nvSpPr>
          <p:spPr bwMode="auto">
            <a:xfrm>
              <a:off x="3120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</p:grpSp>
      <p:sp>
        <p:nvSpPr>
          <p:cNvPr id="54277" name="Oval 19"/>
          <p:cNvSpPr>
            <a:spLocks noChangeArrowheads="1"/>
          </p:cNvSpPr>
          <p:nvPr/>
        </p:nvSpPr>
        <p:spPr bwMode="auto">
          <a:xfrm>
            <a:off x="2911475" y="36242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78" name="Oval 20"/>
          <p:cNvSpPr>
            <a:spLocks noChangeArrowheads="1"/>
          </p:cNvSpPr>
          <p:nvPr/>
        </p:nvSpPr>
        <p:spPr bwMode="auto">
          <a:xfrm>
            <a:off x="3063875" y="37766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79" name="Oval 21"/>
          <p:cNvSpPr>
            <a:spLocks noChangeArrowheads="1"/>
          </p:cNvSpPr>
          <p:nvPr/>
        </p:nvSpPr>
        <p:spPr bwMode="auto">
          <a:xfrm>
            <a:off x="3216275" y="31670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80" name="Oval 22"/>
          <p:cNvSpPr>
            <a:spLocks noChangeArrowheads="1"/>
          </p:cNvSpPr>
          <p:nvPr/>
        </p:nvSpPr>
        <p:spPr bwMode="auto">
          <a:xfrm>
            <a:off x="3368675" y="33956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81" name="Oval 23"/>
          <p:cNvSpPr>
            <a:spLocks noChangeArrowheads="1"/>
          </p:cNvSpPr>
          <p:nvPr/>
        </p:nvSpPr>
        <p:spPr bwMode="auto">
          <a:xfrm>
            <a:off x="3521075" y="35480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82" name="Oval 24"/>
          <p:cNvSpPr>
            <a:spLocks noChangeArrowheads="1"/>
          </p:cNvSpPr>
          <p:nvPr/>
        </p:nvSpPr>
        <p:spPr bwMode="auto">
          <a:xfrm>
            <a:off x="2530475" y="37004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83" name="Oval 25"/>
          <p:cNvSpPr>
            <a:spLocks noChangeArrowheads="1"/>
          </p:cNvSpPr>
          <p:nvPr/>
        </p:nvSpPr>
        <p:spPr bwMode="auto">
          <a:xfrm>
            <a:off x="2682875" y="38528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84" name="Oval 26"/>
          <p:cNvSpPr>
            <a:spLocks noChangeArrowheads="1"/>
          </p:cNvSpPr>
          <p:nvPr/>
        </p:nvSpPr>
        <p:spPr bwMode="auto">
          <a:xfrm>
            <a:off x="2835275" y="32432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85" name="Oval 27"/>
          <p:cNvSpPr>
            <a:spLocks noChangeArrowheads="1"/>
          </p:cNvSpPr>
          <p:nvPr/>
        </p:nvSpPr>
        <p:spPr bwMode="auto">
          <a:xfrm>
            <a:off x="2987675" y="34718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86" name="Oval 28"/>
          <p:cNvSpPr>
            <a:spLocks noChangeArrowheads="1"/>
          </p:cNvSpPr>
          <p:nvPr/>
        </p:nvSpPr>
        <p:spPr bwMode="auto">
          <a:xfrm>
            <a:off x="3140075" y="36242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87" name="Oval 29"/>
          <p:cNvSpPr>
            <a:spLocks noChangeArrowheads="1"/>
          </p:cNvSpPr>
          <p:nvPr/>
        </p:nvSpPr>
        <p:spPr bwMode="auto">
          <a:xfrm>
            <a:off x="3292475" y="37766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88" name="Oval 30"/>
          <p:cNvSpPr>
            <a:spLocks noChangeArrowheads="1"/>
          </p:cNvSpPr>
          <p:nvPr/>
        </p:nvSpPr>
        <p:spPr bwMode="auto">
          <a:xfrm>
            <a:off x="3444875" y="39290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89" name="Oval 31"/>
          <p:cNvSpPr>
            <a:spLocks noChangeArrowheads="1"/>
          </p:cNvSpPr>
          <p:nvPr/>
        </p:nvSpPr>
        <p:spPr bwMode="auto">
          <a:xfrm>
            <a:off x="2530475" y="33194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90" name="Oval 32"/>
          <p:cNvSpPr>
            <a:spLocks noChangeArrowheads="1"/>
          </p:cNvSpPr>
          <p:nvPr/>
        </p:nvSpPr>
        <p:spPr bwMode="auto">
          <a:xfrm>
            <a:off x="2682875" y="34718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91" name="Oval 33"/>
          <p:cNvSpPr>
            <a:spLocks noChangeArrowheads="1"/>
          </p:cNvSpPr>
          <p:nvPr/>
        </p:nvSpPr>
        <p:spPr bwMode="auto">
          <a:xfrm>
            <a:off x="3825875" y="58102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92" name="Oval 34"/>
          <p:cNvSpPr>
            <a:spLocks noChangeArrowheads="1"/>
          </p:cNvSpPr>
          <p:nvPr/>
        </p:nvSpPr>
        <p:spPr bwMode="auto">
          <a:xfrm>
            <a:off x="3978275" y="59626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93" name="Oval 35"/>
          <p:cNvSpPr>
            <a:spLocks noChangeArrowheads="1"/>
          </p:cNvSpPr>
          <p:nvPr/>
        </p:nvSpPr>
        <p:spPr bwMode="auto">
          <a:xfrm>
            <a:off x="4130675" y="53530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94" name="Oval 36"/>
          <p:cNvSpPr>
            <a:spLocks noChangeArrowheads="1"/>
          </p:cNvSpPr>
          <p:nvPr/>
        </p:nvSpPr>
        <p:spPr bwMode="auto">
          <a:xfrm>
            <a:off x="4283075" y="55816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95" name="Oval 37"/>
          <p:cNvSpPr>
            <a:spLocks noChangeArrowheads="1"/>
          </p:cNvSpPr>
          <p:nvPr/>
        </p:nvSpPr>
        <p:spPr bwMode="auto">
          <a:xfrm>
            <a:off x="4435475" y="57340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96" name="Oval 38"/>
          <p:cNvSpPr>
            <a:spLocks noChangeArrowheads="1"/>
          </p:cNvSpPr>
          <p:nvPr/>
        </p:nvSpPr>
        <p:spPr bwMode="auto">
          <a:xfrm>
            <a:off x="4283075" y="52768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97" name="Oval 39"/>
          <p:cNvSpPr>
            <a:spLocks noChangeArrowheads="1"/>
          </p:cNvSpPr>
          <p:nvPr/>
        </p:nvSpPr>
        <p:spPr bwMode="auto">
          <a:xfrm>
            <a:off x="4435475" y="54292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98" name="Oval 40"/>
          <p:cNvSpPr>
            <a:spLocks noChangeArrowheads="1"/>
          </p:cNvSpPr>
          <p:nvPr/>
        </p:nvSpPr>
        <p:spPr bwMode="auto">
          <a:xfrm>
            <a:off x="3749675" y="54292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299" name="Oval 41"/>
          <p:cNvSpPr>
            <a:spLocks noChangeArrowheads="1"/>
          </p:cNvSpPr>
          <p:nvPr/>
        </p:nvSpPr>
        <p:spPr bwMode="auto">
          <a:xfrm>
            <a:off x="3902075" y="56578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00" name="Oval 42"/>
          <p:cNvSpPr>
            <a:spLocks noChangeArrowheads="1"/>
          </p:cNvSpPr>
          <p:nvPr/>
        </p:nvSpPr>
        <p:spPr bwMode="auto">
          <a:xfrm>
            <a:off x="4054475" y="58102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01" name="Oval 43"/>
          <p:cNvSpPr>
            <a:spLocks noChangeArrowheads="1"/>
          </p:cNvSpPr>
          <p:nvPr/>
        </p:nvSpPr>
        <p:spPr bwMode="auto">
          <a:xfrm>
            <a:off x="4206875" y="59626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02" name="Oval 44"/>
          <p:cNvSpPr>
            <a:spLocks noChangeArrowheads="1"/>
          </p:cNvSpPr>
          <p:nvPr/>
        </p:nvSpPr>
        <p:spPr bwMode="auto">
          <a:xfrm>
            <a:off x="4359275" y="61150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03" name="Oval 45"/>
          <p:cNvSpPr>
            <a:spLocks noChangeArrowheads="1"/>
          </p:cNvSpPr>
          <p:nvPr/>
        </p:nvSpPr>
        <p:spPr bwMode="auto">
          <a:xfrm>
            <a:off x="3444875" y="55054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04" name="Oval 46"/>
          <p:cNvSpPr>
            <a:spLocks noChangeArrowheads="1"/>
          </p:cNvSpPr>
          <p:nvPr/>
        </p:nvSpPr>
        <p:spPr bwMode="auto">
          <a:xfrm>
            <a:off x="3597275" y="5657850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05" name="Oval 47"/>
          <p:cNvSpPr>
            <a:spLocks noChangeArrowheads="1"/>
          </p:cNvSpPr>
          <p:nvPr/>
        </p:nvSpPr>
        <p:spPr bwMode="auto">
          <a:xfrm>
            <a:off x="3978275" y="36242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06" name="Oval 48"/>
          <p:cNvSpPr>
            <a:spLocks noChangeArrowheads="1"/>
          </p:cNvSpPr>
          <p:nvPr/>
        </p:nvSpPr>
        <p:spPr bwMode="auto">
          <a:xfrm>
            <a:off x="4130675" y="37766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07" name="Oval 49"/>
          <p:cNvSpPr>
            <a:spLocks noChangeArrowheads="1"/>
          </p:cNvSpPr>
          <p:nvPr/>
        </p:nvSpPr>
        <p:spPr bwMode="auto">
          <a:xfrm>
            <a:off x="4283075" y="31670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08" name="Oval 50"/>
          <p:cNvSpPr>
            <a:spLocks noChangeArrowheads="1"/>
          </p:cNvSpPr>
          <p:nvPr/>
        </p:nvSpPr>
        <p:spPr bwMode="auto">
          <a:xfrm>
            <a:off x="4435475" y="33956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09" name="Oval 51"/>
          <p:cNvSpPr>
            <a:spLocks noChangeArrowheads="1"/>
          </p:cNvSpPr>
          <p:nvPr/>
        </p:nvSpPr>
        <p:spPr bwMode="auto">
          <a:xfrm>
            <a:off x="4587875" y="35480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10" name="Oval 52"/>
          <p:cNvSpPr>
            <a:spLocks noChangeArrowheads="1"/>
          </p:cNvSpPr>
          <p:nvPr/>
        </p:nvSpPr>
        <p:spPr bwMode="auto">
          <a:xfrm>
            <a:off x="3597275" y="37004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11" name="Oval 53"/>
          <p:cNvSpPr>
            <a:spLocks noChangeArrowheads="1"/>
          </p:cNvSpPr>
          <p:nvPr/>
        </p:nvSpPr>
        <p:spPr bwMode="auto">
          <a:xfrm>
            <a:off x="3749675" y="38528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12" name="Oval 54"/>
          <p:cNvSpPr>
            <a:spLocks noChangeArrowheads="1"/>
          </p:cNvSpPr>
          <p:nvPr/>
        </p:nvSpPr>
        <p:spPr bwMode="auto">
          <a:xfrm>
            <a:off x="3902075" y="32432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13" name="Oval 55"/>
          <p:cNvSpPr>
            <a:spLocks noChangeArrowheads="1"/>
          </p:cNvSpPr>
          <p:nvPr/>
        </p:nvSpPr>
        <p:spPr bwMode="auto">
          <a:xfrm>
            <a:off x="4054475" y="34718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14" name="Oval 56"/>
          <p:cNvSpPr>
            <a:spLocks noChangeArrowheads="1"/>
          </p:cNvSpPr>
          <p:nvPr/>
        </p:nvSpPr>
        <p:spPr bwMode="auto">
          <a:xfrm>
            <a:off x="4206875" y="36242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15" name="Oval 57"/>
          <p:cNvSpPr>
            <a:spLocks noChangeArrowheads="1"/>
          </p:cNvSpPr>
          <p:nvPr/>
        </p:nvSpPr>
        <p:spPr bwMode="auto">
          <a:xfrm>
            <a:off x="4359275" y="37766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16" name="Oval 58"/>
          <p:cNvSpPr>
            <a:spLocks noChangeArrowheads="1"/>
          </p:cNvSpPr>
          <p:nvPr/>
        </p:nvSpPr>
        <p:spPr bwMode="auto">
          <a:xfrm>
            <a:off x="4511675" y="39290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17" name="Oval 59"/>
          <p:cNvSpPr>
            <a:spLocks noChangeArrowheads="1"/>
          </p:cNvSpPr>
          <p:nvPr/>
        </p:nvSpPr>
        <p:spPr bwMode="auto">
          <a:xfrm>
            <a:off x="3597275" y="33194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18" name="Oval 60"/>
          <p:cNvSpPr>
            <a:spLocks noChangeArrowheads="1"/>
          </p:cNvSpPr>
          <p:nvPr/>
        </p:nvSpPr>
        <p:spPr bwMode="auto">
          <a:xfrm>
            <a:off x="3749675" y="3471863"/>
            <a:ext cx="76200" cy="76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19" name="Oval 61"/>
          <p:cNvSpPr>
            <a:spLocks noChangeArrowheads="1"/>
          </p:cNvSpPr>
          <p:nvPr/>
        </p:nvSpPr>
        <p:spPr bwMode="auto">
          <a:xfrm>
            <a:off x="6035675" y="59626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20" name="Oval 62"/>
          <p:cNvSpPr>
            <a:spLocks noChangeArrowheads="1"/>
          </p:cNvSpPr>
          <p:nvPr/>
        </p:nvSpPr>
        <p:spPr bwMode="auto">
          <a:xfrm>
            <a:off x="6188075" y="61150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21" name="Oval 63"/>
          <p:cNvSpPr>
            <a:spLocks noChangeArrowheads="1"/>
          </p:cNvSpPr>
          <p:nvPr/>
        </p:nvSpPr>
        <p:spPr bwMode="auto">
          <a:xfrm>
            <a:off x="6340475" y="55054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22" name="Oval 64"/>
          <p:cNvSpPr>
            <a:spLocks noChangeArrowheads="1"/>
          </p:cNvSpPr>
          <p:nvPr/>
        </p:nvSpPr>
        <p:spPr bwMode="auto">
          <a:xfrm>
            <a:off x="6492875" y="57340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23" name="Oval 65"/>
          <p:cNvSpPr>
            <a:spLocks noChangeArrowheads="1"/>
          </p:cNvSpPr>
          <p:nvPr/>
        </p:nvSpPr>
        <p:spPr bwMode="auto">
          <a:xfrm>
            <a:off x="6645275" y="58864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24" name="Oval 66"/>
          <p:cNvSpPr>
            <a:spLocks noChangeArrowheads="1"/>
          </p:cNvSpPr>
          <p:nvPr/>
        </p:nvSpPr>
        <p:spPr bwMode="auto">
          <a:xfrm>
            <a:off x="5654675" y="60388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25" name="Oval 67"/>
          <p:cNvSpPr>
            <a:spLocks noChangeArrowheads="1"/>
          </p:cNvSpPr>
          <p:nvPr/>
        </p:nvSpPr>
        <p:spPr bwMode="auto">
          <a:xfrm>
            <a:off x="5807075" y="61912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26" name="Oval 68"/>
          <p:cNvSpPr>
            <a:spLocks noChangeArrowheads="1"/>
          </p:cNvSpPr>
          <p:nvPr/>
        </p:nvSpPr>
        <p:spPr bwMode="auto">
          <a:xfrm>
            <a:off x="5959475" y="55816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27" name="Oval 69"/>
          <p:cNvSpPr>
            <a:spLocks noChangeArrowheads="1"/>
          </p:cNvSpPr>
          <p:nvPr/>
        </p:nvSpPr>
        <p:spPr bwMode="auto">
          <a:xfrm>
            <a:off x="6111875" y="58102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28" name="Oval 70"/>
          <p:cNvSpPr>
            <a:spLocks noChangeArrowheads="1"/>
          </p:cNvSpPr>
          <p:nvPr/>
        </p:nvSpPr>
        <p:spPr bwMode="auto">
          <a:xfrm>
            <a:off x="6264275" y="59626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29" name="Oval 71"/>
          <p:cNvSpPr>
            <a:spLocks noChangeArrowheads="1"/>
          </p:cNvSpPr>
          <p:nvPr/>
        </p:nvSpPr>
        <p:spPr bwMode="auto">
          <a:xfrm>
            <a:off x="6416675" y="61150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30" name="Oval 72"/>
          <p:cNvSpPr>
            <a:spLocks noChangeArrowheads="1"/>
          </p:cNvSpPr>
          <p:nvPr/>
        </p:nvSpPr>
        <p:spPr bwMode="auto">
          <a:xfrm>
            <a:off x="6569075" y="62674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31" name="Oval 73"/>
          <p:cNvSpPr>
            <a:spLocks noChangeArrowheads="1"/>
          </p:cNvSpPr>
          <p:nvPr/>
        </p:nvSpPr>
        <p:spPr bwMode="auto">
          <a:xfrm>
            <a:off x="5654675" y="56578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32" name="Oval 74"/>
          <p:cNvSpPr>
            <a:spLocks noChangeArrowheads="1"/>
          </p:cNvSpPr>
          <p:nvPr/>
        </p:nvSpPr>
        <p:spPr bwMode="auto">
          <a:xfrm>
            <a:off x="5807075" y="58102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33" name="Oval 76"/>
          <p:cNvSpPr>
            <a:spLocks noChangeArrowheads="1"/>
          </p:cNvSpPr>
          <p:nvPr/>
        </p:nvSpPr>
        <p:spPr bwMode="auto">
          <a:xfrm>
            <a:off x="4968875" y="60388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34" name="Oval 77"/>
          <p:cNvSpPr>
            <a:spLocks noChangeArrowheads="1"/>
          </p:cNvSpPr>
          <p:nvPr/>
        </p:nvSpPr>
        <p:spPr bwMode="auto">
          <a:xfrm>
            <a:off x="5121275" y="54292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35" name="Oval 78"/>
          <p:cNvSpPr>
            <a:spLocks noChangeArrowheads="1"/>
          </p:cNvSpPr>
          <p:nvPr/>
        </p:nvSpPr>
        <p:spPr bwMode="auto">
          <a:xfrm>
            <a:off x="5273675" y="56578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36" name="Oval 79"/>
          <p:cNvSpPr>
            <a:spLocks noChangeArrowheads="1"/>
          </p:cNvSpPr>
          <p:nvPr/>
        </p:nvSpPr>
        <p:spPr bwMode="auto">
          <a:xfrm>
            <a:off x="5426075" y="58102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37" name="Oval 80"/>
          <p:cNvSpPr>
            <a:spLocks noChangeArrowheads="1"/>
          </p:cNvSpPr>
          <p:nvPr/>
        </p:nvSpPr>
        <p:spPr bwMode="auto">
          <a:xfrm>
            <a:off x="5045075" y="58864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38" name="Oval 81"/>
          <p:cNvSpPr>
            <a:spLocks noChangeArrowheads="1"/>
          </p:cNvSpPr>
          <p:nvPr/>
        </p:nvSpPr>
        <p:spPr bwMode="auto">
          <a:xfrm>
            <a:off x="5197475" y="60388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39" name="Oval 82"/>
          <p:cNvSpPr>
            <a:spLocks noChangeArrowheads="1"/>
          </p:cNvSpPr>
          <p:nvPr/>
        </p:nvSpPr>
        <p:spPr bwMode="auto">
          <a:xfrm>
            <a:off x="5349875" y="619125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4340" name="Line 83"/>
          <p:cNvSpPr>
            <a:spLocks noChangeShapeType="1"/>
          </p:cNvSpPr>
          <p:nvPr/>
        </p:nvSpPr>
        <p:spPr bwMode="auto">
          <a:xfrm flipV="1">
            <a:off x="1920875" y="2914650"/>
            <a:ext cx="0" cy="411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54341" name="Line 84"/>
          <p:cNvSpPr>
            <a:spLocks noChangeShapeType="1"/>
          </p:cNvSpPr>
          <p:nvPr/>
        </p:nvSpPr>
        <p:spPr bwMode="auto">
          <a:xfrm>
            <a:off x="1768475" y="6648450"/>
            <a:ext cx="556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54342" name="Text Box 85"/>
          <p:cNvSpPr txBox="1">
            <a:spLocks noChangeArrowheads="1"/>
          </p:cNvSpPr>
          <p:nvPr/>
        </p:nvSpPr>
        <p:spPr bwMode="auto">
          <a:xfrm>
            <a:off x="7315200" y="615156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54343" name="Text Box 86"/>
          <p:cNvSpPr txBox="1">
            <a:spLocks noChangeArrowheads="1"/>
          </p:cNvSpPr>
          <p:nvPr/>
        </p:nvSpPr>
        <p:spPr bwMode="auto">
          <a:xfrm>
            <a:off x="1371600" y="272256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800" i="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54344" name="Line 89"/>
          <p:cNvSpPr>
            <a:spLocks noChangeShapeType="1"/>
          </p:cNvSpPr>
          <p:nvPr/>
        </p:nvSpPr>
        <p:spPr bwMode="auto">
          <a:xfrm flipH="1" flipV="1">
            <a:off x="4643438" y="3644900"/>
            <a:ext cx="1392237" cy="717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54345" name="Line 90"/>
          <p:cNvSpPr>
            <a:spLocks noChangeShapeType="1"/>
          </p:cNvSpPr>
          <p:nvPr/>
        </p:nvSpPr>
        <p:spPr bwMode="auto">
          <a:xfrm flipH="1">
            <a:off x="4356100" y="4438650"/>
            <a:ext cx="1679575" cy="8620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54346" name="Line 91"/>
          <p:cNvSpPr>
            <a:spLocks noChangeShapeType="1"/>
          </p:cNvSpPr>
          <p:nvPr/>
        </p:nvSpPr>
        <p:spPr bwMode="auto">
          <a:xfrm flipH="1">
            <a:off x="6011863" y="4514850"/>
            <a:ext cx="23812" cy="3540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54347" name="Text Box 92"/>
          <p:cNvSpPr txBox="1">
            <a:spLocks noChangeArrowheads="1"/>
          </p:cNvSpPr>
          <p:nvPr/>
        </p:nvSpPr>
        <p:spPr bwMode="auto">
          <a:xfrm>
            <a:off x="5959475" y="4221163"/>
            <a:ext cx="361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1400" b="1" i="0">
                <a:solidFill>
                  <a:schemeClr val="bg2"/>
                </a:solidFill>
                <a:latin typeface="Arial" panose="020B0604020202020204" pitchFamily="34" charset="0"/>
                <a:sym typeface="Marlett" pitchFamily="2" charset="2"/>
              </a:rPr>
              <a:t></a:t>
            </a:r>
            <a:endParaRPr lang="es-ES_tradnl" altLang="es-ES" sz="1400" b="1" i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4348" name="Text Box 93"/>
          <p:cNvSpPr txBox="1">
            <a:spLocks noChangeArrowheads="1"/>
          </p:cNvSpPr>
          <p:nvPr/>
        </p:nvSpPr>
        <p:spPr bwMode="auto">
          <a:xfrm>
            <a:off x="6172200" y="4048125"/>
            <a:ext cx="341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_tradnl" altLang="es-ES" sz="2800" i="0"/>
              <a:t>?</a:t>
            </a:r>
          </a:p>
        </p:txBody>
      </p:sp>
      <p:sp>
        <p:nvSpPr>
          <p:cNvPr id="54349" name="Line 97"/>
          <p:cNvSpPr>
            <a:spLocks noChangeShapeType="1"/>
          </p:cNvSpPr>
          <p:nvPr/>
        </p:nvSpPr>
        <p:spPr bwMode="auto">
          <a:xfrm flipH="1" flipV="1">
            <a:off x="4643438" y="4005263"/>
            <a:ext cx="1296987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54350" name="Line 98"/>
          <p:cNvSpPr>
            <a:spLocks noChangeShapeType="1"/>
          </p:cNvSpPr>
          <p:nvPr/>
        </p:nvSpPr>
        <p:spPr bwMode="auto">
          <a:xfrm flipH="1">
            <a:off x="5580063" y="4437063"/>
            <a:ext cx="504825" cy="576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54351" name="Line 99"/>
          <p:cNvSpPr>
            <a:spLocks noChangeShapeType="1"/>
          </p:cNvSpPr>
          <p:nvPr/>
        </p:nvSpPr>
        <p:spPr bwMode="auto">
          <a:xfrm>
            <a:off x="6156325" y="4508500"/>
            <a:ext cx="0" cy="576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54352" name="Text Box 105"/>
          <p:cNvSpPr txBox="1">
            <a:spLocks noChangeArrowheads="1"/>
          </p:cNvSpPr>
          <p:nvPr/>
        </p:nvSpPr>
        <p:spPr bwMode="auto">
          <a:xfrm>
            <a:off x="4140200" y="4292600"/>
            <a:ext cx="1336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Etc., etc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7772400" cy="1143000"/>
          </a:xfrm>
        </p:spPr>
        <p:txBody>
          <a:bodyPr/>
          <a:lstStyle/>
          <a:p>
            <a:r>
              <a:rPr lang="es-ES_tradnl" altLang="es-ES" smtClean="0"/>
              <a:t>7. Clasificación no paramétrica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2362200"/>
            <a:ext cx="7772400" cy="4114800"/>
          </a:xfrm>
        </p:spPr>
        <p:txBody>
          <a:bodyPr/>
          <a:lstStyle/>
          <a:p>
            <a:r>
              <a:rPr lang="es-ES_tradnl" altLang="es-ES" smtClean="0"/>
              <a:t>Consideran cada patrón como un prototipo válido</a:t>
            </a:r>
          </a:p>
          <a:p>
            <a:r>
              <a:rPr lang="es-ES_tradnl" altLang="es-ES" smtClean="0"/>
              <a:t>Las técnicas no paramétricas más usuales son:</a:t>
            </a:r>
          </a:p>
          <a:p>
            <a:pPr lvl="1"/>
            <a:r>
              <a:rPr lang="es-ES_tradnl" altLang="es-ES" smtClean="0"/>
              <a:t>Vecino más cercano</a:t>
            </a:r>
          </a:p>
          <a:p>
            <a:pPr lvl="1"/>
            <a:r>
              <a:rPr lang="es-ES_tradnl" altLang="es-ES" smtClean="0"/>
              <a:t>K-vecinos más cercanos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7. Clasificación no paramétrica </a:t>
            </a:r>
            <a:r>
              <a:rPr lang="es-ES_tradnl" altLang="es-ES" sz="3600" smtClean="0"/>
              <a:t>Técnica del vecino más cercano (1-NN)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mtClean="0"/>
              <a:t>Partimos de un conjunto de patrones de los que conocemos su clase</a:t>
            </a:r>
          </a:p>
          <a:p>
            <a:r>
              <a:rPr lang="es-ES_tradnl" altLang="es-ES" smtClean="0"/>
              <a:t>Un patrón desconocido se asigna a la clase a la que pertenece el patrón más cercano</a:t>
            </a:r>
          </a:p>
          <a:p>
            <a:r>
              <a:rPr lang="es-ES_tradnl" altLang="es-ES" smtClean="0"/>
              <a:t>Es preciso definir una </a:t>
            </a:r>
            <a:r>
              <a:rPr lang="es-ES_tradnl" altLang="es-ES" smtClean="0">
                <a:solidFill>
                  <a:schemeClr val="hlink"/>
                </a:solidFill>
              </a:rPr>
              <a:t>función de distancia</a:t>
            </a:r>
            <a:r>
              <a:rPr lang="es-ES_tradnl" altLang="es-ES" smtClean="0"/>
              <a:t>, que cumpla : </a:t>
            </a:r>
          </a:p>
          <a:p>
            <a:pPr lvl="2">
              <a:buFontTx/>
              <a:buNone/>
            </a:pPr>
            <a:r>
              <a:rPr lang="es-ES_tradnl" altLang="es-ES" smtClean="0"/>
              <a:t>d(x , y) = 0  </a:t>
            </a:r>
            <a:r>
              <a:rPr lang="es-ES_tradnl" altLang="es-ES" smtClean="0">
                <a:sym typeface="Symbol" panose="05050102010706020507" pitchFamily="18" charset="2"/>
              </a:rPr>
              <a:t>  x = y</a:t>
            </a:r>
          </a:p>
          <a:p>
            <a:pPr lvl="2">
              <a:buFontTx/>
              <a:buNone/>
            </a:pPr>
            <a:r>
              <a:rPr lang="es-ES_tradnl" altLang="es-ES" smtClean="0">
                <a:sym typeface="Symbol" panose="05050102010706020507" pitchFamily="18" charset="2"/>
              </a:rPr>
              <a:t>d(x , y)  =  d(y , x)</a:t>
            </a:r>
          </a:p>
          <a:p>
            <a:pPr lvl="2">
              <a:buFontTx/>
              <a:buNone/>
            </a:pPr>
            <a:r>
              <a:rPr lang="es-ES_tradnl" altLang="es-ES" smtClean="0">
                <a:sym typeface="Symbol" panose="05050102010706020507" pitchFamily="18" charset="2"/>
              </a:rPr>
              <a:t>d(x , z)    d(x , y) + d(y , z)</a:t>
            </a:r>
            <a:endParaRPr lang="es-ES_tradnl" altLang="es-ES" smtClean="0"/>
          </a:p>
          <a:p>
            <a:endParaRPr lang="es-ES_tradnl" altLang="es-E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914400"/>
            <a:ext cx="8610600" cy="1143000"/>
          </a:xfrm>
        </p:spPr>
        <p:txBody>
          <a:bodyPr/>
          <a:lstStyle/>
          <a:p>
            <a:r>
              <a:rPr lang="es-ES_tradnl" altLang="es-ES" smtClean="0"/>
              <a:t>7. Clasificación no paramétrica </a:t>
            </a:r>
            <a:r>
              <a:rPr lang="es-ES_tradnl" altLang="es-ES" sz="3600" smtClean="0"/>
              <a:t>Técnica K-vecinos más cercanos (K-NN)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362200"/>
            <a:ext cx="8153400" cy="4114800"/>
          </a:xfrm>
        </p:spPr>
        <p:txBody>
          <a:bodyPr/>
          <a:lstStyle/>
          <a:p>
            <a:r>
              <a:rPr lang="es-ES_tradnl" altLang="es-ES" smtClean="0"/>
              <a:t>Se buscan los k vecinos más cercanos</a:t>
            </a:r>
          </a:p>
          <a:p>
            <a:r>
              <a:rPr lang="es-ES_tradnl" altLang="es-ES" smtClean="0"/>
              <a:t>Se asigna el patrón a la clase de la mayoría (K-vecino más cercano) por medio de una votación</a:t>
            </a:r>
          </a:p>
          <a:p>
            <a:r>
              <a:rPr lang="es-ES_tradnl" altLang="es-ES" smtClean="0"/>
              <a:t>En caso de empate, se suele asignar a la clase del patrón más cercano</a:t>
            </a:r>
          </a:p>
          <a:p>
            <a:r>
              <a:rPr lang="es-ES_tradnl" altLang="es-ES" smtClean="0"/>
              <a:t>Ofrece excelentes resultados, a costa de una gran lentitud de clasificación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914400" y="2362200"/>
            <a:ext cx="7315200" cy="1143000"/>
          </a:xfrm>
          <a:prstGeom prst="rect">
            <a:avLst/>
          </a:prstGeom>
          <a:solidFill>
            <a:srgbClr val="FDE3B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s-ES_tradnl" altLang="es-ES" sz="4000" smtClean="0"/>
              <a:t>Algoritmos de agrupamiento</a:t>
            </a:r>
            <a:br>
              <a:rPr lang="es-ES_tradnl" altLang="es-ES" sz="4000" smtClean="0"/>
            </a:br>
            <a:r>
              <a:rPr lang="es-ES_tradnl" altLang="es-ES" sz="4000" smtClean="0"/>
              <a:t>(Clustering)</a:t>
            </a:r>
          </a:p>
        </p:txBody>
      </p:sp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2667000" y="609600"/>
          <a:ext cx="44196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0" name="Foto de Photo Editor" r:id="rId3" imgW="14060863" imgH="4153480" progId="MSPhotoEd.3">
                  <p:embed/>
                </p:oleObj>
              </mc:Choice>
              <mc:Fallback>
                <p:oleObj name="Foto de Photo Editor" r:id="rId3" imgW="14060863" imgH="4153480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609600"/>
                        <a:ext cx="44196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0" y="3886200"/>
            <a:ext cx="9144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lang="es-ES_tradnl" altLang="es-ES"/>
              <a:t>Dr. Pedro L. Galindo Riaño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s-ES_tradnl" altLang="es-ES"/>
              <a:t>Universidad de Cádiz</a:t>
            </a:r>
            <a:endParaRPr lang="es-ES_tradnl" altLang="es-ES" sz="3600"/>
          </a:p>
          <a:p>
            <a:pPr algn="ctr">
              <a:lnSpc>
                <a:spcPct val="80000"/>
              </a:lnSpc>
              <a:buFontTx/>
              <a:buNone/>
            </a:pPr>
            <a:endParaRPr lang="es-ES_tradnl" altLang="es-ES"/>
          </a:p>
          <a:p>
            <a:pPr algn="ctr">
              <a:lnSpc>
                <a:spcPct val="60000"/>
              </a:lnSpc>
              <a:buFontTx/>
              <a:buNone/>
            </a:pPr>
            <a:r>
              <a:rPr lang="es-ES_tradnl" altLang="es-ES" sz="2800"/>
              <a:t>www2.uca.es/grup-invest/sic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s-ES_tradnl" altLang="es-ES" sz="2800"/>
              <a:t>www2.uca.es/dept/leng_sist_informaticos/preal/pedro</a:t>
            </a:r>
            <a:endParaRPr lang="es-ES_tradnl" altLang="es-E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Agrupamiento ó Clustering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mtClean="0"/>
              <a:t>Permite detectar la existencia de subclases en los datos</a:t>
            </a:r>
          </a:p>
          <a:p>
            <a:r>
              <a:rPr lang="es-ES_tradnl" altLang="es-ES" smtClean="0"/>
              <a:t>Se utiliza aprendizaje no supervisado</a:t>
            </a:r>
          </a:p>
          <a:p>
            <a:endParaRPr lang="es-ES_tradnl" altLang="es-ES" smtClean="0"/>
          </a:p>
        </p:txBody>
      </p:sp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1905000" y="3962400"/>
          <a:ext cx="58674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3" name="Foto de Photo Editor" r:id="rId3" imgW="3333333" imgH="1162212" progId="MSPhotoEd.3">
                  <p:embed/>
                </p:oleObj>
              </mc:Choice>
              <mc:Fallback>
                <p:oleObj name="Foto de Photo Editor" r:id="rId3" imgW="3333333" imgH="1162212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962400"/>
                        <a:ext cx="58674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z="4800" smtClean="0"/>
              <a:t>Métodos de Clustering</a:t>
            </a:r>
            <a:endParaRPr lang="es-ES_tradnl" altLang="es-ES" sz="6000" smtClean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z="2800" smtClean="0"/>
              <a:t>Los métodos más conocidos son :</a:t>
            </a:r>
          </a:p>
          <a:p>
            <a:pPr lvl="1"/>
            <a:r>
              <a:rPr lang="es-ES_tradnl" altLang="es-ES" sz="2400" smtClean="0"/>
              <a:t>Métodos jerárquicos</a:t>
            </a:r>
          </a:p>
          <a:p>
            <a:pPr lvl="2"/>
            <a:r>
              <a:rPr lang="es-ES_tradnl" altLang="es-ES" sz="2000" smtClean="0"/>
              <a:t>Aglomerativos</a:t>
            </a:r>
          </a:p>
          <a:p>
            <a:pPr lvl="2"/>
            <a:r>
              <a:rPr lang="es-ES_tradnl" altLang="es-ES" sz="2000" smtClean="0"/>
              <a:t>Divisivos </a:t>
            </a:r>
          </a:p>
          <a:p>
            <a:pPr lvl="1"/>
            <a:r>
              <a:rPr lang="es-ES_tradnl" altLang="es-ES" sz="2400" smtClean="0"/>
              <a:t>Método basados en las K-medias</a:t>
            </a:r>
          </a:p>
          <a:p>
            <a:pPr lvl="2"/>
            <a:r>
              <a:rPr lang="es-ES_tradnl" altLang="es-ES" sz="2000" smtClean="0"/>
              <a:t>Método de las K-medias (también llamado algoritmo LBG, ó Alg. Lloyd generalizado)</a:t>
            </a:r>
          </a:p>
          <a:p>
            <a:pPr lvl="2"/>
            <a:r>
              <a:rPr lang="es-ES_tradnl" altLang="es-ES" sz="2000" smtClean="0"/>
              <a:t>Método de las Fuzzy K-medias</a:t>
            </a:r>
          </a:p>
          <a:p>
            <a:pPr lvl="1"/>
            <a:r>
              <a:rPr lang="es-ES_tradnl" altLang="es-ES" sz="2400" smtClean="0"/>
              <a:t>Algoritmo EM</a:t>
            </a:r>
          </a:p>
          <a:p>
            <a:pPr lvl="1"/>
            <a:r>
              <a:rPr lang="es-ES_tradnl" altLang="es-ES" sz="2400" smtClean="0"/>
              <a:t>Mapas autoorganizativos de Kohonen 	(tema aparte)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5400" smtClean="0"/>
              <a:t>Métodos jerárquicos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9138"/>
            <a:ext cx="4822825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s-ES" altLang="es-ES" sz="2400" smtClean="0"/>
              <a:t>Método aglomerativo</a:t>
            </a:r>
          </a:p>
          <a:p>
            <a:pPr lvl="1">
              <a:lnSpc>
                <a:spcPct val="80000"/>
              </a:lnSpc>
            </a:pPr>
            <a:r>
              <a:rPr lang="es-ES" altLang="es-ES" sz="2000" smtClean="0"/>
              <a:t>Inicialmente, cada dato es un prototipo válido</a:t>
            </a:r>
          </a:p>
          <a:p>
            <a:pPr lvl="1">
              <a:lnSpc>
                <a:spcPct val="80000"/>
              </a:lnSpc>
            </a:pPr>
            <a:r>
              <a:rPr lang="es-ES" altLang="es-ES" sz="2000" smtClean="0"/>
              <a:t>Mezcla los dos prototipos más parecidos</a:t>
            </a:r>
          </a:p>
          <a:p>
            <a:pPr lvl="1">
              <a:lnSpc>
                <a:spcPct val="80000"/>
              </a:lnSpc>
            </a:pPr>
            <a:r>
              <a:rPr lang="es-ES" altLang="es-ES" sz="2000" smtClean="0"/>
              <a:t>Repetir hasta que el nº de clusters sea el deseado</a:t>
            </a:r>
          </a:p>
          <a:p>
            <a:pPr>
              <a:lnSpc>
                <a:spcPct val="80000"/>
              </a:lnSpc>
            </a:pPr>
            <a:r>
              <a:rPr lang="es-ES" altLang="es-ES" sz="2400" smtClean="0"/>
              <a:t>Método divisivo</a:t>
            </a:r>
          </a:p>
          <a:p>
            <a:pPr lvl="1">
              <a:lnSpc>
                <a:spcPct val="80000"/>
              </a:lnSpc>
            </a:pPr>
            <a:r>
              <a:rPr lang="es-ES" altLang="es-ES" sz="2000" smtClean="0"/>
              <a:t>Considera inicialmente un único cluster</a:t>
            </a:r>
          </a:p>
          <a:p>
            <a:pPr lvl="1">
              <a:lnSpc>
                <a:spcPct val="80000"/>
              </a:lnSpc>
            </a:pPr>
            <a:r>
              <a:rPr lang="es-ES" altLang="es-ES" sz="2000" smtClean="0"/>
              <a:t>Según un cierto criterio predefinido, se elige un cluster, y se divide en dos (o más)</a:t>
            </a:r>
          </a:p>
          <a:p>
            <a:pPr lvl="1">
              <a:lnSpc>
                <a:spcPct val="80000"/>
              </a:lnSpc>
            </a:pPr>
            <a:r>
              <a:rPr lang="es-ES" altLang="es-ES" sz="2000" smtClean="0"/>
              <a:t>Repetir hasta que el nº de clusters sea el deseado</a:t>
            </a:r>
          </a:p>
          <a:p>
            <a:pPr>
              <a:lnSpc>
                <a:spcPct val="80000"/>
              </a:lnSpc>
            </a:pPr>
            <a:endParaRPr lang="es-ES" altLang="es-ES" sz="2400" smtClean="0"/>
          </a:p>
        </p:txBody>
      </p:sp>
      <p:sp>
        <p:nvSpPr>
          <p:cNvPr id="61444" name="Line 4"/>
          <p:cNvSpPr>
            <a:spLocks noChangeShapeType="1"/>
          </p:cNvSpPr>
          <p:nvPr/>
        </p:nvSpPr>
        <p:spPr bwMode="auto">
          <a:xfrm>
            <a:off x="7451725" y="4508500"/>
            <a:ext cx="0" cy="360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61445" name="Line 5"/>
          <p:cNvSpPr>
            <a:spLocks noChangeShapeType="1"/>
          </p:cNvSpPr>
          <p:nvPr/>
        </p:nvSpPr>
        <p:spPr bwMode="auto">
          <a:xfrm>
            <a:off x="6732588" y="4868863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61446" name="Line 6"/>
          <p:cNvSpPr>
            <a:spLocks noChangeShapeType="1"/>
          </p:cNvSpPr>
          <p:nvPr/>
        </p:nvSpPr>
        <p:spPr bwMode="auto">
          <a:xfrm>
            <a:off x="6732588" y="4868863"/>
            <a:ext cx="0" cy="360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>
            <a:off x="8027988" y="4868863"/>
            <a:ext cx="0" cy="360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61448" name="Line 8"/>
          <p:cNvSpPr>
            <a:spLocks noChangeShapeType="1"/>
          </p:cNvSpPr>
          <p:nvPr/>
        </p:nvSpPr>
        <p:spPr bwMode="auto">
          <a:xfrm>
            <a:off x="6300788" y="5229225"/>
            <a:ext cx="1079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>
            <a:off x="7380288" y="5229225"/>
            <a:ext cx="0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61450" name="Line 10"/>
          <p:cNvSpPr>
            <a:spLocks noChangeShapeType="1"/>
          </p:cNvSpPr>
          <p:nvPr/>
        </p:nvSpPr>
        <p:spPr bwMode="auto">
          <a:xfrm>
            <a:off x="7667625" y="5229225"/>
            <a:ext cx="0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>
            <a:off x="7667625" y="5229225"/>
            <a:ext cx="792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61452" name="Line 12"/>
          <p:cNvSpPr>
            <a:spLocks noChangeShapeType="1"/>
          </p:cNvSpPr>
          <p:nvPr/>
        </p:nvSpPr>
        <p:spPr bwMode="auto">
          <a:xfrm>
            <a:off x="6300788" y="5229225"/>
            <a:ext cx="0" cy="360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>
            <a:off x="5940425" y="5589588"/>
            <a:ext cx="0" cy="287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61454" name="Line 14"/>
          <p:cNvSpPr>
            <a:spLocks noChangeShapeType="1"/>
          </p:cNvSpPr>
          <p:nvPr/>
        </p:nvSpPr>
        <p:spPr bwMode="auto">
          <a:xfrm>
            <a:off x="6732588" y="5589588"/>
            <a:ext cx="0" cy="287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61455" name="Line 15"/>
          <p:cNvSpPr>
            <a:spLocks noChangeShapeType="1"/>
          </p:cNvSpPr>
          <p:nvPr/>
        </p:nvSpPr>
        <p:spPr bwMode="auto">
          <a:xfrm>
            <a:off x="5940425" y="5589588"/>
            <a:ext cx="792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grpSp>
        <p:nvGrpSpPr>
          <p:cNvPr id="61456" name="Group 16"/>
          <p:cNvGrpSpPr>
            <a:grpSpLocks/>
          </p:cNvGrpSpPr>
          <p:nvPr/>
        </p:nvGrpSpPr>
        <p:grpSpPr bwMode="auto">
          <a:xfrm>
            <a:off x="5651500" y="2636838"/>
            <a:ext cx="936625" cy="358775"/>
            <a:chOff x="3787" y="1707"/>
            <a:chExt cx="1588" cy="907"/>
          </a:xfrm>
        </p:grpSpPr>
        <p:sp>
          <p:nvSpPr>
            <p:cNvPr id="61490" name="Line 17"/>
            <p:cNvSpPr>
              <a:spLocks noChangeShapeType="1"/>
            </p:cNvSpPr>
            <p:nvPr/>
          </p:nvSpPr>
          <p:spPr bwMode="auto">
            <a:xfrm flipV="1">
              <a:off x="4739" y="2387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91" name="Line 18"/>
            <p:cNvSpPr>
              <a:spLocks noChangeShapeType="1"/>
            </p:cNvSpPr>
            <p:nvPr/>
          </p:nvSpPr>
          <p:spPr bwMode="auto">
            <a:xfrm flipV="1">
              <a:off x="4286" y="238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92" name="Line 19"/>
            <p:cNvSpPr>
              <a:spLocks noChangeShapeType="1"/>
            </p:cNvSpPr>
            <p:nvPr/>
          </p:nvSpPr>
          <p:spPr bwMode="auto">
            <a:xfrm flipV="1">
              <a:off x="4286" y="2160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93" name="Line 20"/>
            <p:cNvSpPr>
              <a:spLocks noChangeShapeType="1"/>
            </p:cNvSpPr>
            <p:nvPr/>
          </p:nvSpPr>
          <p:spPr bwMode="auto">
            <a:xfrm flipV="1">
              <a:off x="5102" y="2160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94" name="Line 21"/>
            <p:cNvSpPr>
              <a:spLocks noChangeShapeType="1"/>
            </p:cNvSpPr>
            <p:nvPr/>
          </p:nvSpPr>
          <p:spPr bwMode="auto">
            <a:xfrm flipV="1">
              <a:off x="4014" y="2160"/>
              <a:ext cx="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95" name="Line 22"/>
            <p:cNvSpPr>
              <a:spLocks noChangeShapeType="1"/>
            </p:cNvSpPr>
            <p:nvPr/>
          </p:nvSpPr>
          <p:spPr bwMode="auto">
            <a:xfrm flipV="1">
              <a:off x="4694" y="1752"/>
              <a:ext cx="0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96" name="Line 23"/>
            <p:cNvSpPr>
              <a:spLocks noChangeShapeType="1"/>
            </p:cNvSpPr>
            <p:nvPr/>
          </p:nvSpPr>
          <p:spPr bwMode="auto">
            <a:xfrm flipV="1">
              <a:off x="4875" y="1752"/>
              <a:ext cx="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97" name="Line 24"/>
            <p:cNvSpPr>
              <a:spLocks noChangeShapeType="1"/>
            </p:cNvSpPr>
            <p:nvPr/>
          </p:nvSpPr>
          <p:spPr bwMode="auto">
            <a:xfrm flipV="1">
              <a:off x="5374" y="1707"/>
              <a:ext cx="1" cy="4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98" name="Line 25"/>
            <p:cNvSpPr>
              <a:spLocks noChangeShapeType="1"/>
            </p:cNvSpPr>
            <p:nvPr/>
          </p:nvSpPr>
          <p:spPr bwMode="auto">
            <a:xfrm flipV="1">
              <a:off x="4875" y="2160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99" name="Line 26"/>
            <p:cNvSpPr>
              <a:spLocks noChangeShapeType="1"/>
            </p:cNvSpPr>
            <p:nvPr/>
          </p:nvSpPr>
          <p:spPr bwMode="auto">
            <a:xfrm flipV="1">
              <a:off x="4014" y="1933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500" name="Line 27"/>
            <p:cNvSpPr>
              <a:spLocks noChangeShapeType="1"/>
            </p:cNvSpPr>
            <p:nvPr/>
          </p:nvSpPr>
          <p:spPr bwMode="auto">
            <a:xfrm flipV="1">
              <a:off x="3787" y="1752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501" name="Line 28"/>
            <p:cNvSpPr>
              <a:spLocks noChangeShapeType="1"/>
            </p:cNvSpPr>
            <p:nvPr/>
          </p:nvSpPr>
          <p:spPr bwMode="auto">
            <a:xfrm flipV="1">
              <a:off x="4286" y="1752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502" name="Line 29"/>
            <p:cNvSpPr>
              <a:spLocks noChangeShapeType="1"/>
            </p:cNvSpPr>
            <p:nvPr/>
          </p:nvSpPr>
          <p:spPr bwMode="auto">
            <a:xfrm flipV="1">
              <a:off x="3787" y="1933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1457" name="Line 30"/>
          <p:cNvSpPr>
            <a:spLocks noChangeShapeType="1"/>
          </p:cNvSpPr>
          <p:nvPr/>
        </p:nvSpPr>
        <p:spPr bwMode="auto">
          <a:xfrm>
            <a:off x="8459788" y="5229225"/>
            <a:ext cx="0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grpSp>
        <p:nvGrpSpPr>
          <p:cNvPr id="61458" name="Group 31"/>
          <p:cNvGrpSpPr>
            <a:grpSpLocks/>
          </p:cNvGrpSpPr>
          <p:nvPr/>
        </p:nvGrpSpPr>
        <p:grpSpPr bwMode="auto">
          <a:xfrm>
            <a:off x="6732588" y="2636838"/>
            <a:ext cx="936625" cy="358775"/>
            <a:chOff x="3787" y="1707"/>
            <a:chExt cx="1588" cy="907"/>
          </a:xfrm>
        </p:grpSpPr>
        <p:sp>
          <p:nvSpPr>
            <p:cNvPr id="61477" name="Line 32"/>
            <p:cNvSpPr>
              <a:spLocks noChangeShapeType="1"/>
            </p:cNvSpPr>
            <p:nvPr/>
          </p:nvSpPr>
          <p:spPr bwMode="auto">
            <a:xfrm flipV="1">
              <a:off x="4739" y="2387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78" name="Line 33"/>
            <p:cNvSpPr>
              <a:spLocks noChangeShapeType="1"/>
            </p:cNvSpPr>
            <p:nvPr/>
          </p:nvSpPr>
          <p:spPr bwMode="auto">
            <a:xfrm flipV="1">
              <a:off x="4286" y="238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79" name="Line 34"/>
            <p:cNvSpPr>
              <a:spLocks noChangeShapeType="1"/>
            </p:cNvSpPr>
            <p:nvPr/>
          </p:nvSpPr>
          <p:spPr bwMode="auto">
            <a:xfrm flipV="1">
              <a:off x="4286" y="2160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80" name="Line 35"/>
            <p:cNvSpPr>
              <a:spLocks noChangeShapeType="1"/>
            </p:cNvSpPr>
            <p:nvPr/>
          </p:nvSpPr>
          <p:spPr bwMode="auto">
            <a:xfrm flipV="1">
              <a:off x="5102" y="2160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81" name="Line 36"/>
            <p:cNvSpPr>
              <a:spLocks noChangeShapeType="1"/>
            </p:cNvSpPr>
            <p:nvPr/>
          </p:nvSpPr>
          <p:spPr bwMode="auto">
            <a:xfrm flipV="1">
              <a:off x="4014" y="2160"/>
              <a:ext cx="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82" name="Line 37"/>
            <p:cNvSpPr>
              <a:spLocks noChangeShapeType="1"/>
            </p:cNvSpPr>
            <p:nvPr/>
          </p:nvSpPr>
          <p:spPr bwMode="auto">
            <a:xfrm flipV="1">
              <a:off x="4694" y="1752"/>
              <a:ext cx="0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83" name="Line 38"/>
            <p:cNvSpPr>
              <a:spLocks noChangeShapeType="1"/>
            </p:cNvSpPr>
            <p:nvPr/>
          </p:nvSpPr>
          <p:spPr bwMode="auto">
            <a:xfrm flipV="1">
              <a:off x="4875" y="1752"/>
              <a:ext cx="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84" name="Line 39"/>
            <p:cNvSpPr>
              <a:spLocks noChangeShapeType="1"/>
            </p:cNvSpPr>
            <p:nvPr/>
          </p:nvSpPr>
          <p:spPr bwMode="auto">
            <a:xfrm flipV="1">
              <a:off x="5374" y="1707"/>
              <a:ext cx="1" cy="4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85" name="Line 40"/>
            <p:cNvSpPr>
              <a:spLocks noChangeShapeType="1"/>
            </p:cNvSpPr>
            <p:nvPr/>
          </p:nvSpPr>
          <p:spPr bwMode="auto">
            <a:xfrm flipV="1">
              <a:off x="4875" y="2160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86" name="Line 41"/>
            <p:cNvSpPr>
              <a:spLocks noChangeShapeType="1"/>
            </p:cNvSpPr>
            <p:nvPr/>
          </p:nvSpPr>
          <p:spPr bwMode="auto">
            <a:xfrm flipV="1">
              <a:off x="4014" y="1933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87" name="Line 42"/>
            <p:cNvSpPr>
              <a:spLocks noChangeShapeType="1"/>
            </p:cNvSpPr>
            <p:nvPr/>
          </p:nvSpPr>
          <p:spPr bwMode="auto">
            <a:xfrm flipV="1">
              <a:off x="3787" y="1752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88" name="Line 43"/>
            <p:cNvSpPr>
              <a:spLocks noChangeShapeType="1"/>
            </p:cNvSpPr>
            <p:nvPr/>
          </p:nvSpPr>
          <p:spPr bwMode="auto">
            <a:xfrm flipV="1">
              <a:off x="4286" y="1752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89" name="Line 44"/>
            <p:cNvSpPr>
              <a:spLocks noChangeShapeType="1"/>
            </p:cNvSpPr>
            <p:nvPr/>
          </p:nvSpPr>
          <p:spPr bwMode="auto">
            <a:xfrm flipV="1">
              <a:off x="3787" y="1933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1459" name="Group 45"/>
          <p:cNvGrpSpPr>
            <a:grpSpLocks/>
          </p:cNvGrpSpPr>
          <p:nvPr/>
        </p:nvGrpSpPr>
        <p:grpSpPr bwMode="auto">
          <a:xfrm flipH="1">
            <a:off x="7883525" y="2638425"/>
            <a:ext cx="936625" cy="358775"/>
            <a:chOff x="3787" y="1707"/>
            <a:chExt cx="1588" cy="907"/>
          </a:xfrm>
        </p:grpSpPr>
        <p:sp>
          <p:nvSpPr>
            <p:cNvPr id="61464" name="Line 46"/>
            <p:cNvSpPr>
              <a:spLocks noChangeShapeType="1"/>
            </p:cNvSpPr>
            <p:nvPr/>
          </p:nvSpPr>
          <p:spPr bwMode="auto">
            <a:xfrm flipV="1">
              <a:off x="4739" y="2387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65" name="Line 47"/>
            <p:cNvSpPr>
              <a:spLocks noChangeShapeType="1"/>
            </p:cNvSpPr>
            <p:nvPr/>
          </p:nvSpPr>
          <p:spPr bwMode="auto">
            <a:xfrm flipH="1" flipV="1">
              <a:off x="4286" y="238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66" name="Line 48"/>
            <p:cNvSpPr>
              <a:spLocks noChangeShapeType="1"/>
            </p:cNvSpPr>
            <p:nvPr/>
          </p:nvSpPr>
          <p:spPr bwMode="auto">
            <a:xfrm flipV="1">
              <a:off x="4286" y="2160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67" name="Line 49"/>
            <p:cNvSpPr>
              <a:spLocks noChangeShapeType="1"/>
            </p:cNvSpPr>
            <p:nvPr/>
          </p:nvSpPr>
          <p:spPr bwMode="auto">
            <a:xfrm flipV="1">
              <a:off x="5102" y="2160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68" name="Line 50"/>
            <p:cNvSpPr>
              <a:spLocks noChangeShapeType="1"/>
            </p:cNvSpPr>
            <p:nvPr/>
          </p:nvSpPr>
          <p:spPr bwMode="auto">
            <a:xfrm flipV="1">
              <a:off x="4014" y="2160"/>
              <a:ext cx="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69" name="Line 51"/>
            <p:cNvSpPr>
              <a:spLocks noChangeShapeType="1"/>
            </p:cNvSpPr>
            <p:nvPr/>
          </p:nvSpPr>
          <p:spPr bwMode="auto">
            <a:xfrm flipV="1">
              <a:off x="4694" y="1752"/>
              <a:ext cx="0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70" name="Line 52"/>
            <p:cNvSpPr>
              <a:spLocks noChangeShapeType="1"/>
            </p:cNvSpPr>
            <p:nvPr/>
          </p:nvSpPr>
          <p:spPr bwMode="auto">
            <a:xfrm flipV="1">
              <a:off x="4875" y="1752"/>
              <a:ext cx="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71" name="Line 53"/>
            <p:cNvSpPr>
              <a:spLocks noChangeShapeType="1"/>
            </p:cNvSpPr>
            <p:nvPr/>
          </p:nvSpPr>
          <p:spPr bwMode="auto">
            <a:xfrm flipV="1">
              <a:off x="5374" y="1707"/>
              <a:ext cx="1" cy="4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72" name="Line 54"/>
            <p:cNvSpPr>
              <a:spLocks noChangeShapeType="1"/>
            </p:cNvSpPr>
            <p:nvPr/>
          </p:nvSpPr>
          <p:spPr bwMode="auto">
            <a:xfrm flipV="1">
              <a:off x="4875" y="2160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73" name="Line 55"/>
            <p:cNvSpPr>
              <a:spLocks noChangeShapeType="1"/>
            </p:cNvSpPr>
            <p:nvPr/>
          </p:nvSpPr>
          <p:spPr bwMode="auto">
            <a:xfrm flipV="1">
              <a:off x="4014" y="1933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74" name="Line 56"/>
            <p:cNvSpPr>
              <a:spLocks noChangeShapeType="1"/>
            </p:cNvSpPr>
            <p:nvPr/>
          </p:nvSpPr>
          <p:spPr bwMode="auto">
            <a:xfrm flipV="1">
              <a:off x="3787" y="1752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75" name="Line 57"/>
            <p:cNvSpPr>
              <a:spLocks noChangeShapeType="1"/>
            </p:cNvSpPr>
            <p:nvPr/>
          </p:nvSpPr>
          <p:spPr bwMode="auto">
            <a:xfrm flipV="1">
              <a:off x="4286" y="1752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476" name="Line 58"/>
            <p:cNvSpPr>
              <a:spLocks noChangeShapeType="1"/>
            </p:cNvSpPr>
            <p:nvPr/>
          </p:nvSpPr>
          <p:spPr bwMode="auto">
            <a:xfrm flipV="1">
              <a:off x="3787" y="1933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1460" name="Text Box 59"/>
          <p:cNvSpPr txBox="1">
            <a:spLocks noChangeArrowheads="1"/>
          </p:cNvSpPr>
          <p:nvPr/>
        </p:nvSpPr>
        <p:spPr bwMode="auto">
          <a:xfrm>
            <a:off x="5416550" y="2249488"/>
            <a:ext cx="3613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600" i="0"/>
              <a:t>x</a:t>
            </a:r>
            <a:r>
              <a:rPr lang="es-ES" altLang="es-ES" sz="1600" i="0" baseline="-25000"/>
              <a:t>1</a:t>
            </a:r>
            <a:r>
              <a:rPr lang="es-ES" altLang="es-ES" sz="1600" i="0"/>
              <a:t> x</a:t>
            </a:r>
            <a:r>
              <a:rPr lang="es-ES" altLang="es-ES" sz="1600" i="0" baseline="-25000"/>
              <a:t>2</a:t>
            </a:r>
            <a:r>
              <a:rPr lang="es-ES" altLang="es-ES" sz="1600" i="0"/>
              <a:t> x</a:t>
            </a:r>
            <a:r>
              <a:rPr lang="es-ES" altLang="es-ES" sz="1600" i="0" baseline="-25000"/>
              <a:t>3</a:t>
            </a:r>
            <a:r>
              <a:rPr lang="es-ES" altLang="es-ES" sz="1600" i="0"/>
              <a:t> …                                          …x</a:t>
            </a:r>
            <a:r>
              <a:rPr lang="es-ES" altLang="es-ES" sz="1600" i="0" baseline="-25000"/>
              <a:t>n</a:t>
            </a:r>
            <a:r>
              <a:rPr lang="es-ES" altLang="es-ES" sz="1600" i="0"/>
              <a:t> </a:t>
            </a:r>
            <a:endParaRPr lang="es-ES" altLang="es-ES" sz="2800" i="0"/>
          </a:p>
        </p:txBody>
      </p:sp>
      <p:sp>
        <p:nvSpPr>
          <p:cNvPr id="61461" name="Text Box 60"/>
          <p:cNvSpPr txBox="1">
            <a:spLocks noChangeArrowheads="1"/>
          </p:cNvSpPr>
          <p:nvPr/>
        </p:nvSpPr>
        <p:spPr bwMode="auto">
          <a:xfrm>
            <a:off x="6516688" y="4076700"/>
            <a:ext cx="18716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600" i="0"/>
              <a:t>C1 = {x</a:t>
            </a:r>
            <a:r>
              <a:rPr lang="es-ES" altLang="es-ES" sz="1600" i="0" baseline="-25000"/>
              <a:t>1</a:t>
            </a:r>
            <a:r>
              <a:rPr lang="es-ES" altLang="es-ES" sz="1600" i="0"/>
              <a:t> x</a:t>
            </a:r>
            <a:r>
              <a:rPr lang="es-ES" altLang="es-ES" sz="1600" i="0" baseline="-25000"/>
              <a:t>2</a:t>
            </a:r>
            <a:r>
              <a:rPr lang="es-ES" altLang="es-ES" sz="1600" i="0"/>
              <a:t> x</a:t>
            </a:r>
            <a:r>
              <a:rPr lang="es-ES" altLang="es-ES" sz="1600" i="0" baseline="-25000"/>
              <a:t>3</a:t>
            </a:r>
            <a:r>
              <a:rPr lang="es-ES" altLang="es-ES" sz="1600" i="0"/>
              <a:t>…x</a:t>
            </a:r>
            <a:r>
              <a:rPr lang="es-ES" altLang="es-ES" sz="1600" i="0" baseline="-25000"/>
              <a:t>n</a:t>
            </a:r>
            <a:r>
              <a:rPr lang="es-ES" altLang="es-ES" sz="1600" i="0"/>
              <a:t> }</a:t>
            </a:r>
            <a:endParaRPr lang="es-ES" altLang="es-ES" sz="2800" i="0"/>
          </a:p>
        </p:txBody>
      </p:sp>
      <p:sp>
        <p:nvSpPr>
          <p:cNvPr id="61462" name="Rectangle 61"/>
          <p:cNvSpPr>
            <a:spLocks noChangeArrowheads="1"/>
          </p:cNvSpPr>
          <p:nvPr/>
        </p:nvSpPr>
        <p:spPr bwMode="auto">
          <a:xfrm>
            <a:off x="6011863" y="3068638"/>
            <a:ext cx="25193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600" i="0"/>
              <a:t>C1                C2      …      C</a:t>
            </a:r>
            <a:r>
              <a:rPr lang="es-ES" altLang="es-ES" sz="1600" i="0" baseline="-25000"/>
              <a:t>K</a:t>
            </a:r>
          </a:p>
        </p:txBody>
      </p:sp>
      <p:sp>
        <p:nvSpPr>
          <p:cNvPr id="61463" name="Rectangle 62"/>
          <p:cNvSpPr>
            <a:spLocks noChangeArrowheads="1"/>
          </p:cNvSpPr>
          <p:nvPr/>
        </p:nvSpPr>
        <p:spPr bwMode="auto">
          <a:xfrm>
            <a:off x="5724525" y="5949950"/>
            <a:ext cx="29765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600" i="0"/>
              <a:t>C1          C2     ………...           C</a:t>
            </a:r>
            <a:r>
              <a:rPr lang="es-ES" altLang="es-ES" sz="1600" i="0" baseline="-25000"/>
              <a:t>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Hierarchical clustering</a:t>
            </a:r>
          </a:p>
        </p:txBody>
      </p:sp>
      <p:sp>
        <p:nvSpPr>
          <p:cNvPr id="62467" name="Marcador de contenido 2"/>
          <p:cNvSpPr>
            <a:spLocks noGrp="1"/>
          </p:cNvSpPr>
          <p:nvPr>
            <p:ph idx="1"/>
          </p:nvPr>
        </p:nvSpPr>
        <p:spPr>
          <a:xfrm>
            <a:off x="468313" y="1916113"/>
            <a:ext cx="8458200" cy="4114800"/>
          </a:xfrm>
        </p:spPr>
        <p:txBody>
          <a:bodyPr/>
          <a:lstStyle/>
          <a:p>
            <a:r>
              <a:rPr lang="en-US" altLang="es-ES" smtClean="0"/>
              <a:t>Hierarchical clustering groups data by creating a cluster tree </a:t>
            </a:r>
          </a:p>
          <a:p>
            <a:r>
              <a:rPr lang="en-US" altLang="es-ES" smtClean="0"/>
              <a:t>Its representation is called a dendrogram</a:t>
            </a:r>
          </a:p>
          <a:p>
            <a:r>
              <a:rPr lang="en-US" altLang="es-ES" smtClean="0"/>
              <a:t>The tree is not a single set of clusters, but rather a multilevel hierarchy, where clusters at one level are joined as clusters at the next level. </a:t>
            </a:r>
          </a:p>
          <a:p>
            <a:r>
              <a:rPr lang="en-US" altLang="es-ES" smtClean="0"/>
              <a:t>This allows you to decide the level or scale of clustering that is most appropriate for your application.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ítulo 1"/>
          <p:cNvSpPr>
            <a:spLocks noGrp="1"/>
          </p:cNvSpPr>
          <p:nvPr>
            <p:ph type="title"/>
          </p:nvPr>
        </p:nvSpPr>
        <p:spPr>
          <a:xfrm>
            <a:off x="0" y="-234950"/>
            <a:ext cx="9144000" cy="1143000"/>
          </a:xfrm>
        </p:spPr>
        <p:txBody>
          <a:bodyPr/>
          <a:lstStyle/>
          <a:p>
            <a:r>
              <a:rPr lang="en-US" altLang="es-ES" sz="3600" smtClean="0"/>
              <a:t>Linkage function = distance between clusters</a:t>
            </a:r>
            <a:endParaRPr lang="es-ES" altLang="es-ES" sz="3600" smtClean="0"/>
          </a:p>
        </p:txBody>
      </p:sp>
      <p:sp>
        <p:nvSpPr>
          <p:cNvPr id="63491" name="Marcador de contenido 2"/>
          <p:cNvSpPr>
            <a:spLocks noGrp="1"/>
          </p:cNvSpPr>
          <p:nvPr>
            <p:ph idx="1"/>
          </p:nvPr>
        </p:nvSpPr>
        <p:spPr>
          <a:xfrm>
            <a:off x="722313" y="836613"/>
            <a:ext cx="7772400" cy="4114800"/>
          </a:xfrm>
        </p:spPr>
        <p:txBody>
          <a:bodyPr/>
          <a:lstStyle/>
          <a:p>
            <a:r>
              <a:rPr lang="en-US" altLang="es-ES" sz="2400" i="0" smtClean="0"/>
              <a:t>The </a:t>
            </a:r>
            <a:r>
              <a:rPr lang="en-US" altLang="es-ES" sz="2400" b="1" i="0" smtClean="0"/>
              <a:t>Linkage criteria</a:t>
            </a:r>
            <a:r>
              <a:rPr lang="en-US" altLang="es-ES" sz="2400" i="0" smtClean="0"/>
              <a:t> is the function we use to determine the </a:t>
            </a:r>
            <a:r>
              <a:rPr lang="en-US" altLang="es-ES" sz="2400" b="1" i="0" smtClean="0"/>
              <a:t>distance between two clusters</a:t>
            </a:r>
            <a:r>
              <a:rPr lang="en-US" altLang="es-ES" sz="2400" i="0" smtClean="0"/>
              <a:t> or sets of points</a:t>
            </a:r>
          </a:p>
          <a:p>
            <a:r>
              <a:rPr lang="en-US" altLang="es-ES" sz="2400" i="0" smtClean="0"/>
              <a:t>The most common linkage functions to measure distance between two sets of observations, say </a:t>
            </a:r>
            <a:r>
              <a:rPr lang="en-US" altLang="es-ES" sz="2400" smtClean="0"/>
              <a:t>R</a:t>
            </a:r>
            <a:r>
              <a:rPr lang="en-US" altLang="es-ES" sz="2400" i="0" smtClean="0"/>
              <a:t> and </a:t>
            </a:r>
            <a:r>
              <a:rPr lang="en-US" altLang="es-ES" sz="2400" smtClean="0"/>
              <a:t>S</a:t>
            </a:r>
            <a:r>
              <a:rPr lang="en-US" altLang="es-ES" sz="2400" i="0" smtClean="0"/>
              <a:t>, are:</a:t>
            </a:r>
            <a:endParaRPr lang="en-US" altLang="es-ES" sz="2400" smtClean="0"/>
          </a:p>
        </p:txBody>
      </p:sp>
      <p:pic>
        <p:nvPicPr>
          <p:cNvPr id="63492" name="Imagen 4"/>
          <p:cNvPicPr>
            <a:picLocks noChangeAspect="1"/>
          </p:cNvPicPr>
          <p:nvPr/>
        </p:nvPicPr>
        <p:blipFill>
          <a:blip r:embed="rId2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3" y="2420938"/>
            <a:ext cx="8185150" cy="433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Hierarchical clustering </a:t>
            </a:r>
            <a:br>
              <a:rPr lang="es-ES" altLang="es-ES" smtClean="0"/>
            </a:br>
            <a:r>
              <a:rPr lang="es-ES" altLang="es-ES" smtClean="0"/>
              <a:t>(in Matlab)</a:t>
            </a:r>
          </a:p>
        </p:txBody>
      </p:sp>
      <p:sp>
        <p:nvSpPr>
          <p:cNvPr id="64515" name="Marcador de contenido 2"/>
          <p:cNvSpPr>
            <a:spLocks noGrp="1"/>
          </p:cNvSpPr>
          <p:nvPr>
            <p:ph idx="1"/>
          </p:nvPr>
        </p:nvSpPr>
        <p:spPr>
          <a:xfrm>
            <a:off x="395288" y="2492375"/>
            <a:ext cx="8748712" cy="4114800"/>
          </a:xfrm>
        </p:spPr>
        <p:txBody>
          <a:bodyPr/>
          <a:lstStyle/>
          <a:p>
            <a:r>
              <a:rPr lang="en-US" altLang="es-ES" b="1" i="0" smtClean="0"/>
              <a:t>linkage</a:t>
            </a:r>
            <a:r>
              <a:rPr lang="en-US" altLang="es-ES" i="0" smtClean="0"/>
              <a:t> : creates hierarchical </a:t>
            </a:r>
            <a:r>
              <a:rPr lang="es-ES" altLang="es-ES" i="0" smtClean="0"/>
              <a:t>agglomerative </a:t>
            </a:r>
            <a:r>
              <a:rPr lang="en-US" altLang="es-ES" i="0" smtClean="0"/>
              <a:t>tree </a:t>
            </a:r>
          </a:p>
          <a:p>
            <a:endParaRPr lang="en-US" altLang="es-ES" i="0" smtClean="0"/>
          </a:p>
          <a:p>
            <a:r>
              <a:rPr lang="en-US" altLang="es-ES" b="1" i="0" smtClean="0"/>
              <a:t>dendrogram: </a:t>
            </a:r>
            <a:r>
              <a:rPr lang="en-US" altLang="es-ES" i="0" smtClean="0"/>
              <a:t>plots the cluster tree</a:t>
            </a:r>
          </a:p>
          <a:p>
            <a:endParaRPr lang="en-US" altLang="es-ES" i="0" smtClean="0"/>
          </a:p>
          <a:p>
            <a:r>
              <a:rPr lang="en-US" altLang="es-ES" b="1" i="0" smtClean="0"/>
              <a:t>cluster</a:t>
            </a:r>
            <a:r>
              <a:rPr lang="en-US" altLang="es-ES" i="0" smtClean="0"/>
              <a:t>: divides data into N clusters</a:t>
            </a:r>
          </a:p>
          <a:p>
            <a:endParaRPr lang="en-US" alt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ítulo 1"/>
          <p:cNvSpPr>
            <a:spLocks noGrp="1"/>
          </p:cNvSpPr>
          <p:nvPr>
            <p:ph type="title"/>
          </p:nvPr>
        </p:nvSpPr>
        <p:spPr>
          <a:xfrm>
            <a:off x="685800" y="-100013"/>
            <a:ext cx="7772400" cy="1143001"/>
          </a:xfrm>
        </p:spPr>
        <p:txBody>
          <a:bodyPr/>
          <a:lstStyle/>
          <a:p>
            <a:r>
              <a:rPr lang="es-ES" altLang="es-ES" smtClean="0"/>
              <a:t>Hierarchical clustering example</a:t>
            </a:r>
          </a:p>
        </p:txBody>
      </p:sp>
      <p:sp>
        <p:nvSpPr>
          <p:cNvPr id="65539" name="Marcador de contenido 2"/>
          <p:cNvSpPr>
            <a:spLocks noGrp="1"/>
          </p:cNvSpPr>
          <p:nvPr>
            <p:ph idx="1"/>
          </p:nvPr>
        </p:nvSpPr>
        <p:spPr>
          <a:xfrm>
            <a:off x="685800" y="1125538"/>
            <a:ext cx="8350250" cy="6551934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endParaRPr lang="es-ES" altLang="es-ES" sz="18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 = [0.40 0.53;</a:t>
            </a:r>
          </a:p>
          <a:p>
            <a:pPr marL="0" indent="0">
              <a:buFontTx/>
              <a:buNone/>
            </a:pP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0.22 0.38</a:t>
            </a:r>
          </a:p>
          <a:p>
            <a:pPr marL="0" indent="0">
              <a:buFontTx/>
              <a:buNone/>
            </a:pP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0.38 0.32</a:t>
            </a:r>
          </a:p>
          <a:p>
            <a:pPr marL="0" indent="0">
              <a:buFontTx/>
              <a:buNone/>
            </a:pP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0.41 0.19</a:t>
            </a:r>
          </a:p>
          <a:p>
            <a:pPr marL="0" indent="0">
              <a:buFontTx/>
              <a:buNone/>
            </a:pP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0.08 0.41</a:t>
            </a:r>
          </a:p>
          <a:p>
            <a:pPr marL="0" indent="0">
              <a:buFontTx/>
              <a:buNone/>
            </a:pP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0.45 0.30];</a:t>
            </a:r>
          </a:p>
          <a:p>
            <a:pPr marL="0" indent="0">
              <a:buFontTx/>
              <a:buNone/>
            </a:pP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figure,plot</a:t>
            </a: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(a(:,1),a(:,2),'*'),axis </a:t>
            </a: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equal,hold</a:t>
            </a: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endParaRPr lang="es-ES" altLang="es-ES" sz="18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(a(:,1)+0.02,a(:,2)+0.02,['1','2','3','4','5','6']')</a:t>
            </a:r>
          </a:p>
          <a:p>
            <a:pPr marL="0" indent="0">
              <a:buFontTx/>
              <a:buNone/>
            </a:pP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axis </a:t>
            </a: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equal</a:t>
            </a: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axis([0 0.6 0 0.6])</a:t>
            </a:r>
          </a:p>
          <a:p>
            <a:pPr marL="0" indent="0">
              <a:buFontTx/>
              <a:buNone/>
            </a:pPr>
            <a:endParaRPr lang="es-ES" altLang="es-ES" sz="18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 Creamos y mostramos el </a:t>
            </a: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arbol</a:t>
            </a: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jerárquico</a:t>
            </a:r>
          </a:p>
          <a:p>
            <a:pPr marL="0" indent="0">
              <a:buFontTx/>
              <a:buNone/>
            </a:pP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tree</a:t>
            </a: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linkage</a:t>
            </a: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(a);</a:t>
            </a:r>
          </a:p>
          <a:p>
            <a:pPr marL="0" indent="0">
              <a:buFontTx/>
              <a:buNone/>
            </a:pP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figure,dendrogram</a:t>
            </a: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(tree,0)</a:t>
            </a:r>
          </a:p>
          <a:p>
            <a:pPr marL="0" indent="0">
              <a:buFontTx/>
              <a:buNone/>
            </a:pPr>
            <a:endParaRPr lang="es-ES" altLang="es-ES" sz="18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 Supongamos que queremos 3 </a:t>
            </a: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clusters</a:t>
            </a:r>
            <a:endParaRPr lang="es-ES" altLang="es-ES" sz="18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 = </a:t>
            </a:r>
            <a:r>
              <a:rPr lang="es-ES" altLang="es-ES" sz="1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cluster</a:t>
            </a:r>
            <a:r>
              <a:rPr lang="es-ES" altLang="es-ES" sz="1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(tree,'maxclust',3)'</a:t>
            </a:r>
          </a:p>
          <a:p>
            <a:pPr marL="0" indent="0">
              <a:buFontTx/>
              <a:buNone/>
            </a:pPr>
            <a:endParaRPr lang="es-ES" altLang="es-ES" sz="18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ítulo 1"/>
          <p:cNvSpPr>
            <a:spLocks noGrp="1"/>
          </p:cNvSpPr>
          <p:nvPr>
            <p:ph type="title"/>
          </p:nvPr>
        </p:nvSpPr>
        <p:spPr>
          <a:xfrm>
            <a:off x="685800" y="-100013"/>
            <a:ext cx="7772400" cy="1143001"/>
          </a:xfrm>
        </p:spPr>
        <p:txBody>
          <a:bodyPr/>
          <a:lstStyle/>
          <a:p>
            <a:r>
              <a:rPr lang="es-ES" altLang="es-ES" smtClean="0"/>
              <a:t>Hierarchical clustering on IRIS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1330325"/>
            <a:ext cx="7772400" cy="2674938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s-ES" sz="280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r>
              <a:rPr lang="es-ES" sz="2800" i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80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s-ES" sz="2800" i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280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ES" sz="2800" i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endParaRPr lang="es-ES" sz="28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endParaRPr lang="es-ES" sz="28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s-ES" sz="2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load iris</a:t>
            </a:r>
          </a:p>
          <a:p>
            <a:pPr marL="0" indent="0">
              <a:buFontTx/>
              <a:buNone/>
              <a:defRPr/>
            </a:pPr>
            <a:r>
              <a:rPr lang="es-ES" sz="2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y=y+1;</a:t>
            </a:r>
          </a:p>
          <a:p>
            <a:pPr marL="0" indent="0">
              <a:buFontTx/>
              <a:buNone/>
              <a:defRPr/>
            </a:pPr>
            <a:endParaRPr lang="es-ES" sz="28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s-ES" sz="2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tree</a:t>
            </a:r>
            <a:r>
              <a:rPr lang="es-ES" sz="2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2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linkage</a:t>
            </a:r>
            <a:r>
              <a:rPr lang="es-ES" sz="2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(x');</a:t>
            </a:r>
          </a:p>
          <a:p>
            <a:pPr marL="0" indent="0">
              <a:buFontTx/>
              <a:buNone/>
              <a:defRPr/>
            </a:pPr>
            <a:r>
              <a:rPr lang="es-ES" sz="2800" i="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es-ES" sz="2800" i="0" dirty="0" err="1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dendrogram</a:t>
            </a:r>
            <a:r>
              <a:rPr lang="es-ES" sz="2800" i="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(tree,0);</a:t>
            </a:r>
          </a:p>
          <a:p>
            <a:pPr marL="0" indent="0">
              <a:buFontTx/>
              <a:buNone/>
              <a:defRPr/>
            </a:pPr>
            <a:r>
              <a:rPr lang="es-ES" sz="2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 = </a:t>
            </a:r>
            <a:r>
              <a:rPr lang="es-ES" sz="2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cluster</a:t>
            </a:r>
            <a:r>
              <a:rPr lang="es-ES" sz="2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(tree,'maxclust',3)';</a:t>
            </a:r>
          </a:p>
          <a:p>
            <a:pPr marL="0" indent="0">
              <a:buFontTx/>
              <a:buNone/>
              <a:defRPr/>
            </a:pPr>
            <a:r>
              <a:rPr lang="es-ES" sz="2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ES" sz="28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c;y</a:t>
            </a:r>
            <a:r>
              <a:rPr lang="es-ES" sz="28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FontTx/>
              <a:buNone/>
              <a:defRPr/>
            </a:pPr>
            <a:endParaRPr lang="es-ES" sz="280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z="4800" smtClean="0"/>
              <a:t>Método de las k-medias</a:t>
            </a:r>
            <a:endParaRPr lang="es-ES_tradnl" altLang="es-ES" sz="6000" smtClean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1981200"/>
            <a:ext cx="7772400" cy="4114800"/>
          </a:xfrm>
        </p:spPr>
        <p:txBody>
          <a:bodyPr/>
          <a:lstStyle/>
          <a:p>
            <a:r>
              <a:rPr lang="es-ES_tradnl" altLang="es-ES" sz="2800" smtClean="0"/>
              <a:t>Decidir el valor de K</a:t>
            </a:r>
          </a:p>
          <a:p>
            <a:r>
              <a:rPr lang="es-ES_tradnl" altLang="es-ES" sz="2800" smtClean="0"/>
              <a:t>Seleccionar K vectores iniciales, m</a:t>
            </a:r>
            <a:r>
              <a:rPr lang="es-ES_tradnl" altLang="es-ES" sz="2800" baseline="-25000" smtClean="0"/>
              <a:t>1</a:t>
            </a:r>
            <a:r>
              <a:rPr lang="es-ES_tradnl" altLang="es-ES" sz="2800" smtClean="0"/>
              <a:t>, m</a:t>
            </a:r>
            <a:r>
              <a:rPr lang="es-ES_tradnl" altLang="es-ES" sz="2800" baseline="-25000" smtClean="0"/>
              <a:t>2</a:t>
            </a:r>
            <a:r>
              <a:rPr lang="es-ES_tradnl" altLang="es-ES" sz="2800" smtClean="0"/>
              <a:t>, ... m</a:t>
            </a:r>
            <a:r>
              <a:rPr lang="es-ES_tradnl" altLang="es-ES" sz="2800" baseline="-25000" smtClean="0"/>
              <a:t>k</a:t>
            </a:r>
            <a:r>
              <a:rPr lang="es-ES_tradnl" altLang="es-ES" sz="2800" smtClean="0"/>
              <a:t>, por ejemplo, de entre los patrones de entrada</a:t>
            </a:r>
          </a:p>
          <a:p>
            <a:pPr>
              <a:buFontTx/>
              <a:buNone/>
            </a:pPr>
            <a:r>
              <a:rPr lang="es-ES_tradnl" altLang="es-ES" sz="2800" smtClean="0"/>
              <a:t>	Repetir</a:t>
            </a:r>
          </a:p>
          <a:p>
            <a:pPr lvl="1"/>
            <a:r>
              <a:rPr lang="es-ES_tradnl" altLang="es-ES" sz="2000" smtClean="0"/>
              <a:t>un patron x pertenece al cluster j-esimo si su distancia  al m</a:t>
            </a:r>
            <a:r>
              <a:rPr lang="es-ES_tradnl" altLang="es-ES" sz="2000" baseline="-25000" smtClean="0"/>
              <a:t>j </a:t>
            </a:r>
            <a:r>
              <a:rPr lang="es-ES_tradnl" altLang="es-ES" sz="2000" smtClean="0"/>
              <a:t>es la menor</a:t>
            </a:r>
          </a:p>
          <a:p>
            <a:pPr lvl="1"/>
            <a:r>
              <a:rPr lang="es-ES_tradnl" altLang="es-ES" sz="2000" smtClean="0"/>
              <a:t>Recalcular los m</a:t>
            </a:r>
            <a:r>
              <a:rPr lang="es-ES_tradnl" altLang="es-ES" sz="2000" baseline="-25000" smtClean="0"/>
              <a:t>1</a:t>
            </a:r>
            <a:r>
              <a:rPr lang="es-ES_tradnl" altLang="es-ES" sz="2000" smtClean="0"/>
              <a:t>, m</a:t>
            </a:r>
            <a:r>
              <a:rPr lang="es-ES_tradnl" altLang="es-ES" sz="2000" baseline="-25000" smtClean="0"/>
              <a:t>2</a:t>
            </a:r>
            <a:r>
              <a:rPr lang="es-ES_tradnl" altLang="es-ES" sz="2000" smtClean="0"/>
              <a:t>, ... m</a:t>
            </a:r>
            <a:r>
              <a:rPr lang="es-ES_tradnl" altLang="es-ES" sz="2000" baseline="-25000" smtClean="0"/>
              <a:t>k</a:t>
            </a:r>
            <a:r>
              <a:rPr lang="es-ES_tradnl" altLang="es-ES" sz="2000" smtClean="0"/>
              <a:t> como las medias de los vectores de cada cluster</a:t>
            </a:r>
          </a:p>
          <a:p>
            <a:pPr>
              <a:buFontTx/>
              <a:buNone/>
            </a:pPr>
            <a:r>
              <a:rPr lang="es-ES_tradnl" altLang="es-ES" sz="2800" smtClean="0"/>
              <a:t>	hasta que no varien los m</a:t>
            </a:r>
            <a:r>
              <a:rPr lang="es-ES_tradnl" altLang="es-ES" sz="2800" baseline="-25000" smtClean="0"/>
              <a:t>1</a:t>
            </a:r>
            <a:r>
              <a:rPr lang="es-ES_tradnl" altLang="es-ES" sz="2800" smtClean="0"/>
              <a:t>, m</a:t>
            </a:r>
            <a:r>
              <a:rPr lang="es-ES_tradnl" altLang="es-ES" sz="2800" baseline="-25000" smtClean="0"/>
              <a:t>2</a:t>
            </a:r>
            <a:r>
              <a:rPr lang="es-ES_tradnl" altLang="es-ES" sz="2800" smtClean="0"/>
              <a:t>, ... m</a:t>
            </a:r>
            <a:r>
              <a:rPr lang="es-ES_tradnl" altLang="es-ES" sz="2800" baseline="-25000" smtClean="0"/>
              <a:t>k</a:t>
            </a:r>
            <a:endParaRPr lang="es-ES_tradnl" altLang="es-ES" sz="2800" smtClean="0"/>
          </a:p>
          <a:p>
            <a:pPr lvl="1"/>
            <a:endParaRPr lang="es-ES_tradnl" altLang="es-ES" sz="2400" smtClean="0"/>
          </a:p>
        </p:txBody>
      </p:sp>
      <p:sp>
        <p:nvSpPr>
          <p:cNvPr id="67588" name="AutoShape 4"/>
          <p:cNvSpPr>
            <a:spLocks/>
          </p:cNvSpPr>
          <p:nvPr/>
        </p:nvSpPr>
        <p:spPr bwMode="auto">
          <a:xfrm>
            <a:off x="1258888" y="3789363"/>
            <a:ext cx="144462" cy="1800225"/>
          </a:xfrm>
          <a:prstGeom prst="leftBracket">
            <a:avLst>
              <a:gd name="adj" fmla="val 103847"/>
            </a:avLst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87313" y="4481513"/>
            <a:ext cx="127952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600" i="0"/>
              <a:t>Hasta que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600" i="0"/>
              <a:t>converge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600" i="0"/>
              <a:t>o nº it&gt;MaxIt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4000" smtClean="0"/>
              <a:t>Evolución típica del algoritmo de las K-medias (K=6)</a:t>
            </a:r>
          </a:p>
        </p:txBody>
      </p:sp>
      <p:pic>
        <p:nvPicPr>
          <p:cNvPr id="6861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2492375"/>
            <a:ext cx="8893175" cy="3340100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ítulo 1"/>
          <p:cNvSpPr>
            <a:spLocks noGrp="1"/>
          </p:cNvSpPr>
          <p:nvPr>
            <p:ph type="title"/>
          </p:nvPr>
        </p:nvSpPr>
        <p:spPr>
          <a:xfrm>
            <a:off x="685800" y="-90488"/>
            <a:ext cx="7772400" cy="1143001"/>
          </a:xfrm>
        </p:spPr>
        <p:txBody>
          <a:bodyPr/>
          <a:lstStyle/>
          <a:p>
            <a:r>
              <a:rPr lang="es-ES" altLang="es-ES" smtClean="0"/>
              <a:t>Código ejemplo k-means</a:t>
            </a:r>
          </a:p>
        </p:txBody>
      </p:sp>
      <p:sp>
        <p:nvSpPr>
          <p:cNvPr id="69635" name="Marcador de contenido 2"/>
          <p:cNvSpPr>
            <a:spLocks noGrp="1"/>
          </p:cNvSpPr>
          <p:nvPr>
            <p:ph idx="1"/>
          </p:nvPr>
        </p:nvSpPr>
        <p:spPr>
          <a:xfrm>
            <a:off x="685800" y="754063"/>
            <a:ext cx="7772400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 = rand(2,100000);</a:t>
            </a:r>
          </a:p>
          <a:p>
            <a:pPr marL="0" indent="0">
              <a:buFontTx/>
              <a:buNone/>
            </a:pP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((sum(x.^2)&lt;1)&amp; (sum(x.^2)&gt;0.2) );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x=x(:,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FontTx/>
              <a:buNone/>
            </a:pPr>
            <a:endParaRPr lang="es-ES" altLang="es-ES" sz="12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K=7;</a:t>
            </a:r>
          </a:p>
          <a:p>
            <a:pPr marL="0" indent="0">
              <a:buFontTx/>
              <a:buNone/>
            </a:pP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centroides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x(:,1:K);</a:t>
            </a:r>
          </a:p>
          <a:p>
            <a:pPr marL="0" indent="0">
              <a:buFontTx/>
              <a:buNone/>
            </a:pP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i=1:50,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(x(1,:),x(2,:),'.g');axis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equal;hold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centroides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(1,:),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centroides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(2,:),'.b','MarkerSize',30);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hold</a:t>
            </a:r>
            <a:endParaRPr lang="es-ES" altLang="es-ES" sz="12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j=1:K,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d(j,:) =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d_euclid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x,centroides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(:,j));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s-ES" altLang="es-ES" sz="12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[~,clase]=min(d);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j=1:K,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(clase==j);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centroides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(:,j)=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meanpat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(x(:,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  <a:p>
            <a:pPr marL="0" indent="0">
              <a:buFontTx/>
              <a:buNone/>
            </a:pP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s-ES" altLang="es-ES" sz="12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hold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color=['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rgbkymc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'];</a:t>
            </a:r>
          </a:p>
          <a:p>
            <a:pPr marL="0" indent="0">
              <a:buFontTx/>
              <a:buNone/>
            </a:pP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i=1:7,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(clase==i);</a:t>
            </a:r>
          </a:p>
          <a:p>
            <a:pPr marL="0" indent="0">
              <a:buFontTx/>
              <a:buNone/>
            </a:pP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(x(1,ind),x(2,ind),['.' color(i)]);</a:t>
            </a:r>
          </a:p>
          <a:p>
            <a:pPr marL="0" indent="0">
              <a:buFontTx/>
              <a:buNone/>
            </a:pP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s-ES" altLang="es-ES" sz="1200" i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centroides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(1,:),</a:t>
            </a:r>
            <a:r>
              <a:rPr lang="es-ES" altLang="es-ES" sz="1200" i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centroides</a:t>
            </a:r>
            <a:r>
              <a:rPr lang="es-ES" altLang="es-ES" sz="1200" i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(2,:),'.w','MarkerSize',30);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Método de las Fuzzy k-medias</a:t>
            </a:r>
            <a:endParaRPr lang="es-ES_tradnl" altLang="es-ES" sz="5400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8062913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_tradnl" altLang="es-ES" sz="2400" smtClean="0"/>
              <a:t>Permite que cada punto pertenezca parcialmente a todos los clusters</a:t>
            </a:r>
          </a:p>
          <a:p>
            <a:pPr>
              <a:lnSpc>
                <a:spcPct val="90000"/>
              </a:lnSpc>
            </a:pPr>
            <a:r>
              <a:rPr lang="es-ES_tradnl" altLang="es-ES" sz="2400" smtClean="0"/>
              <a:t>Define un grado de pertenencia a cada cluster, en función de su distancia al cluster</a:t>
            </a:r>
          </a:p>
          <a:p>
            <a:pPr>
              <a:lnSpc>
                <a:spcPct val="90000"/>
              </a:lnSpc>
            </a:pPr>
            <a:r>
              <a:rPr lang="es-ES_tradnl" altLang="es-ES" sz="2400" smtClean="0"/>
              <a:t>Es preciso definir </a:t>
            </a:r>
          </a:p>
          <a:p>
            <a:pPr lvl="1">
              <a:lnSpc>
                <a:spcPct val="90000"/>
              </a:lnSpc>
            </a:pPr>
            <a:r>
              <a:rPr lang="es-ES_tradnl" altLang="es-ES" sz="2000" smtClean="0"/>
              <a:t>Una medida de distancia de un vector a un cluster (o a su prototipo), tales como:</a:t>
            </a:r>
          </a:p>
          <a:p>
            <a:pPr lvl="1">
              <a:lnSpc>
                <a:spcPct val="90000"/>
              </a:lnSpc>
            </a:pPr>
            <a:endParaRPr lang="es-ES_tradnl" altLang="es-ES" sz="2000" smtClean="0"/>
          </a:p>
          <a:p>
            <a:pPr lvl="1">
              <a:lnSpc>
                <a:spcPct val="90000"/>
              </a:lnSpc>
            </a:pPr>
            <a:endParaRPr lang="es-ES_tradnl" altLang="es-ES" sz="2000" smtClean="0"/>
          </a:p>
          <a:p>
            <a:pPr lvl="1">
              <a:lnSpc>
                <a:spcPct val="90000"/>
              </a:lnSpc>
            </a:pPr>
            <a:r>
              <a:rPr lang="es-ES_tradnl" altLang="es-ES" sz="2000" smtClean="0"/>
              <a:t>Grado de pertenencia de un vector a un cluster. Es usual usar: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s-ES_tradnl" altLang="es-ES" sz="1800" smtClean="0"/>
              <a:t>	</a:t>
            </a:r>
          </a:p>
        </p:txBody>
      </p:sp>
      <p:graphicFrame>
        <p:nvGraphicFramePr>
          <p:cNvPr id="7066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916238" y="4256088"/>
          <a:ext cx="4608512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4" name="Ecuación" r:id="rId3" imgW="2590800" imgH="444500" progId="Equation.3">
                  <p:embed/>
                </p:oleObj>
              </mc:Choice>
              <mc:Fallback>
                <p:oleObj name="Ecuación" r:id="rId3" imgW="25908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256088"/>
                        <a:ext cx="4608512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852863" y="5373688"/>
          <a:ext cx="1439862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5" name="Ecuación" r:id="rId5" imgW="698197" imgH="672808" progId="Equation.3">
                  <p:embed/>
                </p:oleObj>
              </mc:Choice>
              <mc:Fallback>
                <p:oleObj name="Ecuación" r:id="rId5" imgW="698197" imgH="67280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63" y="5373688"/>
                        <a:ext cx="1439862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z="4800" smtClean="0"/>
              <a:t>Método de las Fuzzy k-medias</a:t>
            </a:r>
            <a:endParaRPr lang="es-ES_tradnl" altLang="es-ES" sz="6000" smtClean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16013" y="1981200"/>
            <a:ext cx="8062912" cy="4114800"/>
          </a:xfrm>
        </p:spPr>
        <p:txBody>
          <a:bodyPr/>
          <a:lstStyle/>
          <a:p>
            <a:r>
              <a:rPr lang="es-ES_tradnl" altLang="es-ES" sz="2400" smtClean="0"/>
              <a:t>Decidir el valor de K</a:t>
            </a:r>
          </a:p>
          <a:p>
            <a:r>
              <a:rPr lang="es-ES_tradnl" altLang="es-ES" sz="2400" smtClean="0"/>
              <a:t>Sea i=1,2,…K el nº de clases; j=1,2,…N el nº de puntos, los pasos a seguir son:</a:t>
            </a:r>
          </a:p>
          <a:p>
            <a:pPr lvl="1"/>
            <a:r>
              <a:rPr lang="es-ES_tradnl" altLang="es-ES" sz="2000" smtClean="0"/>
              <a:t>Determinar los valores iniciales de los centros de las K clases m</a:t>
            </a:r>
            <a:r>
              <a:rPr lang="es-ES_tradnl" altLang="es-ES" sz="2000" baseline="-25000" smtClean="0"/>
              <a:t>i </a:t>
            </a:r>
            <a:r>
              <a:rPr lang="es-ES_tradnl" altLang="es-ES" sz="2000" smtClean="0"/>
              <a:t>(inicialización aleatoria, usando K-means,…)</a:t>
            </a:r>
          </a:p>
          <a:p>
            <a:pPr lvl="1"/>
            <a:r>
              <a:rPr lang="es-ES_tradnl" altLang="es-ES" sz="2000" smtClean="0"/>
              <a:t>Repetir</a:t>
            </a:r>
          </a:p>
          <a:p>
            <a:pPr lvl="2"/>
            <a:r>
              <a:rPr lang="es-ES_tradnl" altLang="es-ES" sz="1800" smtClean="0"/>
              <a:t>Determinar los valores a</a:t>
            </a:r>
            <a:r>
              <a:rPr lang="es-ES_tradnl" altLang="es-ES" sz="1800" baseline="-25000" smtClean="0"/>
              <a:t>ij </a:t>
            </a:r>
            <a:r>
              <a:rPr lang="es-ES_tradnl" altLang="es-ES" sz="1800" smtClean="0"/>
              <a:t>usando la función de distancia elegida</a:t>
            </a:r>
            <a:endParaRPr lang="es-ES_tradnl" altLang="es-ES" sz="1800" baseline="-25000" smtClean="0"/>
          </a:p>
          <a:p>
            <a:pPr lvl="2"/>
            <a:endParaRPr lang="es-ES_tradnl" altLang="es-ES" sz="1800" smtClean="0"/>
          </a:p>
          <a:p>
            <a:pPr lvl="2"/>
            <a:r>
              <a:rPr lang="es-ES_tradnl" altLang="es-ES" sz="1800" smtClean="0"/>
              <a:t>Determinar los valores u</a:t>
            </a:r>
            <a:r>
              <a:rPr lang="es-ES_tradnl" altLang="es-ES" sz="1800" baseline="-25000" smtClean="0"/>
              <a:t>ij</a:t>
            </a:r>
          </a:p>
          <a:p>
            <a:pPr lvl="2"/>
            <a:endParaRPr lang="es-ES_tradnl" altLang="es-ES" sz="1800" smtClean="0"/>
          </a:p>
          <a:p>
            <a:pPr lvl="2"/>
            <a:r>
              <a:rPr lang="es-ES_tradnl" altLang="es-ES" sz="1800" smtClean="0"/>
              <a:t>Recalcular los centros m</a:t>
            </a:r>
            <a:r>
              <a:rPr lang="es-ES_tradnl" altLang="es-ES" sz="1800" baseline="-25000" smtClean="0"/>
              <a:t>i</a:t>
            </a:r>
            <a:r>
              <a:rPr lang="es-ES_tradnl" altLang="es-ES" sz="1800" smtClean="0"/>
              <a:t> como:</a:t>
            </a:r>
          </a:p>
        </p:txBody>
      </p:sp>
      <p:graphicFrame>
        <p:nvGraphicFramePr>
          <p:cNvPr id="7168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580063" y="5597525"/>
          <a:ext cx="1296987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0" name="Ecuación" r:id="rId3" imgW="914400" imgH="889000" progId="Equation.3">
                  <p:embed/>
                </p:oleObj>
              </mc:Choice>
              <mc:Fallback>
                <p:oleObj name="Ecuación" r:id="rId3" imgW="914400" imgH="889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597525"/>
                        <a:ext cx="1296987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5" name="Object 5"/>
          <p:cNvGraphicFramePr>
            <a:graphicFrameLocks noChangeAspect="1"/>
          </p:cNvGraphicFramePr>
          <p:nvPr/>
        </p:nvGraphicFramePr>
        <p:xfrm>
          <a:off x="4932363" y="4622800"/>
          <a:ext cx="115252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1" name="Ecuación" r:id="rId5" imgW="698197" imgH="672808" progId="Equation.3">
                  <p:embed/>
                </p:oleObj>
              </mc:Choice>
              <mc:Fallback>
                <p:oleObj name="Ecuación" r:id="rId5" imgW="698197" imgH="67280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4622800"/>
                        <a:ext cx="1152525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AutoShape 6"/>
          <p:cNvSpPr>
            <a:spLocks/>
          </p:cNvSpPr>
          <p:nvPr/>
        </p:nvSpPr>
        <p:spPr bwMode="auto">
          <a:xfrm>
            <a:off x="1323975" y="3429000"/>
            <a:ext cx="152400" cy="2514600"/>
          </a:xfrm>
          <a:prstGeom prst="leftBracket">
            <a:avLst>
              <a:gd name="adj" fmla="val 137500"/>
            </a:avLst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0" y="4365625"/>
            <a:ext cx="127952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600" i="0"/>
              <a:t>Hasta que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600" i="0"/>
              <a:t>converge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600" i="0"/>
              <a:t>o nº it&gt;MaxIt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ítulo 5"/>
          <p:cNvSpPr>
            <a:spLocks noGrp="1"/>
          </p:cNvSpPr>
          <p:nvPr>
            <p:ph type="title"/>
          </p:nvPr>
        </p:nvSpPr>
        <p:spPr>
          <a:xfrm>
            <a:off x="685800" y="-100013"/>
            <a:ext cx="7772400" cy="1143001"/>
          </a:xfrm>
        </p:spPr>
        <p:txBody>
          <a:bodyPr/>
          <a:lstStyle/>
          <a:p>
            <a:r>
              <a:rPr lang="es-ES" altLang="es-ES" smtClean="0"/>
              <a:t>Matlab code</a:t>
            </a:r>
          </a:p>
        </p:txBody>
      </p:sp>
      <p:sp>
        <p:nvSpPr>
          <p:cNvPr id="72707" name="Marcador de contenido 6"/>
          <p:cNvSpPr>
            <a:spLocks noGrp="1"/>
          </p:cNvSpPr>
          <p:nvPr>
            <p:ph idx="1"/>
          </p:nvPr>
        </p:nvSpPr>
        <p:spPr>
          <a:xfrm>
            <a:off x="685800" y="1258888"/>
            <a:ext cx="7772400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% Define the number of clusters and the fuzziness parameter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numClusters = 3;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fuzziness = 2;</a:t>
            </a:r>
          </a:p>
          <a:p>
            <a:pPr marL="0" indent="0">
              <a:buFontTx/>
              <a:buNone/>
            </a:pPr>
            <a:endParaRPr lang="es-ES" altLang="es-ES" sz="1400" i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% Generate some data for clustering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X = rand(100, 2);</a:t>
            </a:r>
          </a:p>
          <a:p>
            <a:pPr marL="0" indent="0">
              <a:buFontTx/>
              <a:buNone/>
            </a:pPr>
            <a:endParaRPr lang="es-ES" altLang="es-ES" sz="1400" i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% Perform Fuzzy C-means Clustering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[cluster_idx, cluster_center] = fcm(X, numClusters, [2, 100, 1e-5, 0]);</a:t>
            </a:r>
          </a:p>
          <a:p>
            <a:pPr marL="0" indent="0">
              <a:buFontTx/>
              <a:buNone/>
            </a:pPr>
            <a:endParaRPr lang="es-ES" altLang="es-ES" sz="1400" i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% Plot the results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figure;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[c, h] = contourf(cluster_idx);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colorbar;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hold on;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plot(X(:,1), X(:,2), 'ko');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title('Fuzzy C-Means Clustering Results');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xlabel('x');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ylabel('y');</a:t>
            </a:r>
          </a:p>
          <a:p>
            <a:pPr marL="0" indent="0">
              <a:buFontTx/>
              <a:buNone/>
            </a:pPr>
            <a:r>
              <a:rPr lang="es-ES" altLang="es-ES" sz="1400" i="0" smtClean="0">
                <a:latin typeface="Courier New" panose="02070309020205020404" pitchFamily="49" charset="0"/>
                <a:cs typeface="Courier New" panose="02070309020205020404" pitchFamily="49" charset="0"/>
              </a:rPr>
              <a:t>hold off;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z="4800" smtClean="0"/>
              <a:t>Algoritmo EM</a:t>
            </a:r>
            <a:endParaRPr lang="es-ES_tradnl" altLang="es-ES" sz="6000" smtClean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343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_tradnl" altLang="es-ES" smtClean="0"/>
              <a:t>El algoritmo EM es un método general para encontrar la estimación de parámetros de máxima verosimilitud de una distribución subyacente a un conjunto de datos </a:t>
            </a:r>
          </a:p>
          <a:p>
            <a:pPr>
              <a:lnSpc>
                <a:spcPct val="90000"/>
              </a:lnSpc>
            </a:pPr>
            <a:r>
              <a:rPr lang="es-ES_tradnl" altLang="es-ES" smtClean="0"/>
              <a:t> Se trata de un algoritmo iterativo, cuyo nombre proviene de los dos pasos en que se divide cada iteración:</a:t>
            </a:r>
          </a:p>
          <a:p>
            <a:pPr lvl="1">
              <a:lnSpc>
                <a:spcPct val="90000"/>
              </a:lnSpc>
            </a:pPr>
            <a:r>
              <a:rPr lang="es-ES" altLang="es-ES" i="1" smtClean="0"/>
              <a:t>Expectation</a:t>
            </a:r>
          </a:p>
          <a:p>
            <a:pPr lvl="1">
              <a:lnSpc>
                <a:spcPct val="90000"/>
              </a:lnSpc>
            </a:pPr>
            <a:r>
              <a:rPr lang="es-ES" altLang="es-ES" i="1" smtClean="0"/>
              <a:t>Maximization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569325" cy="1143000"/>
          </a:xfrm>
        </p:spPr>
        <p:txBody>
          <a:bodyPr/>
          <a:lstStyle/>
          <a:p>
            <a:r>
              <a:rPr lang="es-ES_tradnl" altLang="es-ES" sz="4000" smtClean="0"/>
              <a:t>Algoritmo EM aplicado a gaussiana multiv.</a:t>
            </a:r>
            <a:endParaRPr lang="es-ES_tradnl" altLang="es-ES" sz="4800" smtClean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8207375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s-ES_tradnl" altLang="es-ES" sz="2400" smtClean="0"/>
              <a:t>Suponemos el modelo:</a:t>
            </a:r>
          </a:p>
          <a:p>
            <a:pPr>
              <a:lnSpc>
                <a:spcPct val="80000"/>
              </a:lnSpc>
            </a:pPr>
            <a:endParaRPr lang="es-ES_tradnl" altLang="es-ES" sz="2400" smtClean="0"/>
          </a:p>
          <a:p>
            <a:pPr>
              <a:lnSpc>
                <a:spcPct val="80000"/>
              </a:lnSpc>
            </a:pPr>
            <a:r>
              <a:rPr lang="es-ES_tradnl" altLang="es-ES" sz="2400" smtClean="0"/>
              <a:t>Decidir el valor de K, y seleccionar los valores iniciales de los parámetros de las K distribuciones ( ej: gaussianas</a:t>
            </a:r>
            <a:r>
              <a:rPr lang="es-ES_tradnl" altLang="es-ES" sz="2400" smtClean="0">
                <a:sym typeface="Symbol" panose="05050102010706020507" pitchFamily="18" charset="2"/>
              </a:rPr>
              <a:t></a:t>
            </a:r>
            <a:r>
              <a:rPr lang="es-ES_tradnl" altLang="es-ES" sz="2400" smtClean="0"/>
              <a:t> </a:t>
            </a:r>
            <a:r>
              <a:rPr lang="es-ES_tradnl" altLang="es-ES" sz="2400" smtClean="0">
                <a:sym typeface="Symbol" panose="05050102010706020507" pitchFamily="18" charset="2"/>
              </a:rPr>
              <a:t></a:t>
            </a:r>
            <a:r>
              <a:rPr lang="es-ES_tradnl" altLang="es-ES" sz="2400" baseline="-25000" smtClean="0">
                <a:sym typeface="Symbol" panose="05050102010706020507" pitchFamily="18" charset="2"/>
              </a:rPr>
              <a:t>i </a:t>
            </a:r>
            <a:r>
              <a:rPr lang="es-ES_tradnl" altLang="es-ES" sz="2400" smtClean="0"/>
              <a:t>,</a:t>
            </a:r>
            <a:r>
              <a:rPr lang="es-ES_tradnl" altLang="es-ES" sz="2400" baseline="-25000" smtClean="0">
                <a:sym typeface="Symbol" panose="05050102010706020507" pitchFamily="18" charset="2"/>
              </a:rPr>
              <a:t> </a:t>
            </a:r>
            <a:r>
              <a:rPr lang="es-ES_tradnl" altLang="es-ES" sz="2400" smtClean="0">
                <a:sym typeface="Symbol" panose="05050102010706020507" pitchFamily="18" charset="2"/>
              </a:rPr>
              <a:t></a:t>
            </a:r>
            <a:r>
              <a:rPr lang="es-ES_tradnl" altLang="es-ES" sz="2400" baseline="-25000" smtClean="0">
                <a:sym typeface="Symbol" panose="05050102010706020507" pitchFamily="18" charset="2"/>
              </a:rPr>
              <a:t>i </a:t>
            </a:r>
            <a:r>
              <a:rPr lang="es-ES_tradnl" altLang="es-ES" sz="2400" smtClean="0"/>
              <a:t>)</a:t>
            </a:r>
          </a:p>
          <a:p>
            <a:pPr>
              <a:lnSpc>
                <a:spcPct val="80000"/>
              </a:lnSpc>
            </a:pPr>
            <a:r>
              <a:rPr lang="es-ES_tradnl" altLang="es-ES" sz="2400" smtClean="0"/>
              <a:t>Repetir</a:t>
            </a:r>
          </a:p>
          <a:p>
            <a:pPr lvl="1">
              <a:lnSpc>
                <a:spcPct val="80000"/>
              </a:lnSpc>
            </a:pPr>
            <a:r>
              <a:rPr lang="es-ES_tradnl" altLang="es-ES" sz="1800" smtClean="0"/>
              <a:t>Paso E(xpectation) : utilizar los parámetros actuales para estimar la probabilidad de que cada patrón pertenezca a cada distribución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s-ES_tradnl" altLang="es-ES" sz="1800" smtClean="0"/>
              <a:t>			</a:t>
            </a:r>
          </a:p>
          <a:p>
            <a:pPr lvl="1">
              <a:lnSpc>
                <a:spcPct val="80000"/>
              </a:lnSpc>
            </a:pPr>
            <a:endParaRPr lang="es-ES_tradnl" altLang="es-ES" sz="1800" smtClean="0"/>
          </a:p>
          <a:p>
            <a:pPr lvl="1">
              <a:lnSpc>
                <a:spcPct val="80000"/>
              </a:lnSpc>
            </a:pPr>
            <a:endParaRPr lang="es-ES_tradnl" altLang="es-ES" sz="1800" smtClean="0"/>
          </a:p>
          <a:p>
            <a:pPr lvl="1">
              <a:lnSpc>
                <a:spcPct val="80000"/>
              </a:lnSpc>
            </a:pPr>
            <a:r>
              <a:rPr lang="es-ES_tradnl" altLang="es-ES" sz="1800" smtClean="0"/>
              <a:t>Paso M(aximization) : reestimar los parámetros, (normalmente por el método de la máxima verosimilitud)  ponderando por las estimaciones anteriores</a:t>
            </a:r>
          </a:p>
          <a:p>
            <a:pPr>
              <a:lnSpc>
                <a:spcPct val="80000"/>
              </a:lnSpc>
              <a:buFontTx/>
              <a:buNone/>
            </a:pPr>
            <a:endParaRPr lang="es-ES_tradnl" altLang="es-ES" sz="2400" smtClean="0"/>
          </a:p>
          <a:p>
            <a:pPr>
              <a:lnSpc>
                <a:spcPct val="80000"/>
              </a:lnSpc>
              <a:buFontTx/>
              <a:buNone/>
            </a:pPr>
            <a:endParaRPr lang="es-ES_tradnl" altLang="es-ES" sz="240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s-ES_tradnl" altLang="es-ES" sz="2400" smtClean="0"/>
              <a:t>	</a:t>
            </a:r>
          </a:p>
          <a:p>
            <a:pPr>
              <a:lnSpc>
                <a:spcPct val="80000"/>
              </a:lnSpc>
            </a:pPr>
            <a:endParaRPr lang="es-ES" altLang="es-ES" sz="2000" smtClean="0"/>
          </a:p>
        </p:txBody>
      </p:sp>
      <p:graphicFrame>
        <p:nvGraphicFramePr>
          <p:cNvPr id="7475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916238" y="4292600"/>
          <a:ext cx="28082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2" name="Ecuación" r:id="rId3" imgW="1548728" imgH="241195" progId="Equation.3">
                  <p:embed/>
                </p:oleObj>
              </mc:Choice>
              <mc:Fallback>
                <p:oleObj name="Ecuación" r:id="rId3" imgW="1548728" imgH="24119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292600"/>
                        <a:ext cx="280828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7" name="Line 5"/>
          <p:cNvSpPr>
            <a:spLocks noChangeShapeType="1"/>
          </p:cNvSpPr>
          <p:nvPr/>
        </p:nvSpPr>
        <p:spPr bwMode="auto">
          <a:xfrm>
            <a:off x="7885113" y="3068638"/>
            <a:ext cx="144462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graphicFrame>
        <p:nvGraphicFramePr>
          <p:cNvPr id="74758" name="Object 6"/>
          <p:cNvGraphicFramePr>
            <a:graphicFrameLocks noChangeAspect="1"/>
          </p:cNvGraphicFramePr>
          <p:nvPr/>
        </p:nvGraphicFramePr>
        <p:xfrm>
          <a:off x="1763713" y="5553075"/>
          <a:ext cx="1316037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3" name="Ecuación" r:id="rId5" imgW="927100" imgH="889000" progId="Equation.3">
                  <p:embed/>
                </p:oleObj>
              </mc:Choice>
              <mc:Fallback>
                <p:oleObj name="Ecuación" r:id="rId5" imgW="927100" imgH="889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553075"/>
                        <a:ext cx="1316037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3421063" y="5553075"/>
          <a:ext cx="274002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4" name="Ecuación" r:id="rId7" imgW="1930400" imgH="889000" progId="Equation.3">
                  <p:embed/>
                </p:oleObj>
              </mc:Choice>
              <mc:Fallback>
                <p:oleObj name="Ecuación" r:id="rId7" imgW="1930400" imgH="889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063" y="5553075"/>
                        <a:ext cx="2740025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0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588125" y="5765800"/>
          <a:ext cx="115252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5" name="Ecuación" r:id="rId9" imgW="685502" imgH="444307" progId="Equation.3">
                  <p:embed/>
                </p:oleObj>
              </mc:Choice>
              <mc:Fallback>
                <p:oleObj name="Ecuación" r:id="rId9" imgW="685502" imgH="44430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5765800"/>
                        <a:ext cx="115252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1" name="Object 9"/>
          <p:cNvGraphicFramePr>
            <a:graphicFrameLocks noChangeAspect="1"/>
          </p:cNvGraphicFramePr>
          <p:nvPr/>
        </p:nvGraphicFramePr>
        <p:xfrm>
          <a:off x="4067175" y="1890713"/>
          <a:ext cx="208915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6" name="Ecuación" r:id="rId11" imgW="1104900" imgH="431800" progId="Equation.3">
                  <p:embed/>
                </p:oleObj>
              </mc:Choice>
              <mc:Fallback>
                <p:oleObj name="Ecuación" r:id="rId11" imgW="11049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1890713"/>
                        <a:ext cx="208915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4000" smtClean="0"/>
              <a:t>Ej: Evolución típica del algoritmo EM con 6 gaussianas 2D</a:t>
            </a:r>
          </a:p>
        </p:txBody>
      </p:sp>
      <p:pic>
        <p:nvPicPr>
          <p:cNvPr id="7577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9250" y="1987550"/>
            <a:ext cx="6265863" cy="4621213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anspa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Transp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rans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ns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76132335</TotalTime>
  <Pages>15</Pages>
  <Words>3144</Words>
  <Application>Microsoft Office PowerPoint</Application>
  <PresentationFormat>Presentación en pantalla (4:3)</PresentationFormat>
  <Paragraphs>641</Paragraphs>
  <Slides>74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74</vt:i4>
      </vt:variant>
    </vt:vector>
  </HeadingPairs>
  <TitlesOfParts>
    <vt:vector size="85" baseType="lpstr">
      <vt:lpstr>Arial</vt:lpstr>
      <vt:lpstr>Arial Narrow</vt:lpstr>
      <vt:lpstr>Consolas</vt:lpstr>
      <vt:lpstr>Courier New</vt:lpstr>
      <vt:lpstr>Marlett</vt:lpstr>
      <vt:lpstr>Symbol</vt:lpstr>
      <vt:lpstr>Times New Roman</vt:lpstr>
      <vt:lpstr>Wingdings</vt:lpstr>
      <vt:lpstr>Transpa</vt:lpstr>
      <vt:lpstr>Foto de Photo Editor</vt:lpstr>
      <vt:lpstr>Ecuación</vt:lpstr>
      <vt:lpstr>Clasificación</vt:lpstr>
      <vt:lpstr>3. Clasificación Descripción del Problema </vt:lpstr>
      <vt:lpstr>Un ejemplo concreto: Clasificar peces por su longitud</vt:lpstr>
      <vt:lpstr>Distribución de lubinas y doradas</vt:lpstr>
      <vt:lpstr>Cuestiones</vt:lpstr>
      <vt:lpstr>Cálculo de L: solución 1</vt:lpstr>
      <vt:lpstr>Cálculo de L: total de errores</vt:lpstr>
      <vt:lpstr>Cuestiones para pensar</vt:lpstr>
      <vt:lpstr>Cálculo de L: solución 2</vt:lpstr>
      <vt:lpstr>Cuestiones para pensar</vt:lpstr>
      <vt:lpstr>Problema general</vt:lpstr>
      <vt:lpstr>Cuidado con los casos especiales</vt:lpstr>
      <vt:lpstr>Ej: clasificador 2 características</vt:lpstr>
      <vt:lpstr>Vectores de características</vt:lpstr>
      <vt:lpstr>Espacio de características</vt:lpstr>
      <vt:lpstr>Características</vt:lpstr>
      <vt:lpstr>Características</vt:lpstr>
      <vt:lpstr>Características</vt:lpstr>
      <vt:lpstr>Métodos de Clasificación</vt:lpstr>
      <vt:lpstr>Clasificación  Interpretación geométrica d. mínima</vt:lpstr>
      <vt:lpstr>Clasificación Método de la distancia mínima</vt:lpstr>
      <vt:lpstr>Ejemplo iris</vt:lpstr>
      <vt:lpstr>Estimacion error  Método: distancia mínima (euclidea) Validación: CV10+random sampling</vt:lpstr>
      <vt:lpstr>Clasificación  Selección del prototipo</vt:lpstr>
      <vt:lpstr>6. Clasificación  Selección del prototipo</vt:lpstr>
      <vt:lpstr>Clasificación  Selección del prototipo</vt:lpstr>
      <vt:lpstr>Clasificación  Selección de la distancia</vt:lpstr>
      <vt:lpstr>Presentación de PowerPoint</vt:lpstr>
      <vt:lpstr>Presentación de PowerPoint</vt:lpstr>
      <vt:lpstr>Clasificación  La covarianza</vt:lpstr>
      <vt:lpstr>Clasificación  La distancia de Mahalanobis</vt:lpstr>
      <vt:lpstr>Ejemplo  d_euclid vs d_mahal</vt:lpstr>
      <vt:lpstr>Estimacion error  Método: distancia mínima (Mahalanobis) Validación: CV10+random sampling</vt:lpstr>
      <vt:lpstr>Clasificación  Medidas de distancia</vt:lpstr>
      <vt:lpstr>Clasificación  Problemás del método de la mínima distancia</vt:lpstr>
      <vt:lpstr>Clasificación  Múltiples prototipos =&gt; Clustering</vt:lpstr>
      <vt:lpstr>Medición del error  en clasificación</vt:lpstr>
      <vt:lpstr>Error cometido en  el proceso de clasificación</vt:lpstr>
      <vt:lpstr>El problema de las  clases desbalanceadas</vt:lpstr>
      <vt:lpstr>Precisión y Recall de cada clase</vt:lpstr>
      <vt:lpstr>Precisión y Recall</vt:lpstr>
      <vt:lpstr>La métrica F1</vt:lpstr>
      <vt:lpstr>Media aritmética, geométrica y armónica</vt:lpstr>
      <vt:lpstr>¿Por qué la media armónica para calcular el F1-score?</vt:lpstr>
      <vt:lpstr>Ejemplo de la métrica de rendimiento F1 global multiclase</vt:lpstr>
      <vt:lpstr>Precision y Recall en  datos no balanceados</vt:lpstr>
      <vt:lpstr>Balanceo de clases: soluciones</vt:lpstr>
      <vt:lpstr>Matriz de confusión multiclase</vt:lpstr>
      <vt:lpstr>Métricas de rendimiento multiclase</vt:lpstr>
      <vt:lpstr>Presentación de PowerPoint</vt:lpstr>
      <vt:lpstr>Presentación de PowerPoint</vt:lpstr>
      <vt:lpstr>Métodos básicos de  clasificación</vt:lpstr>
      <vt:lpstr>Clasificación no paramétrica  Cada patrón es un prototipo</vt:lpstr>
      <vt:lpstr>7. Clasificación no paramétrica</vt:lpstr>
      <vt:lpstr>7. Clasificación no paramétrica Técnica del vecino más cercano (1-NN)</vt:lpstr>
      <vt:lpstr>7. Clasificación no paramétrica Técnica K-vecinos más cercanos (K-NN)</vt:lpstr>
      <vt:lpstr>Algoritmos de agrupamiento (Clustering)</vt:lpstr>
      <vt:lpstr>Agrupamiento ó Clustering</vt:lpstr>
      <vt:lpstr>Métodos de Clustering</vt:lpstr>
      <vt:lpstr>Métodos jerárquicos</vt:lpstr>
      <vt:lpstr>Hierarchical clustering</vt:lpstr>
      <vt:lpstr>Linkage function = distance between clusters</vt:lpstr>
      <vt:lpstr>Hierarchical clustering  (in Matlab)</vt:lpstr>
      <vt:lpstr>Hierarchical clustering example</vt:lpstr>
      <vt:lpstr>Hierarchical clustering on IRIS</vt:lpstr>
      <vt:lpstr>Método de las k-medias</vt:lpstr>
      <vt:lpstr>Evolución típica del algoritmo de las K-medias (K=6)</vt:lpstr>
      <vt:lpstr>Código ejemplo k-means</vt:lpstr>
      <vt:lpstr>Método de las Fuzzy k-medias</vt:lpstr>
      <vt:lpstr>Método de las Fuzzy k-medias</vt:lpstr>
      <vt:lpstr>Matlab code</vt:lpstr>
      <vt:lpstr>Algoritmo EM</vt:lpstr>
      <vt:lpstr>Algoritmo EM aplicado a gaussiana multiv.</vt:lpstr>
      <vt:lpstr>Ej: Evolución típica del algoritmo EM con 6 gaussianas 2D</vt:lpstr>
    </vt:vector>
  </TitlesOfParts>
  <Manager>pedro.galindo@uca.es</Manager>
  <Company>Universidad de Cadiz - SPAIN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B-Reconocimiento de Patrones</dc:title>
  <dc:subject/>
  <dc:creator>Pedro L. Galindo</dc:creator>
  <cp:keywords/>
  <dc:description/>
  <cp:lastModifiedBy>Pedro L. Galindo - UCA</cp:lastModifiedBy>
  <cp:revision>248</cp:revision>
  <cp:lastPrinted>1999-10-29T10:23:42Z</cp:lastPrinted>
  <dcterms:created xsi:type="dcterms:W3CDTF">1996-10-03T13:57:34Z</dcterms:created>
  <dcterms:modified xsi:type="dcterms:W3CDTF">2024-04-12T11:06:42Z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pedro.galindo@uca.es</vt:lpwstr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C:\basura\caca</vt:lpwstr>
  </property>
</Properties>
</file>